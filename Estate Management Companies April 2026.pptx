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600">
                          <a:solidFill>
                            <a:srgbClr val="000000"/>
                          </a:solidFill>
                        </a:rPr>
                        <a:t>Estate Management Companies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rPr sz="1600">
                          <a:solidFill>
                            <a:srgbClr val="000000"/>
                          </a:solidFill>
                        </a:rPr>
                        <a:t>April 2026</a:t>
                      </a:r>
                    </a:p>
                  </a:txBody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Assessment: 2.88 / 3.0 (96%)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Status: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1000"/>
                        <a:t>Estate management companies provide comprehensive oversight of luxury residential properties for UHNW individuals and families. Services include property maintenance coordination, vendor management, household staff oversight, seasonal opening/closing, security, budgeting, and lifestyle concierge. Unlike traditional property management (rental-focused, 8-12% of rent), estate management operates on monthly retainers ($2,000-$15,000+/property) for owner-occupied or seasonal-use luxury homes. The US has ~100,000+ UHNW households ($50M+ net worth), averaging 3-4 properties each. The addressable market clusters in wealthy enclaves: Hamptons, Palm Beach, Aspen, Greenwich, Nantucket, Martha's Vineyard, and similar resort/second-home markets. No formal industry association exists. Firms range from solo operators to 30+ property portfolios. Estimated 2,000-5,000 independently owned firms nationwide.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1000"/>
                        <a:t>The operating system for UHNW real estate portfolios. Extreme fragmentation across wealthy enclaves with no national or regional platform player. Recurring monthly retainers create predictable revenue with 85-95% retention (clients rarely switch due to trust, institutional knowledge of the property, and high switching costs). Owner demographics skew retirement-age, creating a steady supply of acquisition targets. The service is mission-critical: a $10M+ home left unmanaged risks catastrophic loss (burst pipes, security breaches, code violations). Low capital intensity with margins driven by labor efficiency and vendor markup. Geographic density creates route-based operating leverage. Multi-property UHNW clients provide natural organic growth within accounts.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UHNW population growing 5%+ annually, each averaging 3-4 homes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Aging luxury homeowners shifting from DIY to outsourced management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Remote/hybrid work driving year-round use of seasonal homes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Insurance companies requiring documented maintenance programs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Rising property complexity (smart home, solar, EV, climate resilience)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Small TAM: estimated 2,000-5,000 firms, may not support 500/month outreach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Hyper-local nature limits geographic roll-up synergies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Key-person risk: client relationships often tied to founder/owner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Labor-intensive with thin margins if vendor markup is constrained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Seasonal revenue concentration in resort markets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Wealthy clients are demanding and litigious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000"/>
                        <a:t>Monthly retainers: $2,000-$15,000+ per property depending on size and scope. Vendor coordination markup: 10-25% on maintenance/repair work. Project management fees for renovations (10-15% of project cost). Seasonal open/close fees: $1,000-$5,000 per event. Typical firm manages 10-30 properties with 3-10 staff. Revenue per firm: $500K-$5M for most independents. EBITDA margins: 15-25% (labor is 65-80% of costs). Low capex requirements. Valuation multiples: 3.3x-7.1x EBITDA for property management broadly.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1000"/>
                        <a:t>No dominant national player. Extremely fragmented: firms are local/regional by nature. Key players by market: Hamptons Estate Management (NY), Palm Beach Estate Management (FL), Colorado Estate Management (CO), Island Home &amp; Estate Management (FL), DeepWater Estate Services (MA). Adjacent competitors include traditional property managers (rental-focused, different model), family offices with in-house staff, and concierge/lifestyle companies (Quintessentially). Nines Living provides SaaS for estate managers but does not manage properties directly. Virtually zero PE consolidation in the luxury estate management segment specifically. M&amp;A activity concentrated in traditional property management (apartments, HOAs), not UHNW estate care.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UHNW individuals and families ($50M+ net worth) with 2-6+ properties. Family offices managing real estate portfolios for principals. Seasonal/vacation homeowners in resort communities (Hamptons, Aspen, Palm Beach, Nantucket). Corporate executives with multiple residences who lack time for property oversight. Trusts and estates managing inherited luxury properties. Sweet spot: owners with $5M-$50M+ homes who are absent 6+ months/year.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Trust and reputation (UHNW clients require extreme discretion and vetting). Deep local vendor networks built over years. Institutional property knowledge (systems, quirks, history of each estate). Referral-based client acquisition with long sales cycles. Some states require property management or real estate licenses. Insurance requirements (liability, bonding for high-value properties).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381225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Trusted vendor network with vetted, reliable contractors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Systematic property inspection and maintenance protocols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Technology adoption (Nines, property management software) for scale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Staff retention and training in luxury service standards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Geographic density: cluster properties in a market for route efficiency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Account expansion: cross-sell project management, concierge, staffing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Discretion and confidentiality as core competency</a:t>
                      </a:r>
                      <a:endParaRPr sz="10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/>
                        <a:t>Proactive communication and reporting to absentee owners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/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1000"/>
                        <a:t>Strategic acquisition by luxury real estate brokerages (Sotheby's, Christie's, Compass) seeking recurring revenue. Family office service platforms looking to add property management. PE roll-up play as first-mover consolidator in a space with zero institutional presence. Luxury hospitality companies (Four Seasons, Ritz-Carlton Residences) expanding into private estate services. PropTech platforms (Nines Living) seeking to integrate services with software.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