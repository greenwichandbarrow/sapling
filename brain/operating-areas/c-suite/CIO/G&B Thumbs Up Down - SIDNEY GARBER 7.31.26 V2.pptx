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9144000" cx="6858000"/>
  <p:notesSz cx="6858000" cy="9144000"/>
  <p:embeddedFontLst>
    <p:embeddedFont>
      <p:font typeface="Play"/>
      <p:regular r:id="rId8"/>
      <p:bold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75F7F23-FFC8-4270-BE12-AFDA6FE4996E}">
  <a:tblStyle styleId="{875F7F23-FFC8-4270-BE12-AFDA6FE4996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Play-regular.fntdata"/><Relationship Id="rId9" Type="http://schemas.openxmlformats.org/officeDocument/2006/relationships/font" Target="fonts/Play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p2:notes"/>
          <p:cNvSpPr/>
          <p:nvPr>
            <p:ph idx="2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71487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ctrTitle"/>
          </p:nvPr>
        </p:nvSpPr>
        <p:spPr>
          <a:xfrm>
            <a:off x="514350" y="1496484"/>
            <a:ext cx="5829300" cy="31834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57250" y="4802717"/>
            <a:ext cx="5143500" cy="22076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471487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471488" y="486835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71487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467916" y="2279653"/>
            <a:ext cx="5915025" cy="38036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467916" y="6119286"/>
            <a:ext cx="5915025" cy="2000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471487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471488" y="486835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471488" y="2434167"/>
            <a:ext cx="2914650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3471863" y="2434167"/>
            <a:ext cx="2914650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471487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472381" y="486835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472381" y="2241551"/>
            <a:ext cx="2901255" cy="10985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472381" y="3340100"/>
            <a:ext cx="2901255" cy="4912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3471863" y="2241551"/>
            <a:ext cx="2915543" cy="10985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3471863" y="3340100"/>
            <a:ext cx="2915543" cy="4912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471487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471488" y="486835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71487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72381" y="609600"/>
            <a:ext cx="2211884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2915543" y="1316568"/>
            <a:ext cx="3471863" cy="64981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72381" y="2743200"/>
            <a:ext cx="2211884" cy="5082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71487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472381" y="609600"/>
            <a:ext cx="2211884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915543" y="1316568"/>
            <a:ext cx="3471863" cy="6498167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472381" y="2743200"/>
            <a:ext cx="2211884" cy="5082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71487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71488" y="486835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528108" y="2377546"/>
            <a:ext cx="5801784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71487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1772577" y="3622014"/>
            <a:ext cx="774911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-1227798" y="2186120"/>
            <a:ext cx="774911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71487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71488" y="486835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71487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image" Target="../media/image4.png"/><Relationship Id="rId7" Type="http://schemas.openxmlformats.org/officeDocument/2006/relationships/image" Target="../media/image7.png"/><Relationship Id="rId8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" name="Google Shape;89;p13"/>
          <p:cNvGraphicFramePr/>
          <p:nvPr/>
        </p:nvGraphicFramePr>
        <p:xfrm>
          <a:off x="161242" y="51023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{875F7F23-FFC8-4270-BE12-AFDA6FE4996E}</a:tableStyleId>
              </a:tblPr>
              <a:tblGrid>
                <a:gridCol w="1149450"/>
                <a:gridCol w="2768325"/>
                <a:gridCol w="660100"/>
                <a:gridCol w="898150"/>
                <a:gridCol w="89815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>
                          <a:latin typeface="Avenir"/>
                        </a:rPr>
                        <a:t/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9400" marB="29400" marR="58825" marL="588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1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Noto Sans Symbols"/>
                        <a:buNone/>
                      </a:pPr>
                      <a:r>
                        <a:rPr>
                          <a:latin typeface="Avenir"/>
                        </a:rPr>
                        <a:t/>
                      </a:r>
                      <a:endParaRPr b="0" i="0" sz="8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Noto Sans Symbols"/>
                        <a:buNone/>
                      </a:pPr>
                      <a:r>
                        <a:rPr>
                          <a:latin typeface="Avenir"/>
                        </a:rPr>
                        <a:t/>
                      </a:r>
                      <a:endParaRPr b="0" i="0" sz="8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>
                  <a:txBody>
                    <a:bodyPr/>
                    <a:p/>
                  </a:txBody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Noto Sans Symbols"/>
                        <a:buNone/>
                      </a:pPr>
                      <a:r>
                        <a:rPr b="0" i="0" lang="en-US" sz="800" u="none" cap="none" strike="noStrike">
                          <a:latin typeface="Avenir"/>
                          <a:ea typeface="Avenir"/>
                          <a:cs typeface="Avenir"/>
                          <a:sym typeface="Avenir"/>
                        </a:rPr>
                        <a:t>STRENGTHS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FINANCIALS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9400" marB="29400" marR="58825" marL="588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9B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venir"/>
                        </a:rPr>
                        <a:t>Reported 2025 core sales: $18.6M</a:t>
                      </a:r>
                    </a:p>
                    <a:p>
                      <a:r>
                        <a:rPr>
                          <a:latin typeface="Avenir"/>
                        </a:rPr>
                        <a:t>2025 EBITDA: $3.4M / 18% margin</a:t>
                      </a:r>
                    </a:p>
                    <a:p>
                      <a:r>
                        <a:rPr>
                          <a:latin typeface="Avenir"/>
                        </a:rPr>
                        <a:t>Gross margin: 62.8%</a:t>
                      </a:r>
                    </a:p>
                    <a:p>
                      <a:r>
                        <a:rPr>
                          <a:latin typeface="Avenir"/>
                        </a:rPr>
                        <a:t>Cash: $5.5M; inventory book value: $13.1M</a:t>
                      </a: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r>
                        <a:rPr>
                          <a:latin typeface="Avenir"/>
                        </a:rPr>
                        <a:t>2024 core sales: $18.1M</a:t>
                      </a:r>
                    </a:p>
                    <a:p>
                      <a:r>
                        <a:rPr>
                          <a:latin typeface="Avenir"/>
                        </a:rPr>
                        <a:t>2025 core sales growth: +3% YoY</a:t>
                      </a:r>
                    </a:p>
                    <a:p>
                      <a:r>
                        <a:rPr>
                          <a:latin typeface="Avenir"/>
                        </a:rPr>
                        <a:t>2024 EBITDA: $3.2M</a:t>
                      </a:r>
                    </a:p>
                    <a:p>
                      <a:r>
                        <a:rPr>
                          <a:latin typeface="Avenir"/>
                        </a:rPr>
                        <a:t>2025 EBITDA: $3.4M</a:t>
                      </a:r>
                    </a:p>
                    <a:p>
                      <a:r>
                        <a:rPr>
                          <a:latin typeface="Avenir"/>
                        </a:rPr>
                        <a:t>2025 EBITDA growth: +4% YoY</a:t>
                      </a: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>
                  <a:txBody>
                    <a:bodyPr/>
                    <a:p/>
                  </a:txBody>
                </a:tc>
                <a:tc>
                  <a:txBody>
                    <a:bodyPr/>
                    <a:lstStyle/>
                    <a:p>
                      <a:pPr indent="-1206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Noto Sans Symbols"/>
                        <a:buNone/>
                      </a:pPr>
                      <a:r>
                        <a:rPr>
                          <a:latin typeface="Avenir"/>
                        </a:rPr>
                        <a:t/>
                      </a:r>
                      <a:endParaRPr b="0" i="0" sz="8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C49A77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CUSTOMERS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9400" marB="29400" marR="58825" marL="588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venir"/>
                        </a:rPr>
                        <a:t>Channels include owned boutiques, e-commerce, Bergdorf Goodman, Hirshleifers, and independent accounts.</a:t>
                      </a:r>
                    </a:p>
                    <a:p>
                      <a:r>
                        <a:rPr>
                          <a:latin typeface="Avenir"/>
                        </a:rPr>
                        <a:t>Customer concentration and repeat behavior not yet disclosed.</a:t>
                      </a: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r>
                        <a:rPr>
                          <a:latin typeface="Avenir"/>
                        </a:rPr>
                        <a:t>Top customer / wholesale concentration: TBD</a:t>
                      </a:r>
                    </a:p>
                    <a:p>
                      <a:r>
                        <a:rPr>
                          <a:latin typeface="Avenir"/>
                        </a:rPr>
                        <a:t>Repeat customer data: TBD</a:t>
                      </a:r>
                    </a:p>
                    <a:p>
                      <a:r>
                        <a:rPr>
                          <a:latin typeface="Avenir"/>
                        </a:rPr>
                        <a:t>Channel margins: retail 67.5%; e-com 69.5%; WS 51.4%</a:t>
                      </a: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>
                  <a:txBody>
                    <a:bodyPr/>
                    <a:p/>
                  </a:txBody>
                </a:tc>
                <a:tc>
                  <a:txBody>
                    <a:bodyPr/>
                    <a:lstStyle/>
                    <a:p>
                      <a:pPr indent="-1206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Noto Sans Symbols"/>
                        <a:buNone/>
                      </a:pPr>
                      <a:r>
                        <a:rPr>
                          <a:latin typeface="Avenir"/>
                        </a:rPr>
                        <a:t/>
                      </a:r>
                      <a:endParaRPr b="0" i="0" sz="8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SELLERS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9400" marB="29400" marR="58825" marL="588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9B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venir"/>
                        </a:rPr>
                        <a:t>Reason to sell: owner wants to retire; children do not want to operate the business.</a:t>
                      </a:r>
                    </a:p>
                    <a:p>
                      <a:r>
                        <a:rPr>
                          <a:latin typeface="Avenir"/>
                        </a:rPr>
                        <a:t>Legacy preservation matters; seller is weighing sale versus liquidation.</a:t>
                      </a:r>
                    </a:p>
                    <a:p>
                      <a:r>
                        <a:rPr>
                          <a:latin typeface="Avenir"/>
                        </a:rPr>
                        <a:t>No broad auction process currently indicated.</a:t>
                      </a: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r>
                        <a:rPr>
                          <a:latin typeface="Avenir"/>
                        </a:rPr>
                        <a:t>Seller Note: discuss $1M-$2M over 5 years</a:t>
                      </a:r>
                    </a:p>
                    <a:p>
                      <a:r>
                        <a:rPr>
                          <a:latin typeface="Avenir"/>
                        </a:rPr>
                        <a:t>Equity roll-over: TBD; not assumed</a:t>
                      </a:r>
                    </a:p>
                    <a:p>
                      <a:r>
                        <a:rPr>
                          <a:latin typeface="Avenir"/>
                        </a:rPr>
                        <a:t>Transition: seller support required; duration TBD</a:t>
                      </a: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>
                  <a:txBody>
                    <a:bodyPr/>
                    <a:p/>
                  </a:txBody>
                </a:tc>
                <a:tc>
                  <a:txBody>
                    <a:bodyPr/>
                    <a:lstStyle/>
                    <a:p>
                      <a:pPr indent="-1206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Noto Sans Symbols"/>
                        <a:buNone/>
                      </a:pPr>
                      <a:r>
                        <a:rPr>
                          <a:latin typeface="Avenir"/>
                        </a:rPr>
                        <a:t/>
                      </a:r>
                      <a:endParaRPr b="0" i="0" sz="8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C49A77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KEY-MAN RISK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9400" marB="29400" marR="58825" marL="588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venir"/>
                        </a:rPr>
                        <a:t>Key-person risk is real: brand story, seller relationships, merchandising judgment, and high-end customer trust may still be Brooke-led. Needs transition plan.</a:t>
                      </a: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206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>
                          <a:latin typeface="Avenir"/>
                        </a:rPr>
                        <a:t/>
                      </a:r>
                      <a:endParaRPr b="0" i="0" sz="8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206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>
                          <a:latin typeface="Avenir"/>
                        </a:rPr>
                        <a:t/>
                      </a:r>
                      <a:endParaRPr b="0" i="0" sz="8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206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>
                          <a:latin typeface="Avenir"/>
                        </a:rPr>
                        <a:t/>
                      </a:r>
                      <a:endParaRPr b="0" i="0" sz="8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lt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GROWTH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9400" marB="29400" marR="58825" marL="588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9B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venir"/>
                        </a:rPr>
                        <a:t>2025 core sales growth was +3% YoY; EBITDA growth was +4% YoY.</a:t>
                      </a:r>
                    </a:p>
                    <a:p>
                      <a:r>
                        <a:rPr>
                          <a:latin typeface="Avenir"/>
                        </a:rPr>
                        <a:t>Growth upside likely requires channel execution, e-commerce, wholesale productivity, and inventory discipline.</a:t>
                      </a: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206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>
                          <a:latin typeface="Avenir"/>
                        </a:rPr>
                        <a:t/>
                      </a:r>
                      <a:endParaRPr b="0" i="0" sz="8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206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>
                          <a:latin typeface="Avenir"/>
                        </a:rPr>
                        <a:t/>
                      </a:r>
                      <a:endParaRPr b="0" i="0" sz="8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206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>
                          <a:latin typeface="Avenir"/>
                        </a:rPr>
                        <a:t/>
                      </a:r>
                      <a:endParaRPr b="0" i="0" sz="8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C49A77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INDUSTRY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9400" marB="29400" marR="58825" marL="588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venir"/>
                        </a:rPr>
                        <a:t>Fine jewelry benefits from heritage, hard-asset psychology, gifting/self-expression, and high gross margins, but luxury demand is cyclical and inventory risk is material.</a:t>
                      </a: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206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>
                          <a:latin typeface="Avenir"/>
                        </a:rPr>
                        <a:t/>
                      </a:r>
                      <a:endParaRPr b="0" i="0" sz="8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206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>
                          <a:latin typeface="Avenir"/>
                        </a:rPr>
                        <a:t/>
                      </a:r>
                      <a:endParaRPr b="0" i="0" sz="8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206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>
                          <a:latin typeface="Avenir"/>
                        </a:rPr>
                        <a:t/>
                      </a:r>
                      <a:endParaRPr b="0" i="0" sz="80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A black and white logo&#10;&#10;Description automatically generated" id="90" name="Google Shape;9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91440"/>
            <a:ext cx="1575166" cy="129844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3557016" y="91440"/>
            <a:ext cx="3623186" cy="393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latin typeface="Avenir"/>
                <a:ea typeface="Avenir"/>
                <a:cs typeface="Avenir"/>
                <a:sym typeface="Avenir"/>
              </a:rPr>
              <a:t>SIDNEY GARBER | THUMBS UP / THUMBS DOWN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2" name="Google Shape;92;p13"/>
          <p:cNvGraphicFramePr/>
          <p:nvPr/>
        </p:nvGraphicFramePr>
        <p:xfrm>
          <a:off x="484632" y="15905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{875F7F23-FFC8-4270-BE12-AFDA6FE4996E}</a:tableStyleId>
              </a:tblPr>
              <a:tblGrid>
                <a:gridCol w="1859475"/>
                <a:gridCol w="1652150"/>
              </a:tblGrid>
              <a:tr h="1828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C49A77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NAME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9400" marB="29400" marR="58825" marL="588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>
                          <a:latin typeface="Avenir"/>
                          <a:ea typeface="Avenir"/>
                          <a:cs typeface="Avenir"/>
                          <a:sym typeface="Avenir"/>
                        </a:rPr>
                        <a:t>Sidney Garber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28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C49A77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WEBSITE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9400" marB="29400" marR="58825" marL="588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>
                          <a:latin typeface="Avenir"/>
                          <a:ea typeface="Avenir"/>
                          <a:cs typeface="Avenir"/>
                          <a:sym typeface="Avenir"/>
                        </a:rPr>
                        <a:t>sidneygarber.com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28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C49A77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HEADQUARTERS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9400" marB="29400" marR="58825" marL="588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>
                          <a:latin typeface="Avenir"/>
                          <a:ea typeface="Avenir"/>
                          <a:cs typeface="Avenir"/>
                          <a:sym typeface="Avenir"/>
                        </a:rPr>
                        <a:t>Chicago / New York presence; HQ to confirm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28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C49A77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SECTOR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9400" marB="29400" marR="58825" marL="588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>
                          <a:latin typeface="Avenir"/>
                          <a:ea typeface="Avenir"/>
                          <a:cs typeface="Avenir"/>
                          <a:sym typeface="Avenir"/>
                        </a:rPr>
                        <a:t>Luxury Jewelry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28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C49A77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INDUSTRY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9400" marB="29400" marR="58825" marL="588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>
                          <a:latin typeface="Avenir"/>
                          <a:ea typeface="Avenir"/>
                          <a:cs typeface="Avenir"/>
                          <a:sym typeface="Avenir"/>
                        </a:rPr>
                        <a:t>Fine Jewelry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28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C49A77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FOUNDED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9400" marB="29400" marR="58825" marL="588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>
                          <a:latin typeface="Avenir"/>
                          <a:ea typeface="Avenir"/>
                          <a:cs typeface="Avenir"/>
                          <a:sym typeface="Avenir"/>
                        </a:rPr>
                        <a:t>1946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28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C49A77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EMPLOYEES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9400" marB="29400" marR="58825" marL="588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>
                          <a:latin typeface="Avenir"/>
                          <a:ea typeface="Avenir"/>
                          <a:cs typeface="Avenir"/>
                          <a:sym typeface="Avenir"/>
                        </a:rPr>
                        <a:t>Not disclosed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3" name="Google Shape;93;p13"/>
          <p:cNvGraphicFramePr/>
          <p:nvPr/>
        </p:nvGraphicFramePr>
        <p:xfrm>
          <a:off x="3584680" y="16127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{875F7F23-FFC8-4270-BE12-AFDA6FE4996E}</a:tableStyleId>
              </a:tblPr>
              <a:tblGrid>
                <a:gridCol w="1792225"/>
                <a:gridCol w="1136975"/>
              </a:tblGrid>
              <a:tr h="1828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C49A77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SOURCE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9400" marB="29400" marR="58825" marL="588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>
                          <a:latin typeface="Avenir"/>
                          <a:ea typeface="Avenir"/>
                          <a:cs typeface="Avenir"/>
                          <a:sym typeface="Avenir"/>
                        </a:rPr>
                        <a:t>Owner discussion; company financials</a:t>
                      </a:r>
                      <a:endParaRPr b="0" i="0" sz="105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28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C49A77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STAGE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9400" marB="29400" marR="58825" marL="588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>
                          <a:latin typeface="Avenir"/>
                          <a:ea typeface="Avenir"/>
                          <a:cs typeface="Avenir"/>
                          <a:sym typeface="Avenir"/>
                        </a:rPr>
                        <a:t>Preliminary offer range</a:t>
                      </a:r>
                      <a:endParaRPr b="0" i="0" sz="105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28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C49A77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VALUATION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9400" marB="29400" marR="58825" marL="588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>
                          <a:latin typeface="Avenir"/>
                          <a:ea typeface="Avenir"/>
                          <a:cs typeface="Avenir"/>
                          <a:sym typeface="Avenir"/>
                        </a:rPr>
                        <a:t>$10M-$11M initial range; subject to structure and diligence</a:t>
                      </a:r>
                      <a:endParaRPr b="0" i="0" sz="105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28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C49A77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TIMING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9400" marB="29400" marR="58825" marL="588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Noto Sans Symbols"/>
                        <a:buChar char="▪"/>
                      </a:pPr>
                      <a:r>
                        <a:rPr b="0" i="0" lang="en-US" sz="800" u="none" cap="none" strike="noStrike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LOI due:</a:t>
                      </a:r>
                      <a:endParaRPr sz="1400" u="none" cap="none" strike="noStrike"/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Noto Sans Symbols"/>
                        <a:buChar char="▪"/>
                      </a:pPr>
                      <a:r>
                        <a:rPr b="0" i="0" lang="en-US" sz="800" u="none" cap="none" strike="noStrike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Formal DD start:</a:t>
                      </a:r>
                      <a:endParaRPr sz="1400" u="none" cap="none" strike="noStrike"/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Noto Sans Symbols"/>
                        <a:buChar char="▪"/>
                      </a:pPr>
                      <a:r>
                        <a:rPr b="0" i="0" lang="en-US" sz="800" u="none" cap="none" strike="noStrike">
                          <a:solidFill>
                            <a:schemeClr val="dk1"/>
                          </a:solidFill>
                          <a:latin typeface="Avenir"/>
                          <a:ea typeface="Avenir"/>
                          <a:cs typeface="Avenir"/>
                          <a:sym typeface="Avenir"/>
                        </a:rPr>
                        <a:t>Closing: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>
                          <a:latin typeface="Avenir"/>
                        </a:rPr>
                        <a:t/>
                      </a:r>
                      <a:endParaRPr b="0" i="0" sz="1050" u="none" cap="none" strike="noStrike">
                        <a:latin typeface="Avenir"/>
                        <a:ea typeface="Avenir"/>
                        <a:cs typeface="Avenir"/>
                        <a:sym typeface="Avenir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94" name="Google Shape;94;p13"/>
          <p:cNvCxnSpPr/>
          <p:nvPr/>
        </p:nvCxnSpPr>
        <p:spPr>
          <a:xfrm>
            <a:off x="0" y="1508760"/>
            <a:ext cx="6858000" cy="0"/>
          </a:xfrm>
          <a:prstGeom prst="straightConnector1">
            <a:avLst/>
          </a:prstGeom>
          <a:noFill/>
          <a:ln cap="flat" cmpd="sng" w="9525">
            <a:solidFill>
              <a:srgbClr val="C49B7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5" name="Google Shape;95;p13"/>
          <p:cNvSpPr txBox="1"/>
          <p:nvPr/>
        </p:nvSpPr>
        <p:spPr>
          <a:xfrm>
            <a:off x="240792" y="1161368"/>
            <a:ext cx="2243328" cy="393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COMPANY SNAPSHOT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413760" y="1167464"/>
            <a:ext cx="2243328" cy="393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DEAL OVERVIEW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" name="Google Shape;97;p13"/>
          <p:cNvCxnSpPr/>
          <p:nvPr/>
        </p:nvCxnSpPr>
        <p:spPr>
          <a:xfrm>
            <a:off x="-3048" y="3535680"/>
            <a:ext cx="6858000" cy="0"/>
          </a:xfrm>
          <a:prstGeom prst="straightConnector1">
            <a:avLst/>
          </a:prstGeom>
          <a:noFill/>
          <a:ln cap="flat" cmpd="sng" w="9525">
            <a:solidFill>
              <a:srgbClr val="C49B7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8" name="Google Shape;98;p13"/>
          <p:cNvSpPr txBox="1"/>
          <p:nvPr/>
        </p:nvSpPr>
        <p:spPr>
          <a:xfrm>
            <a:off x="240792" y="3188288"/>
            <a:ext cx="3581400" cy="393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HIGH LEVEL BUSINESS DESCRIPTION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237744" y="3541855"/>
            <a:ext cx="6464698" cy="147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>
                <a:latin typeface="Avenir"/>
                <a:ea typeface="Avenir"/>
                <a:cs typeface="Avenir"/>
                <a:sym typeface="Avenir"/>
              </a:rPr>
              <a:t>Heritage fine jewelry brand founded in 1946 and currently led by Brooke Garber Neidich.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>
                <a:latin typeface="Avenir"/>
                <a:ea typeface="Avenir"/>
                <a:cs typeface="Avenir"/>
                <a:sym typeface="Avenir"/>
              </a:rPr>
              <a:t>Sells high-end fine jewelry through owned boutiques, e-commerce, Bergdorf Goodman, Hirshleifers, and independent accounts.</a:t>
            </a:r>
            <a:endParaRPr b="0" i="0" sz="9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>
                <a:latin typeface="Avenir"/>
                <a:ea typeface="Avenir"/>
                <a:cs typeface="Avenir"/>
                <a:sym typeface="Avenir"/>
              </a:rPr>
              <a:t>Reported 2025 core sales of $18.6M and EBITDA of $3.4M; 2025 core sales grew +3% YoY and EBITDA grew +4% YoY.</a:t>
            </a:r>
            <a:endParaRPr b="0" i="0" sz="9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>
                <a:latin typeface="Avenir"/>
                <a:ea typeface="Avenir"/>
                <a:cs typeface="Avenir"/>
                <a:sym typeface="Avenir"/>
              </a:rPr>
              <a:t>Asset-rich profile with $13.1M book inventory and $5.5M cash; seller-estimated inventory liquidation value is materially below book.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lang="en-US" sz="900">
                <a:latin typeface="Avenir"/>
                <a:ea typeface="Avenir"/>
                <a:cs typeface="Avenir"/>
                <a:sym typeface="Avenir"/>
              </a:rPr>
              <a:t>Succession-motivated situation: owner wants to retire and next generation does not want to operate the business.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0" name="Google Shape;100;p13"/>
          <p:cNvCxnSpPr/>
          <p:nvPr/>
        </p:nvCxnSpPr>
        <p:spPr>
          <a:xfrm>
            <a:off x="0" y="5102352"/>
            <a:ext cx="6858000" cy="0"/>
          </a:xfrm>
          <a:prstGeom prst="straightConnector1">
            <a:avLst/>
          </a:prstGeom>
          <a:noFill/>
          <a:ln cap="flat" cmpd="sng" w="9525">
            <a:solidFill>
              <a:srgbClr val="C49B7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1" name="Google Shape;101;p13"/>
          <p:cNvSpPr txBox="1"/>
          <p:nvPr/>
        </p:nvSpPr>
        <p:spPr>
          <a:xfrm>
            <a:off x="243840" y="4754960"/>
            <a:ext cx="6611112" cy="393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PRELIMINARY CHECKLIST (To be validated in confirmatory due diligence)</a:t>
            </a:r>
            <a:endParaRPr b="0" i="0" sz="11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Harvey Balls 25% with solid fill" id="102" name="Google Shape;10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89820" y="5274057"/>
            <a:ext cx="365760" cy="365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arvey Balls 0% with solid fill" id="103" name="Google Shape;103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32994" y="4846847"/>
            <a:ext cx="365760" cy="365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arvey Balls 50% with solid fill" id="104" name="Google Shape;104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32994" y="5701267"/>
            <a:ext cx="365760" cy="365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arvey Balls 100% with solid fill" id="105" name="Google Shape;105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35868" y="7766863"/>
            <a:ext cx="365760" cy="365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arvey Balls 75% with solid fill" id="106" name="Google Shape;106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35868" y="6672837"/>
            <a:ext cx="365760" cy="365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arvey Balls 75% with solid fill" id="107" name="Google Shape;107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84838" y="6811229"/>
            <a:ext cx="365760" cy="365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arvey Balls 100% with solid fill" id="108" name="Google Shape;108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35868" y="7193296"/>
            <a:ext cx="365760" cy="365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arvey Balls 75% with solid fill" id="109" name="Google Shape;109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84838" y="8132623"/>
            <a:ext cx="365760" cy="365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arvey Balls 75% with solid fill" id="110" name="Google Shape;110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84838" y="6194812"/>
            <a:ext cx="365760" cy="365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arvey Balls 50% with solid fill" id="111" name="Google Shape;111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35868" y="5498593"/>
            <a:ext cx="365760" cy="365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arvey Balls 75% with solid fill" id="112" name="Google Shape;112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84838" y="4812184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3"/>
          <p:cNvSpPr txBox="1"/>
          <p:nvPr>
            <p:ph idx="11" type="ftr"/>
          </p:nvPr>
        </p:nvSpPr>
        <p:spPr>
          <a:xfrm rot="5400000">
            <a:off x="5003411" y="7010734"/>
            <a:ext cx="334405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7F7F7F"/>
                </a:solidFill>
              </a:rPr>
              <a:t>STRICTLY CONFIDENTIAL </a:t>
            </a:r>
            <a:endParaRPr/>
          </a:p>
        </p:txBody>
      </p:sp>
      <p:sp>
        <p:nvSpPr>
          <p:cNvPr id="114" name="Google Shape;114;p13"/>
          <p:cNvSpPr txBox="1"/>
          <p:nvPr/>
        </p:nvSpPr>
        <p:spPr>
          <a:xfrm>
            <a:off x="6273800" y="-19154"/>
            <a:ext cx="66323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arvey Balls 100% with solid fill" id="115" name="Google Shape;115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35868" y="6056065"/>
            <a:ext cx="365760" cy="365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arvey Balls 100% with solid fill" id="116" name="Google Shape;116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35868" y="8305990"/>
            <a:ext cx="365760" cy="365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and white logo&#10;&#10;Description automatically generated" id="121" name="Google Shape;12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91440"/>
            <a:ext cx="1575166" cy="1298448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4"/>
          <p:cNvSpPr txBox="1"/>
          <p:nvPr/>
        </p:nvSpPr>
        <p:spPr>
          <a:xfrm>
            <a:off x="3557016" y="91440"/>
            <a:ext cx="3623186" cy="393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latin typeface="Avenir"/>
                <a:ea typeface="Avenir"/>
                <a:cs typeface="Avenir"/>
                <a:sym typeface="Avenir"/>
              </a:rPr>
              <a:t>SIDNEY GARBER | THUMBS UP / THUMBS DOWN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" name="Google Shape;123;p14"/>
          <p:cNvCxnSpPr/>
          <p:nvPr/>
        </p:nvCxnSpPr>
        <p:spPr>
          <a:xfrm>
            <a:off x="0" y="1508760"/>
            <a:ext cx="6858000" cy="0"/>
          </a:xfrm>
          <a:prstGeom prst="straightConnector1">
            <a:avLst/>
          </a:prstGeom>
          <a:noFill/>
          <a:ln cap="flat" cmpd="sng" w="9525">
            <a:solidFill>
              <a:srgbClr val="C49B7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4" name="Google Shape;124;p14"/>
          <p:cNvSpPr txBox="1"/>
          <p:nvPr/>
        </p:nvSpPr>
        <p:spPr>
          <a:xfrm>
            <a:off x="240792" y="1161368"/>
            <a:ext cx="6617208" cy="393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HISTORICAL FINANCIALS &amp; KEY METRICS (To be validated in confirmatory due diligence)</a:t>
            </a:r>
            <a:endParaRPr b="0" i="0" sz="11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125" name="Google Shape;125;p14"/>
          <p:cNvCxnSpPr/>
          <p:nvPr/>
        </p:nvCxnSpPr>
        <p:spPr>
          <a:xfrm>
            <a:off x="0" y="5407153"/>
            <a:ext cx="6858000" cy="0"/>
          </a:xfrm>
          <a:prstGeom prst="straightConnector1">
            <a:avLst/>
          </a:prstGeom>
          <a:noFill/>
          <a:ln cap="flat" cmpd="sng" w="9525">
            <a:solidFill>
              <a:srgbClr val="C49B7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6" name="Google Shape;126;p14"/>
          <p:cNvSpPr txBox="1"/>
          <p:nvPr/>
        </p:nvSpPr>
        <p:spPr>
          <a:xfrm>
            <a:off x="243840" y="5059761"/>
            <a:ext cx="2517648" cy="393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WHAT WE LIKE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4"/>
          <p:cNvSpPr txBox="1"/>
          <p:nvPr/>
        </p:nvSpPr>
        <p:spPr>
          <a:xfrm>
            <a:off x="3557016" y="5059761"/>
            <a:ext cx="3154680" cy="393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WHAT WE NEED TO VALIDATE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4"/>
          <p:cNvSpPr txBox="1"/>
          <p:nvPr/>
        </p:nvSpPr>
        <p:spPr>
          <a:xfrm>
            <a:off x="240791" y="5452872"/>
            <a:ext cx="3067813" cy="23787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Play"/>
              <a:buAutoNum type="arabicPeriod"/>
            </a:pPr>
            <a:r>
              <a:rPr lang="en-US" sz="1100">
                <a:latin typeface="Avenir"/>
                <a:ea typeface="Avenir"/>
                <a:cs typeface="Avenir"/>
                <a:sym typeface="Avenir"/>
              </a:rPr>
              <a:t>Profitable luxury jewelry brand with durable heritage, high gross margins, and recognizable design codes.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Play"/>
              <a:buAutoNum type="arabicPeriod"/>
            </a:pPr>
            <a:r>
              <a:rPr lang="en-US" sz="1100">
                <a:latin typeface="Avenir"/>
                <a:ea typeface="Avenir"/>
                <a:cs typeface="Avenir"/>
                <a:sym typeface="Avenir"/>
              </a:rPr>
              <a:t>Succession-driven seller dynamic with no broad auction process currently indicated.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Play"/>
              <a:buAutoNum type="arabicPeriod"/>
            </a:pPr>
            <a:r>
              <a:rPr lang="en-US" sz="1100">
                <a:latin typeface="Avenir"/>
                <a:ea typeface="Avenir"/>
                <a:cs typeface="Avenir"/>
                <a:sym typeface="Avenir"/>
              </a:rPr>
              <a:t>Potential to offer meaningfully above liquidation alternative while retaining discipline through seller-note structure.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Play"/>
              <a:buAutoNum type="arabicPeriod"/>
            </a:pPr>
            <a:r>
              <a:rPr lang="en-US" sz="1100">
                <a:latin typeface="Avenir"/>
                <a:ea typeface="Avenir"/>
                <a:cs typeface="Avenir"/>
                <a:sym typeface="Avenir"/>
              </a:rPr>
              <a:t>Financial profile supports a preliminary base-case valuation discussion around 3.0x EBITDA, subject to diligence.</a:t>
            </a:r>
            <a:endParaRPr b="0" i="0" sz="1100" u="none" cap="none" strike="noStrik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29" name="Google Shape;129;p14"/>
          <p:cNvSpPr txBox="1"/>
          <p:nvPr/>
        </p:nvSpPr>
        <p:spPr>
          <a:xfrm>
            <a:off x="3549395" y="5452871"/>
            <a:ext cx="3064765" cy="23787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Play"/>
              <a:buAutoNum type="arabicPeriod"/>
            </a:pPr>
            <a:r>
              <a:rPr lang="en-US" sz="1100">
                <a:latin typeface="Avenir"/>
                <a:ea typeface="Avenir"/>
                <a:cs typeface="Avenir"/>
                <a:sym typeface="Avenir"/>
              </a:rPr>
              <a:t>Inventory quality, ownership, aging, saleability, consignment exposure, and true liquidation value versus $13.1M book value.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Play"/>
              <a:buAutoNum type="arabicPeriod"/>
            </a:pPr>
            <a:r>
              <a:rPr lang="en-US" sz="1100">
                <a:latin typeface="Avenir"/>
                <a:ea typeface="Avenir"/>
                <a:cs typeface="Avenir"/>
                <a:sym typeface="Avenir"/>
              </a:rPr>
              <a:t>Related-party/tax loan balance and mechanics to deliver the business debt-free at close.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Play"/>
              <a:buAutoNum type="arabicPeriod"/>
            </a:pPr>
            <a:r>
              <a:rPr lang="en-US" sz="1100">
                <a:latin typeface="Avenir"/>
                <a:ea typeface="Avenir"/>
                <a:cs typeface="Avenir"/>
                <a:sym typeface="Avenir"/>
              </a:rPr>
              <a:t>Go-forward working cash needs, vendor terms, owner transition, key-person reliance, channel mix, and normalized post-close costs.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4"/>
          <p:cNvSpPr txBox="1"/>
          <p:nvPr/>
        </p:nvSpPr>
        <p:spPr>
          <a:xfrm>
            <a:off x="2140162" y="2536518"/>
            <a:ext cx="5468112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>
                <a:solidFill>
                  <a:schemeClr val="dk1"/>
                </a:solidFill>
              </a:rPr>
              <a:t>Financial model: https://docs.google.com/spreadsheets/d/132aRUqHxhZjac47e4mBUIY9uVPfCqCwo/edit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1" name="Google Shape;131;p14"/>
          <p:cNvGraphicFramePr/>
          <p:nvPr/>
        </p:nvGraphicFramePr>
        <p:xfrm>
          <a:off x="146304" y="1615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{875F7F23-FFC8-4270-BE12-AFDA6FE4996E}</a:tableStyleId>
              </a:tblPr>
              <a:tblGrid>
                <a:gridCol w="1394575"/>
                <a:gridCol w="740200"/>
                <a:gridCol w="740200"/>
                <a:gridCol w="740200"/>
                <a:gridCol w="740200"/>
                <a:gridCol w="740200"/>
                <a:gridCol w="740200"/>
                <a:gridCol w="740200"/>
              </a:tblGrid>
              <a:tr h="274325">
                <a:tc>
                  <a:txBody>
                    <a:bodyPr/>
                    <a:lstStyle/>
                    <a:p/>
                  </a:txBody>
                  <a:tcPr marT="29400" marB="29400" marR="58825" marL="588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9B7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9B7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9B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venir"/>
                        </a:rPr>
                        <a:t>2023A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9B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venir"/>
                        </a:rPr>
                        <a:t>2024A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9B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venir"/>
                        </a:rPr>
                        <a:t>2025A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9B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venir"/>
                        </a:rPr>
                        <a:t>2023-25 CAGR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9B77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r>
                        <a:rPr>
                          <a:latin typeface="Avenir"/>
                        </a:rPr>
                        <a:t>REVENUE</a:t>
                      </a:r>
                    </a:p>
                  </a:txBody>
                  <a:tcPr marT="29400" marB="29400" marR="58825" marL="588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venir"/>
                        </a:rPr>
                        <a:t>$12.3M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venir"/>
                        </a:rPr>
                        <a:t>$18.1M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venir"/>
                        </a:rPr>
                        <a:t>$18.6M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venir"/>
                        </a:rPr>
                        <a:t>22.9%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r>
                        <a:rPr>
                          <a:latin typeface="Avenir"/>
                        </a:rPr>
                        <a:t>Growth (%)</a:t>
                      </a:r>
                    </a:p>
                  </a:txBody>
                  <a:tcPr marT="29400" marB="29400" marR="58825" marL="588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venir"/>
                        </a:rPr>
                        <a:t>+47%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venir"/>
                        </a:rPr>
                        <a:t>+3%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r>
                        <a:rPr>
                          <a:latin typeface="Avenir"/>
                        </a:rPr>
                        <a:t>COGS</a:t>
                      </a:r>
                    </a:p>
                  </a:txBody>
                  <a:tcPr marT="29400" marB="29400" marR="58825" marL="588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venir"/>
                        </a:rPr>
                        <a:t>$4.6M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venir"/>
                        </a:rPr>
                        <a:t>$6.7M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venir"/>
                        </a:rPr>
                        <a:t>$6.9M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r>
                        <a:rPr>
                          <a:latin typeface="Avenir"/>
                        </a:rPr>
                        <a:t>GROSS PROFIT</a:t>
                      </a:r>
                    </a:p>
                  </a:txBody>
                  <a:tcPr marT="29400" marB="29400" marR="58825" marL="588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venir"/>
                        </a:rPr>
                        <a:t>$7.7M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venir"/>
                        </a:rPr>
                        <a:t>$11.4M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venir"/>
                        </a:rPr>
                        <a:t>$11.6M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r>
                        <a:rPr>
                          <a:latin typeface="Avenir"/>
                        </a:rPr>
                        <a:t>Gross Margin (%)</a:t>
                      </a:r>
                    </a:p>
                  </a:txBody>
                  <a:tcPr marT="29400" marB="29400" marR="58825" marL="588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venir"/>
                        </a:rPr>
                        <a:t>62.6%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venir"/>
                        </a:rPr>
                        <a:t>62.1%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venir"/>
                        </a:rPr>
                        <a:t>62.8%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r>
                        <a:rPr>
                          <a:latin typeface="Avenir"/>
                        </a:rPr>
                        <a:t>SG&amp;A</a:t>
                      </a:r>
                    </a:p>
                  </a:txBody>
                  <a:tcPr marT="29400" marB="29400" marR="58825" marL="588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venir"/>
                        </a:rPr>
                        <a:t>$6.5M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venir"/>
                        </a:rPr>
                        <a:t>$8.2M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venir"/>
                        </a:rPr>
                        <a:t>$8.3M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r>
                        <a:rPr>
                          <a:latin typeface="Avenir"/>
                        </a:rPr>
                        <a:t>EBITDA</a:t>
                      </a:r>
                    </a:p>
                  </a:txBody>
                  <a:tcPr marT="29400" marB="29400" marR="58825" marL="588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venir"/>
                        </a:rPr>
                        <a:t>$1.2M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venir"/>
                        </a:rPr>
                        <a:t>$3.2M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venir"/>
                        </a:rPr>
                        <a:t>$3.4M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venir"/>
                        </a:rPr>
                        <a:t>68.1%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r>
                        <a:rPr>
                          <a:latin typeface="Avenir"/>
                        </a:rPr>
                        <a:t>EBITDA Margin (%)</a:t>
                      </a:r>
                    </a:p>
                  </a:txBody>
                  <a:tcPr marT="29400" marB="29400" marR="58825" marL="588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venir"/>
                        </a:rPr>
                        <a:t>9.7%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venir"/>
                        </a:rPr>
                        <a:t>17.8%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venir"/>
                        </a:rPr>
                        <a:t>18.1%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r>
                        <a:rPr>
                          <a:latin typeface="Avenir"/>
                        </a:rPr>
                        <a:t>NET INCOME</a:t>
                      </a:r>
                    </a:p>
                  </a:txBody>
                  <a:tcPr marT="29400" marB="29400" marR="58825" marL="588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venir"/>
                        </a:rPr>
                        <a:t>$0.8M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venir"/>
                        </a:rPr>
                        <a:t>$2.6M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venir"/>
                        </a:rPr>
                        <a:t>$2.7M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r>
                        <a:rPr>
                          <a:latin typeface="Avenir"/>
                        </a:rPr>
                        <a:t>Net Margin (%)</a:t>
                      </a:r>
                    </a:p>
                  </a:txBody>
                  <a:tcPr marT="29400" marB="29400" marR="58825" marL="588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venir"/>
                        </a:rPr>
                        <a:t>6.3%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venir"/>
                        </a:rPr>
                        <a:t>14.4%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venir"/>
                        </a:rPr>
                        <a:t>14.6%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 gridSpan="2">
                  <a:txBody>
                    <a:bodyPr/>
                    <a:lstStyle/>
                    <a:p>
                      <a:r>
                        <a:rPr>
                          <a:latin typeface="Avenir"/>
                        </a:rPr>
                        <a:t>(Rev Growth + EBITDA Margin)</a:t>
                      </a:r>
                    </a:p>
                  </a:txBody>
                  <a:tcPr marT="29400" marB="29400" marR="58825" marL="588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>
                  <a:txBody>
                    <a:bodyPr/>
                    <a:p/>
                  </a:txBody>
                </a:tc>
                <a:tc>
                  <a:txBody>
                    <a:bodyPr/>
                    <a:lstStyle/>
                    <a:p/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venir"/>
                        </a:rPr>
                        <a:t>20.8%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>
                          <a:latin typeface="Avenir"/>
                        </a:rPr>
                        <a:t>21.1%</a:t>
                      </a: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2" name="Google Shape;132;p14"/>
          <p:cNvSpPr txBox="1"/>
          <p:nvPr>
            <p:ph idx="11" type="ftr"/>
          </p:nvPr>
        </p:nvSpPr>
        <p:spPr>
          <a:xfrm rot="5400000">
            <a:off x="5003411" y="7315535"/>
            <a:ext cx="334405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rgbClr val="7F7F7F"/>
                </a:solidFill>
              </a:rPr>
              <a:t>STRICTLY CONFIDENTIAL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