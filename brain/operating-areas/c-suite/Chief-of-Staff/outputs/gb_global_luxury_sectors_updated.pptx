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8229600"/>
          </a:xfrm>
          <a:prstGeom prst="rect">
            <a:avLst/>
          </a:prstGeom>
          <a:solidFill>
            <a:srgbClr val="F8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" y="7315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01010"/>
                </a:solidFill>
                <a:latin typeface="Georgia"/>
              </a:rPr>
              <a:t>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188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01010"/>
                </a:solidFill>
                <a:latin typeface="Georgia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75488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01010"/>
                </a:solidFill>
                <a:latin typeface="Aptos"/>
              </a:rPr>
              <a:t>Global Luxury Sectors &amp;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987552"/>
            <a:ext cx="12664440" cy="10972"/>
          </a:xfrm>
          <a:prstGeom prst="rect">
            <a:avLst/>
          </a:prstGeom>
          <a:solidFill>
            <a:srgbClr val="CDA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078992"/>
            <a:ext cx="12115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 b="0">
                <a:solidFill>
                  <a:srgbClr val="101010"/>
                </a:solidFill>
                <a:latin typeface="Aptos"/>
              </a:rPr>
              <a:t>The global luxury market is generally divided into 9 sectors, with </a:t>
            </a:r>
            <a:r>
              <a:rPr sz="1500" i="1" b="1">
                <a:solidFill>
                  <a:srgbClr val="101010"/>
                </a:solidFill>
                <a:latin typeface="Aptos"/>
              </a:rPr>
              <a:t>personal luxury goods</a:t>
            </a:r>
            <a:r>
              <a:rPr sz="1500" i="1" b="0">
                <a:solidFill>
                  <a:srgbClr val="101010"/>
                </a:solidFill>
                <a:latin typeface="Aptos"/>
              </a:rPr>
              <a:t> being the second largest sector, largely driven by the US</a:t>
            </a:r>
          </a:p>
        </p:txBody>
      </p:sp>
      <p:sp>
        <p:nvSpPr>
          <p:cNvPr id="8" name="Right Triangle 7"/>
          <p:cNvSpPr/>
          <p:nvPr/>
        </p:nvSpPr>
        <p:spPr>
          <a:xfrm rot="10800000">
            <a:off x="1207008" y="1627632"/>
            <a:ext cx="12435840" cy="1965960"/>
          </a:xfrm>
          <a:prstGeom prst="rtTriangle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39" y="3822191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4B88C"/>
                </a:solidFill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4169663"/>
            <a:ext cx="1170432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4398264"/>
            <a:ext cx="987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101010"/>
                </a:solidFill>
                <a:latin typeface="Aptos"/>
              </a:rPr>
              <a:t>Luxury
Cars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59"/>
            <a:ext cx="10241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>
                <a:solidFill>
                  <a:srgbClr val="BE7430"/>
                </a:solidFill>
              </a:rPr>
              <a:t>Global 39%</a:t>
            </a:r>
          </a:p>
          <a:p>
            <a:pPr algn="ctr"/>
            <a:r>
              <a:rPr sz="980" b="1">
                <a:solidFill>
                  <a:srgbClr val="BE7430"/>
                </a:solidFill>
              </a:rPr>
              <a:t>$627B -5%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US 26%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$94B -5%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684264"/>
            <a:ext cx="1024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>
                <a:solidFill>
                  <a:srgbClr val="6E6E6E"/>
                </a:solidFill>
              </a:rPr>
              <a:t>Premium/
luxury vehicle
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3822191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4B88C"/>
                </a:solidFill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4169663"/>
            <a:ext cx="1170432" cy="3218688"/>
          </a:xfrm>
          <a:prstGeom prst="roundRect">
            <a:avLst/>
          </a:prstGeom>
          <a:solidFill>
            <a:srgbClr val="FDF7F2"/>
          </a:solidFill>
          <a:ln w="30480">
            <a:solidFill>
              <a:srgbClr val="F4B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398264"/>
            <a:ext cx="987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101010"/>
                </a:solidFill>
                <a:latin typeface="Aptos"/>
              </a:rPr>
              <a:t>Personal
Luxury
Goods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5394959"/>
            <a:ext cx="10241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>
                <a:solidFill>
                  <a:srgbClr val="BE7430"/>
                </a:solidFill>
              </a:rPr>
              <a:t>Global 25%</a:t>
            </a:r>
          </a:p>
          <a:p>
            <a:pPr algn="ctr"/>
            <a:r>
              <a:rPr sz="980" b="1">
                <a:solidFill>
                  <a:srgbClr val="BE7430"/>
                </a:solidFill>
              </a:rPr>
              <a:t>$393B -2%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US 24%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$86B -2%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6684264"/>
            <a:ext cx="1024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>
                <a:solidFill>
                  <a:srgbClr val="6E6E6E"/>
                </a:solidFill>
              </a:rPr>
              <a:t>Apparel,
Leather goods,
jewelry, watches,
beauty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3822191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4B88C"/>
                </a:solidFill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4169663"/>
            <a:ext cx="1170432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4398264"/>
            <a:ext cx="987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101010"/>
                </a:solidFill>
                <a:latin typeface="Aptos"/>
              </a:rPr>
              <a:t>Luxury
Hospitality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9664" y="5394959"/>
            <a:ext cx="10241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>
                <a:solidFill>
                  <a:srgbClr val="BE7430"/>
                </a:solidFill>
              </a:rPr>
              <a:t>Global 16%</a:t>
            </a:r>
          </a:p>
          <a:p>
            <a:pPr algn="ctr"/>
            <a:r>
              <a:rPr sz="980" b="1">
                <a:solidFill>
                  <a:srgbClr val="BE7430"/>
                </a:solidFill>
              </a:rPr>
              <a:t>$262B +4%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US 19%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$68B +4%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664" y="6684264"/>
            <a:ext cx="1024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>
                <a:solidFill>
                  <a:srgbClr val="6E6E6E"/>
                </a:solidFill>
              </a:rPr>
              <a:t>Luxury hotels/
resorts &amp;
travel lodging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8736" y="3822191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4B88C"/>
                </a:solidFill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95544" y="4169663"/>
            <a:ext cx="1170432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86983" y="4398264"/>
            <a:ext cx="987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101010"/>
                </a:solidFill>
                <a:latin typeface="Aptos"/>
              </a:rPr>
              <a:t>Fine Wines
&amp; Spirits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68696" y="5394959"/>
            <a:ext cx="10241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>
                <a:solidFill>
                  <a:srgbClr val="BE7430"/>
                </a:solidFill>
              </a:rPr>
              <a:t>Global 7%</a:t>
            </a:r>
          </a:p>
          <a:p>
            <a:pPr algn="ctr"/>
            <a:r>
              <a:rPr sz="980" b="1">
                <a:solidFill>
                  <a:srgbClr val="BE7430"/>
                </a:solidFill>
              </a:rPr>
              <a:t>$107B 0%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US 8%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$30B 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8696" y="6684264"/>
            <a:ext cx="1024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>
                <a:solidFill>
                  <a:srgbClr val="6E6E6E"/>
                </a:solidFill>
              </a:rPr>
              <a:t>Premium
wine,
Champagne,
spirits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3822191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4B88C"/>
                </a:solidFill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94576" y="4169663"/>
            <a:ext cx="1170432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86016" y="4398264"/>
            <a:ext cx="987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101010"/>
                </a:solidFill>
                <a:latin typeface="Aptos"/>
              </a:rPr>
              <a:t>Fine
Dining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7728" y="5394959"/>
            <a:ext cx="10241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>
                <a:solidFill>
                  <a:srgbClr val="BE7430"/>
                </a:solidFill>
              </a:rPr>
              <a:t>Global 5%</a:t>
            </a:r>
          </a:p>
          <a:p>
            <a:pPr algn="ctr"/>
            <a:r>
              <a:rPr sz="980" b="1">
                <a:solidFill>
                  <a:srgbClr val="BE7430"/>
                </a:solidFill>
              </a:rPr>
              <a:t>$78B +8%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US 6%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$23B +8%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6684264"/>
            <a:ext cx="1024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>
                <a:solidFill>
                  <a:srgbClr val="6E6E6E"/>
                </a:solidFill>
              </a:rPr>
              <a:t>Upscale/ fine
dining
restaurants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822191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4B88C"/>
                </a:solidFill>
              </a:rP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93608" y="4169663"/>
            <a:ext cx="1170432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8" y="4398264"/>
            <a:ext cx="987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101010"/>
                </a:solidFill>
                <a:latin typeface="Aptos"/>
              </a:rPr>
              <a:t>High-End
Furniture
&amp; Houseware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5394959"/>
            <a:ext cx="10241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>
                <a:solidFill>
                  <a:srgbClr val="BE7430"/>
                </a:solidFill>
              </a:rPr>
              <a:t>Global 3%</a:t>
            </a:r>
          </a:p>
          <a:p>
            <a:pPr algn="ctr"/>
            <a:r>
              <a:rPr sz="980" b="1">
                <a:solidFill>
                  <a:srgbClr val="BE7430"/>
                </a:solidFill>
              </a:rPr>
              <a:t>$55B -2%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US 5%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$17B -2%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6684264"/>
            <a:ext cx="1024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>
                <a:solidFill>
                  <a:srgbClr val="6E6E6E"/>
                </a:solidFill>
              </a:rPr>
              <a:t>Luxury home,
furniture,
design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5832" y="3822191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4B88C"/>
                </a:solidFill>
              </a:rPr>
              <a:t>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92640" y="4169663"/>
            <a:ext cx="1170432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0" y="4398264"/>
            <a:ext cx="987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101010"/>
                </a:solidFill>
                <a:latin typeface="Aptos"/>
              </a:rPr>
              <a:t>Fine 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5394959"/>
            <a:ext cx="10241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>
                <a:solidFill>
                  <a:srgbClr val="BE7430"/>
                </a:solidFill>
              </a:rPr>
              <a:t>Global 2%</a:t>
            </a:r>
          </a:p>
          <a:p>
            <a:pPr algn="ctr"/>
            <a:r>
              <a:rPr sz="980" b="1">
                <a:solidFill>
                  <a:srgbClr val="BE7430"/>
                </a:solidFill>
              </a:rPr>
              <a:t>$39B -7%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US 5%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$17B -9%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6684264"/>
            <a:ext cx="1024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>
                <a:solidFill>
                  <a:srgbClr val="6E6E6E"/>
                </a:solidFill>
              </a:rPr>
              <a:t>Global art
market sales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84864" y="3822191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4B88C"/>
                </a:solidFill>
              </a:rPr>
              <a:t>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091672" y="4169663"/>
            <a:ext cx="1170432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83112" y="4398264"/>
            <a:ext cx="987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101010"/>
                </a:solidFill>
                <a:latin typeface="Aptos"/>
              </a:rPr>
              <a:t>Private
Jets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64824" y="5394959"/>
            <a:ext cx="10241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>
                <a:solidFill>
                  <a:srgbClr val="BE7430"/>
                </a:solidFill>
              </a:rPr>
              <a:t>Global 2%</a:t>
            </a:r>
          </a:p>
          <a:p>
            <a:pPr algn="ctr"/>
            <a:r>
              <a:rPr sz="980" b="1">
                <a:solidFill>
                  <a:srgbClr val="BE7430"/>
                </a:solidFill>
              </a:rPr>
              <a:t>$34B +13%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US 6%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$21B +13%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64824" y="6684264"/>
            <a:ext cx="1024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>
                <a:solidFill>
                  <a:srgbClr val="6E6E6E"/>
                </a:solidFill>
              </a:rPr>
              <a:t>Private/
business jet
market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83896" y="3822191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4B88C"/>
                </a:solidFill>
              </a:rPr>
              <a:t>9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490704" y="4169663"/>
            <a:ext cx="1170432" cy="3218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582144" y="4398264"/>
            <a:ext cx="987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101010"/>
                </a:solidFill>
                <a:latin typeface="Aptos"/>
              </a:rPr>
              <a:t>Luxury
Yachting
&amp; Cruises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563856" y="5394959"/>
            <a:ext cx="102412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80" b="1">
                <a:solidFill>
                  <a:srgbClr val="BE7430"/>
                </a:solidFill>
              </a:rPr>
              <a:t>Global &lt;1%</a:t>
            </a:r>
          </a:p>
          <a:p>
            <a:pPr algn="ctr"/>
            <a:r>
              <a:rPr sz="980" b="1">
                <a:solidFill>
                  <a:srgbClr val="BE7430"/>
                </a:solidFill>
              </a:rPr>
              <a:t>$5.4B +30%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US 1%</a:t>
            </a:r>
          </a:p>
          <a:p>
            <a:pPr algn="ctr"/>
            <a:r>
              <a:rPr sz="980" b="1">
                <a:solidFill>
                  <a:srgbClr val="14263A"/>
                </a:solidFill>
              </a:rPr>
              <a:t>$2.1B +30%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563856" y="6684264"/>
            <a:ext cx="1024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>
                <a:solidFill>
                  <a:srgbClr val="6E6E6E"/>
                </a:solidFill>
              </a:rPr>
              <a:t>Yachts +
luxury cruise
proxy</a:t>
            </a:r>
          </a:p>
        </p:txBody>
      </p:sp>
      <p:sp>
        <p:nvSpPr>
          <p:cNvPr id="54" name="TextBox 53"/>
          <p:cNvSpPr txBox="1"/>
          <p:nvPr/>
        </p:nvSpPr>
        <p:spPr>
          <a:xfrm rot="16200000">
            <a:off x="137160" y="5486400"/>
            <a:ext cx="219456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E6E6E"/>
                </a:solidFill>
              </a:rPr>
              <a:t>Luxury Jewelry Industry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286232" y="562356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F4B88C"/>
                </a:solidFill>
              </a:rPr>
              <a:t>Largest to
Smallest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7918704"/>
            <a:ext cx="116128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40">
                <a:solidFill>
                  <a:srgbClr val="6E6E6E"/>
                </a:solidFill>
              </a:rPr>
              <a:t>Source in Slide notes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670280" y="775411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</a:rPr>
              <a:t>14</a:t>
            </a:r>
          </a:p>
        </p:txBody>
      </p:sp>
      <p:sp>
        <p:nvSpPr>
          <p:cNvPr id="58" name="TextBox 57"/>
          <p:cNvSpPr txBox="1"/>
          <p:nvPr/>
        </p:nvSpPr>
        <p:spPr>
          <a:xfrm rot="16200000">
            <a:off x="14218920" y="6812280"/>
            <a:ext cx="182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101010"/>
                </a:solidFill>
              </a:rPr>
              <a:t>Strictly Confidential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304520" y="164592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rgbClr val="FF0000"/>
                </a:solidFill>
              </a:rPr>
              <a:t>WIP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