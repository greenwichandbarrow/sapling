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8229600"/>
          </a:xfrm>
          <a:prstGeom prst="rect">
            <a:avLst/>
          </a:prstGeom>
          <a:solidFill>
            <a:srgbClr val="F8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73152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01010"/>
                </a:solidFill>
                <a:latin typeface="Georgia"/>
              </a:rPr>
              <a:t>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18872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01010"/>
                </a:solidFill>
                <a:latin typeface="Georgia"/>
              </a:rPr>
              <a:t>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7548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01010"/>
                </a:solidFill>
                <a:latin typeface="Aptos"/>
              </a:rPr>
              <a:t>Global Luxury Sectors &amp; Trends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0432" y="987552"/>
            <a:ext cx="12664440" cy="10972"/>
          </a:xfrm>
          <a:prstGeom prst="rect">
            <a:avLst/>
          </a:prstGeom>
          <a:solidFill>
            <a:srgbClr val="CDA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078992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101010"/>
                </a:solidFill>
                <a:latin typeface="Aptos"/>
              </a:rPr>
              <a:t>Option 1: ranked horizontal bars make scale obvious and keep personal luxury goods as the bridge into jewelry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30200" y="164592"/>
            <a:ext cx="1280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>
                <a:solidFill>
                  <a:srgbClr val="FF0000"/>
                </a:solidFill>
              </a:rPr>
              <a:t>MOCKUP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78455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">
                <a:solidFill>
                  <a:srgbClr val="787878"/>
                </a:solidFill>
              </a:rPr>
              <a:t>Source: Bain &amp; Company / Altagamma 2024; EUR figures translated to USD at 2024 average EUR/USD of 1.0824. Global USD values, not U.S.-only market size.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61720" y="7726679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87878"/>
                </a:solidFill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874520"/>
            <a:ext cx="3474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B88C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828800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01010"/>
                </a:solidFill>
              </a:rPr>
              <a:t>Luxury Cars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0" y="1847088"/>
            <a:ext cx="8138160" cy="256032"/>
          </a:xfrm>
          <a:prstGeom prst="roundRect">
            <a:avLst/>
          </a:prstGeom>
          <a:solidFill>
            <a:srgbClr val="F8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40480" y="1847088"/>
            <a:ext cx="8138160" cy="256032"/>
          </a:xfrm>
          <a:prstGeom prst="roundRect">
            <a:avLst/>
          </a:prstGeom>
          <a:solidFill>
            <a:srgbClr val="CDA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978640" y="1819656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D3147"/>
                </a:solidFill>
              </a:rPr>
              <a:t>$627B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0" y="1819656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7878"/>
                </a:solidFill>
              </a:rPr>
              <a:t>-5%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404872"/>
            <a:ext cx="3474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B88C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2359152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01010"/>
                </a:solidFill>
              </a:rPr>
              <a:t>Personal Luxury Goods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0" y="2377440"/>
            <a:ext cx="8138160" cy="256032"/>
          </a:xfrm>
          <a:prstGeom prst="roundRect">
            <a:avLst/>
          </a:prstGeom>
          <a:solidFill>
            <a:srgbClr val="F8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840480" y="2377440"/>
            <a:ext cx="5102162" cy="256032"/>
          </a:xfrm>
          <a:prstGeom prst="roundRect">
            <a:avLst/>
          </a:prstGeom>
          <a:solidFill>
            <a:srgbClr val="F4B88C"/>
          </a:solidFill>
          <a:ln w="19050">
            <a:solidFill>
              <a:srgbClr val="BE7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978640" y="235000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D3147"/>
                </a:solidFill>
              </a:rPr>
              <a:t>$393B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0" y="235000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7878"/>
                </a:solidFill>
              </a:rPr>
              <a:t>-2%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2935224"/>
            <a:ext cx="3474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B88C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2889504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01010"/>
                </a:solidFill>
              </a:rPr>
              <a:t>Luxury Hospitality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0" y="2907792"/>
            <a:ext cx="8138160" cy="256032"/>
          </a:xfrm>
          <a:prstGeom prst="roundRect">
            <a:avLst/>
          </a:prstGeom>
          <a:solidFill>
            <a:srgbClr val="F8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840480" y="2907792"/>
            <a:ext cx="3401441" cy="256032"/>
          </a:xfrm>
          <a:prstGeom prst="roundRect">
            <a:avLst/>
          </a:prstGeom>
          <a:solidFill>
            <a:srgbClr val="CDA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978640" y="28803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D3147"/>
                </a:solidFill>
              </a:rPr>
              <a:t>$262B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0" y="2880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E7430"/>
                </a:solidFill>
              </a:rPr>
              <a:t>+4%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3465576"/>
            <a:ext cx="3474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B88C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3419856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01010"/>
                </a:solidFill>
              </a:rPr>
              <a:t>Fine Wines &amp; Spirits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0" y="3438144"/>
            <a:ext cx="8138160" cy="256032"/>
          </a:xfrm>
          <a:prstGeom prst="roundRect">
            <a:avLst/>
          </a:prstGeom>
          <a:solidFill>
            <a:srgbClr val="F8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840480" y="3438144"/>
            <a:ext cx="1391498" cy="256032"/>
          </a:xfrm>
          <a:prstGeom prst="roundRect">
            <a:avLst/>
          </a:prstGeom>
          <a:solidFill>
            <a:srgbClr val="CDA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978640" y="34107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D3147"/>
                </a:solidFill>
              </a:rPr>
              <a:t>$107B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0" y="341071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E7430"/>
                </a:solidFill>
              </a:rPr>
              <a:t>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3995928"/>
            <a:ext cx="3474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B88C"/>
                </a:solidFill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08760" y="3950208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01010"/>
                </a:solidFill>
              </a:rPr>
              <a:t>Gourmet Food &amp; Fine Dining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840480" y="3968496"/>
            <a:ext cx="8138160" cy="256032"/>
          </a:xfrm>
          <a:prstGeom prst="roundRect">
            <a:avLst/>
          </a:prstGeom>
          <a:solidFill>
            <a:srgbClr val="F8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840480" y="3968496"/>
            <a:ext cx="1011999" cy="256032"/>
          </a:xfrm>
          <a:prstGeom prst="roundRect">
            <a:avLst/>
          </a:prstGeom>
          <a:solidFill>
            <a:srgbClr val="CDA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978640" y="3941064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D3147"/>
                </a:solidFill>
              </a:rPr>
              <a:t>$78B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0" y="3941064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E7430"/>
                </a:solidFill>
              </a:rPr>
              <a:t>+8%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4526280"/>
            <a:ext cx="3474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B88C"/>
                </a:solidFill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08760" y="4480560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01010"/>
                </a:solidFill>
              </a:rPr>
              <a:t>High-End Furniture &amp; Housewares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840480" y="4498848"/>
            <a:ext cx="8138160" cy="256032"/>
          </a:xfrm>
          <a:prstGeom prst="roundRect">
            <a:avLst/>
          </a:prstGeom>
          <a:solidFill>
            <a:srgbClr val="F8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840480" y="4498848"/>
            <a:ext cx="716832" cy="256032"/>
          </a:xfrm>
          <a:prstGeom prst="roundRect">
            <a:avLst/>
          </a:prstGeom>
          <a:solidFill>
            <a:srgbClr val="CDA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978640" y="4471416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D3147"/>
                </a:solidFill>
              </a:rPr>
              <a:t>$55B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801600" y="4471416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7878"/>
                </a:solidFill>
              </a:rPr>
              <a:t>-2%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3000" y="5056632"/>
            <a:ext cx="3474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B88C"/>
                </a:solidFill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08760" y="5010912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01010"/>
                </a:solidFill>
              </a:rPr>
              <a:t>Fine Art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840480" y="5029200"/>
            <a:ext cx="8138160" cy="256032"/>
          </a:xfrm>
          <a:prstGeom prst="roundRect">
            <a:avLst/>
          </a:prstGeom>
          <a:solidFill>
            <a:srgbClr val="F8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840480" y="5029200"/>
            <a:ext cx="505999" cy="256032"/>
          </a:xfrm>
          <a:prstGeom prst="roundRect">
            <a:avLst/>
          </a:prstGeom>
          <a:solidFill>
            <a:srgbClr val="CDA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978640" y="500176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D3147"/>
                </a:solidFill>
              </a:rPr>
              <a:t>$39B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801600" y="500176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7878"/>
                </a:solidFill>
              </a:rPr>
              <a:t>-7%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3000" y="5586984"/>
            <a:ext cx="3474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B88C"/>
                </a:solidFill>
              </a:rPr>
              <a:t>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08760" y="5541264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01010"/>
                </a:solidFill>
              </a:rPr>
              <a:t>Private Jets &amp; Yachts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840480" y="5559552"/>
            <a:ext cx="8138160" cy="256032"/>
          </a:xfrm>
          <a:prstGeom prst="roundRect">
            <a:avLst/>
          </a:prstGeom>
          <a:solidFill>
            <a:srgbClr val="F8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3840480" y="5559552"/>
            <a:ext cx="435721" cy="256032"/>
          </a:xfrm>
          <a:prstGeom prst="roundRect">
            <a:avLst/>
          </a:prstGeom>
          <a:solidFill>
            <a:srgbClr val="CDA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978640" y="55321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D3147"/>
                </a:solidFill>
              </a:rPr>
              <a:t>$34B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801600" y="55321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E7430"/>
                </a:solidFill>
              </a:rPr>
              <a:t>+13%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3000" y="6117336"/>
            <a:ext cx="3474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B88C"/>
                </a:solidFill>
              </a:rPr>
              <a:t>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08760" y="6071616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01010"/>
                </a:solidFill>
              </a:rPr>
              <a:t>Luxury Cruises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840480" y="6089904"/>
            <a:ext cx="8138160" cy="256032"/>
          </a:xfrm>
          <a:prstGeom prst="roundRect">
            <a:avLst/>
          </a:prstGeom>
          <a:solidFill>
            <a:srgbClr val="F8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3840480" y="6089904"/>
            <a:ext cx="70277" cy="256032"/>
          </a:xfrm>
          <a:prstGeom prst="roundRect">
            <a:avLst/>
          </a:prstGeom>
          <a:solidFill>
            <a:srgbClr val="CDA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978640" y="606247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D3147"/>
                </a:solidFill>
              </a:rPr>
              <a:t>$5.4B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801600" y="606247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E7430"/>
                </a:solidFill>
              </a:rPr>
              <a:t>+30%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46920" y="635508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787878"/>
                </a:solidFill>
              </a:rPr>
              <a:t>Best investor read: size, rank, and category relevance are clear within seconds.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8229600"/>
          </a:xfrm>
          <a:prstGeom prst="rect">
            <a:avLst/>
          </a:prstGeom>
          <a:solidFill>
            <a:srgbClr val="F8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73152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01010"/>
                </a:solidFill>
                <a:latin typeface="Georgia"/>
              </a:rPr>
              <a:t>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18872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01010"/>
                </a:solidFill>
                <a:latin typeface="Georgia"/>
              </a:rPr>
              <a:t>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7548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01010"/>
                </a:solidFill>
                <a:latin typeface="Aptos"/>
              </a:rPr>
              <a:t>Global Luxury Universe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0432" y="987552"/>
            <a:ext cx="12664440" cy="10972"/>
          </a:xfrm>
          <a:prstGeom prst="rect">
            <a:avLst/>
          </a:prstGeom>
          <a:solidFill>
            <a:srgbClr val="CDA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078992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101010"/>
                </a:solidFill>
                <a:latin typeface="Aptos"/>
              </a:rPr>
              <a:t>Option 2: a market map shows the breadth of the future holdco canvas while keeping personal luxury goods central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30200" y="164592"/>
            <a:ext cx="1280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>
                <a:solidFill>
                  <a:srgbClr val="FF0000"/>
                </a:solidFill>
              </a:rPr>
              <a:t>MOCKUP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78455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">
                <a:solidFill>
                  <a:srgbClr val="787878"/>
                </a:solidFill>
              </a:rPr>
              <a:t>Source: Bain &amp; Company / Altagamma 2024; EUR figures translated to USD at 2024 average EUR/USD of 1.0824. Global USD values, not U.S.-only market size.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61720" y="7726679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87878"/>
                </a:solidFill>
              </a:rPr>
              <a:t>B</a:t>
            </a:r>
          </a:p>
        </p:txBody>
      </p:sp>
      <p:sp>
        <p:nvSpPr>
          <p:cNvPr id="11" name="Oval 10"/>
          <p:cNvSpPr/>
          <p:nvPr/>
        </p:nvSpPr>
        <p:spPr>
          <a:xfrm>
            <a:off x="2642616" y="2185416"/>
            <a:ext cx="2395728" cy="2395728"/>
          </a:xfrm>
          <a:prstGeom prst="ellipse">
            <a:avLst/>
          </a:prstGeom>
          <a:solidFill>
            <a:srgbClr val="FAEFE7"/>
          </a:solidFill>
          <a:ln w="12700">
            <a:solidFill>
              <a:srgbClr val="E2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15768" y="3054096"/>
            <a:ext cx="22494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101010"/>
                </a:solidFill>
              </a:rPr>
              <a:t>Luxury Cars</a:t>
            </a:r>
          </a:p>
          <a:p>
            <a:pPr algn="ctr"/>
            <a:r>
              <a:rPr sz="1050" b="1">
                <a:solidFill>
                  <a:srgbClr val="BE7430"/>
                </a:solidFill>
              </a:rPr>
              <a:t>$627B</a:t>
            </a:r>
          </a:p>
        </p:txBody>
      </p:sp>
      <p:sp>
        <p:nvSpPr>
          <p:cNvPr id="13" name="Oval 12"/>
          <p:cNvSpPr/>
          <p:nvPr/>
        </p:nvSpPr>
        <p:spPr>
          <a:xfrm>
            <a:off x="6115317" y="3143517"/>
            <a:ext cx="2034005" cy="2034005"/>
          </a:xfrm>
          <a:prstGeom prst="ellipse">
            <a:avLst/>
          </a:prstGeom>
          <a:solidFill>
            <a:srgbClr val="FDF7F2"/>
          </a:solidFill>
          <a:ln w="30480">
            <a:solidFill>
              <a:srgbClr val="F4B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88469" y="3831335"/>
            <a:ext cx="188770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101010"/>
                </a:solidFill>
              </a:rPr>
              <a:t>Personal Luxury Goods</a:t>
            </a:r>
          </a:p>
          <a:p>
            <a:pPr algn="ctr"/>
            <a:r>
              <a:rPr sz="1050" b="1">
                <a:solidFill>
                  <a:srgbClr val="BE7430"/>
                </a:solidFill>
              </a:rPr>
              <a:t>$393B</a:t>
            </a:r>
          </a:p>
        </p:txBody>
      </p:sp>
      <p:sp>
        <p:nvSpPr>
          <p:cNvPr id="15" name="Oval 14"/>
          <p:cNvSpPr/>
          <p:nvPr/>
        </p:nvSpPr>
        <p:spPr>
          <a:xfrm>
            <a:off x="8984734" y="2492494"/>
            <a:ext cx="1781570" cy="1781570"/>
          </a:xfrm>
          <a:prstGeom prst="ellipse">
            <a:avLst/>
          </a:prstGeom>
          <a:solidFill>
            <a:srgbClr val="FAEFE7"/>
          </a:solidFill>
          <a:ln w="12700">
            <a:solidFill>
              <a:srgbClr val="E2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7886" y="3054096"/>
            <a:ext cx="163526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101010"/>
                </a:solidFill>
              </a:rPr>
              <a:t>Luxury Hospitality</a:t>
            </a:r>
          </a:p>
          <a:p>
            <a:pPr algn="ctr"/>
            <a:r>
              <a:rPr sz="1050" b="1">
                <a:solidFill>
                  <a:srgbClr val="BE7430"/>
                </a:solidFill>
              </a:rPr>
              <a:t>$262B</a:t>
            </a:r>
          </a:p>
        </p:txBody>
      </p:sp>
      <p:sp>
        <p:nvSpPr>
          <p:cNvPr id="17" name="Oval 16"/>
          <p:cNvSpPr/>
          <p:nvPr/>
        </p:nvSpPr>
        <p:spPr>
          <a:xfrm>
            <a:off x="2969214" y="5026614"/>
            <a:ext cx="1376770" cy="1376770"/>
          </a:xfrm>
          <a:prstGeom prst="ellipse">
            <a:avLst/>
          </a:prstGeom>
          <a:solidFill>
            <a:srgbClr val="FAEFE7"/>
          </a:solidFill>
          <a:ln w="12700">
            <a:solidFill>
              <a:srgbClr val="E2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2366" y="5385816"/>
            <a:ext cx="123046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101010"/>
                </a:solidFill>
              </a:rPr>
              <a:t>Fine Wines
&amp; Spirits</a:t>
            </a:r>
          </a:p>
          <a:p>
            <a:pPr algn="ctr"/>
            <a:r>
              <a:rPr sz="1050" b="1">
                <a:solidFill>
                  <a:srgbClr val="BE7430"/>
                </a:solidFill>
              </a:rPr>
              <a:t>$107B</a:t>
            </a:r>
          </a:p>
        </p:txBody>
      </p:sp>
      <p:sp>
        <p:nvSpPr>
          <p:cNvPr id="19" name="Oval 18"/>
          <p:cNvSpPr/>
          <p:nvPr/>
        </p:nvSpPr>
        <p:spPr>
          <a:xfrm>
            <a:off x="4942327" y="5490967"/>
            <a:ext cx="1271024" cy="1271024"/>
          </a:xfrm>
          <a:prstGeom prst="ellipse">
            <a:avLst/>
          </a:prstGeom>
          <a:solidFill>
            <a:srgbClr val="FAEFE7"/>
          </a:solidFill>
          <a:ln w="12700">
            <a:solidFill>
              <a:srgbClr val="E2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15479" y="5797296"/>
            <a:ext cx="112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>
                <a:solidFill>
                  <a:srgbClr val="101010"/>
                </a:solidFill>
              </a:rPr>
              <a:t>Gourmet Food
&amp; Fine Dining</a:t>
            </a:r>
          </a:p>
          <a:p>
            <a:pPr algn="ctr"/>
            <a:r>
              <a:rPr sz="1050" b="1">
                <a:solidFill>
                  <a:srgbClr val="BE7430"/>
                </a:solidFill>
              </a:rPr>
              <a:t>$78B</a:t>
            </a:r>
          </a:p>
        </p:txBody>
      </p:sp>
      <p:sp>
        <p:nvSpPr>
          <p:cNvPr id="21" name="Oval 20"/>
          <p:cNvSpPr/>
          <p:nvPr/>
        </p:nvSpPr>
        <p:spPr>
          <a:xfrm>
            <a:off x="7368282" y="5585202"/>
            <a:ext cx="1173994" cy="1173994"/>
          </a:xfrm>
          <a:prstGeom prst="ellipse">
            <a:avLst/>
          </a:prstGeom>
          <a:solidFill>
            <a:srgbClr val="FAEFE7"/>
          </a:solidFill>
          <a:ln w="12700">
            <a:solidFill>
              <a:srgbClr val="E2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41434" y="5843016"/>
            <a:ext cx="102769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>
                <a:solidFill>
                  <a:srgbClr val="101010"/>
                </a:solidFill>
              </a:rPr>
              <a:t>High-End Furniture
&amp; Housewares</a:t>
            </a:r>
          </a:p>
          <a:p>
            <a:pPr algn="ctr"/>
            <a:r>
              <a:rPr sz="1050" b="1">
                <a:solidFill>
                  <a:srgbClr val="BE7430"/>
                </a:solidFill>
              </a:rPr>
              <a:t>$55B</a:t>
            </a:r>
          </a:p>
        </p:txBody>
      </p:sp>
      <p:sp>
        <p:nvSpPr>
          <p:cNvPr id="23" name="Oval 22"/>
          <p:cNvSpPr/>
          <p:nvPr/>
        </p:nvSpPr>
        <p:spPr>
          <a:xfrm>
            <a:off x="9284009" y="5123489"/>
            <a:ext cx="1091581" cy="1091581"/>
          </a:xfrm>
          <a:prstGeom prst="ellipse">
            <a:avLst/>
          </a:prstGeom>
          <a:solidFill>
            <a:srgbClr val="FAEFE7"/>
          </a:solidFill>
          <a:ln w="12700">
            <a:solidFill>
              <a:srgbClr val="E2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57161" y="5340096"/>
            <a:ext cx="94527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>
                <a:solidFill>
                  <a:srgbClr val="101010"/>
                </a:solidFill>
              </a:rPr>
              <a:t>Fine Art</a:t>
            </a:r>
          </a:p>
          <a:p>
            <a:pPr algn="ctr"/>
            <a:r>
              <a:rPr sz="1050" b="1">
                <a:solidFill>
                  <a:srgbClr val="BE7430"/>
                </a:solidFill>
              </a:rPr>
              <a:t>$39B</a:t>
            </a:r>
          </a:p>
        </p:txBody>
      </p:sp>
      <p:sp>
        <p:nvSpPr>
          <p:cNvPr id="25" name="Oval 24"/>
          <p:cNvSpPr/>
          <p:nvPr/>
        </p:nvSpPr>
        <p:spPr>
          <a:xfrm>
            <a:off x="10716933" y="3904653"/>
            <a:ext cx="1060372" cy="1060372"/>
          </a:xfrm>
          <a:prstGeom prst="ellipse">
            <a:avLst/>
          </a:prstGeom>
          <a:solidFill>
            <a:srgbClr val="FAEFE7"/>
          </a:solidFill>
          <a:ln w="12700">
            <a:solidFill>
              <a:srgbClr val="E2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90085" y="4105656"/>
            <a:ext cx="9140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>
                <a:solidFill>
                  <a:srgbClr val="101010"/>
                </a:solidFill>
              </a:rPr>
              <a:t>Private Jets
&amp; Yachts</a:t>
            </a:r>
          </a:p>
          <a:p>
            <a:pPr algn="ctr"/>
            <a:r>
              <a:rPr sz="1050" b="1">
                <a:solidFill>
                  <a:srgbClr val="BE7430"/>
                </a:solidFill>
              </a:rPr>
              <a:t>$34B</a:t>
            </a:r>
          </a:p>
        </p:txBody>
      </p:sp>
      <p:sp>
        <p:nvSpPr>
          <p:cNvPr id="27" name="Oval 26"/>
          <p:cNvSpPr/>
          <p:nvPr/>
        </p:nvSpPr>
        <p:spPr>
          <a:xfrm>
            <a:off x="10380011" y="6310931"/>
            <a:ext cx="819817" cy="819817"/>
          </a:xfrm>
          <a:prstGeom prst="ellipse">
            <a:avLst/>
          </a:prstGeom>
          <a:solidFill>
            <a:srgbClr val="FAEFE7"/>
          </a:solidFill>
          <a:ln w="12700">
            <a:solidFill>
              <a:srgbClr val="E2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53163" y="6391655"/>
            <a:ext cx="67351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>
                <a:solidFill>
                  <a:srgbClr val="101010"/>
                </a:solidFill>
              </a:rPr>
              <a:t>Luxury Cruises</a:t>
            </a:r>
          </a:p>
          <a:p>
            <a:pPr algn="ctr"/>
            <a:r>
              <a:rPr sz="1050" b="1">
                <a:solidFill>
                  <a:srgbClr val="BE7430"/>
                </a:solidFill>
              </a:rPr>
              <a:t>$5.4B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672084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>
                <a:solidFill>
                  <a:srgbClr val="787878"/>
                </a:solidFill>
              </a:rPr>
              <a:t>Use this if the purpose of the slide is less “market sizing table” and more “luxury is a broader acquisition universe.”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8229600"/>
          </a:xfrm>
          <a:prstGeom prst="rect">
            <a:avLst/>
          </a:prstGeom>
          <a:solidFill>
            <a:srgbClr val="F8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73152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01010"/>
                </a:solidFill>
                <a:latin typeface="Georgia"/>
              </a:rPr>
              <a:t>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18872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01010"/>
                </a:solidFill>
                <a:latin typeface="Georgia"/>
              </a:rPr>
              <a:t>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7548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01010"/>
                </a:solidFill>
                <a:latin typeface="Aptos"/>
              </a:rPr>
              <a:t>From Luxury Market to Watches &amp; Fine Jewelry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0432" y="987552"/>
            <a:ext cx="12664440" cy="10972"/>
          </a:xfrm>
          <a:prstGeom prst="rect">
            <a:avLst/>
          </a:prstGeom>
          <a:solidFill>
            <a:srgbClr val="CDA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078992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101010"/>
                </a:solidFill>
                <a:latin typeface="Aptos"/>
              </a:rPr>
              <a:t>Option 3: start with the full luxury market, then isolate personal luxury goods as the path into jewelry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30200" y="164592"/>
            <a:ext cx="1280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>
                <a:solidFill>
                  <a:srgbClr val="FF0000"/>
                </a:solidFill>
              </a:rPr>
              <a:t>MOCKUP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78455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">
                <a:solidFill>
                  <a:srgbClr val="787878"/>
                </a:solidFill>
              </a:rPr>
              <a:t>Source: Bain &amp; Company / Altagamma 2024; EUR figures translated to USD at 2024 average EUR/USD of 1.0824. Global USD values, not U.S.-only market size.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61720" y="7726679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87878"/>
                </a:solidFill>
              </a:rPr>
              <a:t>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" y="1874519"/>
            <a:ext cx="2743200" cy="1143000"/>
          </a:xfrm>
          <a:prstGeom prst="roundRect">
            <a:avLst/>
          </a:prstGeom>
          <a:solidFill>
            <a:srgbClr val="FDF7F2"/>
          </a:solidFill>
          <a:ln>
            <a:solidFill>
              <a:srgbClr val="CDA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039112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101010"/>
                </a:solidFill>
              </a:rPr>
              <a:t>Total Luxury Market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395728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BE7430"/>
                </a:solidFill>
              </a:rPr>
              <a:t>$1,600B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724912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787878"/>
                </a:solidFill>
              </a:rPr>
              <a:t>2024E global spending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1920240"/>
            <a:ext cx="98755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057400"/>
            <a:ext cx="8961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101010"/>
                </a:solidFill>
              </a:rPr>
              <a:t>Luxury Cars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542032"/>
            <a:ext cx="89611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BE7430"/>
                </a:solidFill>
              </a:rPr>
              <a:t>$627B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0" y="1920240"/>
            <a:ext cx="987552" cy="1051560"/>
          </a:xfrm>
          <a:prstGeom prst="roundRect">
            <a:avLst/>
          </a:prstGeom>
          <a:solidFill>
            <a:srgbClr val="FDF7F2"/>
          </a:solidFill>
          <a:ln w="27940">
            <a:solidFill>
              <a:srgbClr val="F4B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06440" y="2057400"/>
            <a:ext cx="8961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101010"/>
                </a:solidFill>
              </a:rPr>
              <a:t>Personal Luxury Goods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2542032"/>
            <a:ext cx="89611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BE7430"/>
                </a:solidFill>
              </a:rPr>
              <a:t>$393B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0" y="1920240"/>
            <a:ext cx="98755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59" y="2057400"/>
            <a:ext cx="8961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101010"/>
                </a:solidFill>
              </a:rPr>
              <a:t>Luxury Hospitality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59" y="2542032"/>
            <a:ext cx="89611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BE7430"/>
                </a:solidFill>
              </a:rPr>
              <a:t>$262B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1920240"/>
            <a:ext cx="98755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80" y="2057400"/>
            <a:ext cx="8961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101010"/>
                </a:solidFill>
              </a:rPr>
              <a:t>Fine Wines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2542032"/>
            <a:ext cx="89611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BE7430"/>
                </a:solidFill>
              </a:rPr>
              <a:t>$107B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26880" y="1920240"/>
            <a:ext cx="98755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72600" y="2057400"/>
            <a:ext cx="8961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101010"/>
                </a:solidFill>
              </a:rPr>
              <a:t>Fine Dining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2542032"/>
            <a:ext cx="89611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BE7430"/>
                </a:solidFill>
              </a:rPr>
              <a:t>$78B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15600" y="1920240"/>
            <a:ext cx="98755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61320" y="2057400"/>
            <a:ext cx="8961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101010"/>
                </a:solidFill>
              </a:rPr>
              <a:t>Furniture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61320" y="2542032"/>
            <a:ext cx="89611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BE7430"/>
                </a:solidFill>
              </a:rPr>
              <a:t>$55B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704320" y="1920240"/>
            <a:ext cx="98755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750040" y="2057400"/>
            <a:ext cx="8961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101010"/>
                </a:solidFill>
              </a:rPr>
              <a:t>Fine Art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50040" y="2542032"/>
            <a:ext cx="89611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BE7430"/>
                </a:solidFill>
              </a:rPr>
              <a:t>$39B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893040" y="1920240"/>
            <a:ext cx="98755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938760" y="2057400"/>
            <a:ext cx="8961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101010"/>
                </a:solidFill>
              </a:rPr>
              <a:t>Private Jets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938760" y="2542032"/>
            <a:ext cx="89611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BE7430"/>
                </a:solidFill>
              </a:rPr>
              <a:t>$34B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4081760" y="1920240"/>
            <a:ext cx="98755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127480" y="2057400"/>
            <a:ext cx="8961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101010"/>
                </a:solidFill>
              </a:rPr>
              <a:t>Luxury Cruises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127480" y="2542032"/>
            <a:ext cx="89611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BE7430"/>
                </a:solidFill>
              </a:rPr>
              <a:t>$5.4B</a:t>
            </a:r>
          </a:p>
        </p:txBody>
      </p:sp>
      <p:sp>
        <p:nvSpPr>
          <p:cNvPr id="42" name="Down Arrow 41"/>
          <p:cNvSpPr/>
          <p:nvPr/>
        </p:nvSpPr>
        <p:spPr>
          <a:xfrm>
            <a:off x="5559552" y="3337560"/>
            <a:ext cx="640080" cy="658368"/>
          </a:xfrm>
          <a:prstGeom prst="downArrow">
            <a:avLst/>
          </a:prstGeom>
          <a:solidFill>
            <a:srgbClr val="F4B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343400" y="4160520"/>
            <a:ext cx="3703320" cy="1463040"/>
          </a:xfrm>
          <a:prstGeom prst="roundRect">
            <a:avLst/>
          </a:prstGeom>
          <a:solidFill>
            <a:srgbClr val="FDF7F2"/>
          </a:solidFill>
          <a:ln w="25400">
            <a:solidFill>
              <a:srgbClr val="F4B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0" y="4407408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101010"/>
                </a:solidFill>
              </a:rPr>
              <a:t>Personal Luxury Goods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818888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BE7430"/>
                </a:solidFill>
              </a:rPr>
              <a:t>$393B | 25% of global luxury | -2% YoY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521208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787878"/>
                </a:solidFill>
              </a:rPr>
              <a:t>gateway into hard luxury, watches, fine jewelry, beauty, fashion, and client services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61120" y="4160520"/>
            <a:ext cx="3337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CDA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35440" y="4407408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787878"/>
                </a:solidFill>
              </a:rPr>
              <a:t>Next slide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4736592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01010"/>
                </a:solidFill>
              </a:rPr>
              <a:t>Watches &amp; Fine Jewelry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516636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</a:rPr>
              <a:t>why this subcategory deserves deeper diligence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8183879" y="4617720"/>
            <a:ext cx="658368" cy="384048"/>
          </a:xfrm>
          <a:prstGeom prst="rightArrow">
            <a:avLst/>
          </a:prstGeom>
          <a:solidFill>
            <a:srgbClr val="F4B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920240" y="6537960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>
                <a:solidFill>
                  <a:srgbClr val="787878"/>
                </a:solidFill>
              </a:rPr>
              <a:t>Best narrative read: this creates the cleanest bridge from broad luxury education into the specific jewelry deal thesis.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