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51760" y="39319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343B42"/>
                </a:solidFill>
                <a:latin typeface="Georgia"/>
              </a:rPr>
              <a:t>THE PRIVATE
FAMILY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4096" y="896112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 i="0">
                <a:solidFill>
                  <a:srgbClr val="B9907F"/>
                </a:solidFill>
                <a:latin typeface="Avenir Next"/>
              </a:rPr>
              <a:t>THE MODERN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91072" y="393192"/>
            <a:ext cx="804672" cy="228600"/>
          </a:xfrm>
          <a:prstGeom prst="rect">
            <a:avLst/>
          </a:prstGeom>
          <a:noFill/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36792" y="416052"/>
            <a:ext cx="71323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9E7D6F"/>
                </a:solidFill>
                <a:latin typeface="Avenir Next"/>
              </a:rPr>
              <a:t>OPEN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B9907F"/>
                </a:solidFill>
                <a:latin typeface="Avenir Next"/>
              </a:rPr>
              <a:t>RISK &amp; PROTECTION / IDENTITY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92224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0" i="0">
                <a:solidFill>
                  <a:srgbClr val="333A40"/>
                </a:solidFill>
                <a:latin typeface="Georgia"/>
              </a:rPr>
              <a:t>Identity Documents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6263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i="0">
                <a:solidFill>
                  <a:srgbClr val="565D62"/>
                </a:solidFill>
                <a:latin typeface="Avenir Next"/>
              </a:rPr>
              <a:t>A reference list for gathering the identity records that establish who each person is and how the household is legally connected.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80360"/>
            <a:ext cx="6583680" cy="0"/>
          </a:xfrm>
          <a:prstGeom prst="line">
            <a:avLst/>
          </a:prstGeom>
          <a:ln w="12700">
            <a:solidFill>
              <a:srgbClr val="3A4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" y="3063240"/>
            <a:ext cx="4983480" cy="310896"/>
          </a:xfrm>
          <a:prstGeom prst="rect">
            <a:avLst/>
          </a:prstGeom>
          <a:solidFill>
            <a:srgbClr val="FBF8F2"/>
          </a:solidFill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713232" y="3136392"/>
            <a:ext cx="131673" cy="109728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" y="3185769"/>
            <a:ext cx="137160" cy="93268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136392"/>
            <a:ext cx="44805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5C6266"/>
                </a:solidFill>
                <a:latin typeface="Avenir Next"/>
              </a:rPr>
              <a:t>Secure storage. Italic timing shows review rhythm: monthly, quarterly, annually, or multiyear.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A98273"/>
                </a:solidFill>
                <a:latin typeface="Avenir Next"/>
              </a:rPr>
              <a:t>DOCUMENTS YOU RECEIVE OR CREATE ONCE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13632"/>
            <a:ext cx="6583680" cy="1572768"/>
          </a:xfrm>
          <a:prstGeom prst="rect">
            <a:avLst/>
          </a:prstGeom>
          <a:solidFill>
            <a:srgbClr val="F8F4ED"/>
          </a:solidFill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059936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Birth certificates</a:t>
            </a:r>
          </a:p>
        </p:txBody>
      </p:sp>
      <p:sp>
        <p:nvSpPr>
          <p:cNvPr id="18" name="Arc 17"/>
          <p:cNvSpPr/>
          <p:nvPr/>
        </p:nvSpPr>
        <p:spPr>
          <a:xfrm>
            <a:off x="2926080" y="4082796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1508" y="4123944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4059936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annually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59" y="4087368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1" y="4059936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Social Security cards</a:t>
            </a:r>
          </a:p>
        </p:txBody>
      </p:sp>
      <p:sp>
        <p:nvSpPr>
          <p:cNvPr id="23" name="Arc 22"/>
          <p:cNvSpPr/>
          <p:nvPr/>
        </p:nvSpPr>
        <p:spPr>
          <a:xfrm>
            <a:off x="6172200" y="4082796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7628" y="4123944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059936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annually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16552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389120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Marriage certificates</a:t>
            </a:r>
          </a:p>
        </p:txBody>
      </p:sp>
      <p:sp>
        <p:nvSpPr>
          <p:cNvPr id="28" name="Arc 27"/>
          <p:cNvSpPr/>
          <p:nvPr/>
        </p:nvSpPr>
        <p:spPr>
          <a:xfrm>
            <a:off x="2926080" y="4411980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21508" y="4453128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4389120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life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59" y="4416552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7951" y="4389120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Divorce decrees / custody</a:t>
            </a:r>
          </a:p>
        </p:txBody>
      </p:sp>
      <p:sp>
        <p:nvSpPr>
          <p:cNvPr id="33" name="Arc 32"/>
          <p:cNvSpPr/>
          <p:nvPr/>
        </p:nvSpPr>
        <p:spPr>
          <a:xfrm>
            <a:off x="6172200" y="4411980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67628" y="4453128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389120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life event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745736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718304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Adoption records</a:t>
            </a:r>
          </a:p>
        </p:txBody>
      </p:sp>
      <p:sp>
        <p:nvSpPr>
          <p:cNvPr id="38" name="Arc 37"/>
          <p:cNvSpPr/>
          <p:nvPr/>
        </p:nvSpPr>
        <p:spPr>
          <a:xfrm>
            <a:off x="2926080" y="4741164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921508" y="4782312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2" y="4718304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life event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59" y="4745736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7951" y="4718304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Citizenship certificates</a:t>
            </a:r>
          </a:p>
        </p:txBody>
      </p:sp>
      <p:sp>
        <p:nvSpPr>
          <p:cNvPr id="43" name="Arc 42"/>
          <p:cNvSpPr/>
          <p:nvPr/>
        </p:nvSpPr>
        <p:spPr>
          <a:xfrm>
            <a:off x="6172200" y="4741164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67628" y="4782312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4718304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074920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" y="5047488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Naturalization records</a:t>
            </a:r>
          </a:p>
        </p:txBody>
      </p:sp>
      <p:sp>
        <p:nvSpPr>
          <p:cNvPr id="48" name="Arc 47"/>
          <p:cNvSpPr/>
          <p:nvPr/>
        </p:nvSpPr>
        <p:spPr>
          <a:xfrm>
            <a:off x="2926080" y="5070348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921508" y="5111496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36392" y="5047488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59" y="5074920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1" y="5047488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Military discharge papers</a:t>
            </a:r>
          </a:p>
        </p:txBody>
      </p:sp>
      <p:sp>
        <p:nvSpPr>
          <p:cNvPr id="53" name="Arc 52"/>
          <p:cNvSpPr/>
          <p:nvPr/>
        </p:nvSpPr>
        <p:spPr>
          <a:xfrm>
            <a:off x="6172200" y="5070348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67628" y="5111496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5047488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annually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8338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0">
                <a:solidFill>
                  <a:srgbClr val="A98273"/>
                </a:solidFill>
                <a:latin typeface="Avenir Next"/>
              </a:rPr>
              <a:t>DOCUMENTS YOU NEED TO RENEW OR KEEP CURRENT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6108192"/>
            <a:ext cx="6583680" cy="1572768"/>
          </a:xfrm>
          <a:prstGeom prst="rect">
            <a:avLst/>
          </a:prstGeom>
          <a:solidFill>
            <a:srgbClr val="F8F4ED"/>
          </a:solidFill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6281928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" y="6254496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Passports</a:t>
            </a:r>
          </a:p>
        </p:txBody>
      </p:sp>
      <p:sp>
        <p:nvSpPr>
          <p:cNvPr id="60" name="Arc 59"/>
          <p:cNvSpPr/>
          <p:nvPr/>
        </p:nvSpPr>
        <p:spPr>
          <a:xfrm>
            <a:off x="2926080" y="6277356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921508" y="6318504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6392" y="6254496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23359" y="6281928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7951" y="6254496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Driver licenses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82512" y="6254496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6611112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832" y="6583680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State IDs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36392" y="6583680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23359" y="6611112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87951" y="6583680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Immigration documents</a:t>
            </a:r>
          </a:p>
        </p:txBody>
      </p:sp>
      <p:sp>
        <p:nvSpPr>
          <p:cNvPr id="71" name="Arc 70"/>
          <p:cNvSpPr/>
          <p:nvPr/>
        </p:nvSpPr>
        <p:spPr>
          <a:xfrm>
            <a:off x="6172200" y="6606540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67628" y="6647688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6583680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" y="6940296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" y="6912864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Work authorization documents</a:t>
            </a:r>
          </a:p>
        </p:txBody>
      </p:sp>
      <p:sp>
        <p:nvSpPr>
          <p:cNvPr id="76" name="Arc 75"/>
          <p:cNvSpPr/>
          <p:nvPr/>
        </p:nvSpPr>
        <p:spPr>
          <a:xfrm>
            <a:off x="2926080" y="6935724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921508" y="6976872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36392" y="6912864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multiyear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59" y="6940296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87951" y="6912864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Health insurance cards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82512" y="6912864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annually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7269480"/>
            <a:ext cx="91440" cy="91440"/>
          </a:xfrm>
          <a:prstGeom prst="rect">
            <a:avLst/>
          </a:prstGeom>
          <a:solidFill>
            <a:srgbClr val="FBF8F2"/>
          </a:solidFill>
          <a:ln w="12700">
            <a:solidFill>
              <a:srgbClr val="B99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1832" y="7242048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 b="0" i="0">
                <a:solidFill>
                  <a:srgbClr val="363C41"/>
                </a:solidFill>
                <a:latin typeface="Avenir Next"/>
              </a:rPr>
              <a:t>Current insurance policies</a:t>
            </a:r>
          </a:p>
        </p:txBody>
      </p:sp>
      <p:sp>
        <p:nvSpPr>
          <p:cNvPr id="84" name="Arc 83"/>
          <p:cNvSpPr/>
          <p:nvPr/>
        </p:nvSpPr>
        <p:spPr>
          <a:xfrm>
            <a:off x="2926080" y="7264908"/>
            <a:ext cx="109728" cy="91440"/>
          </a:xfrm>
          <a:prstGeom prst="arc">
            <a:avLst/>
          </a:prstGeom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921508" y="7306056"/>
            <a:ext cx="114300" cy="77724"/>
          </a:xfrm>
          <a:prstGeom prst="roundRect">
            <a:avLst/>
          </a:prstGeom>
          <a:noFill/>
          <a:ln w="12700">
            <a:solidFill>
              <a:srgbClr val="5E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36392" y="7242048"/>
            <a:ext cx="749808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0" i="1">
                <a:solidFill>
                  <a:srgbClr val="9E7D6F"/>
                </a:solidFill>
                <a:latin typeface="Avenir Next"/>
              </a:rPr>
              <a:t>annually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4360" y="8028432"/>
            <a:ext cx="3182112" cy="676656"/>
          </a:xfrm>
          <a:prstGeom prst="rect">
            <a:avLst/>
          </a:prstGeom>
          <a:solidFill>
            <a:srgbClr val="F8F4ED"/>
          </a:solidFill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8138160"/>
            <a:ext cx="1188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B9907F"/>
                </a:solidFill>
                <a:latin typeface="Avenir Next"/>
              </a:rPr>
              <a:t>HOUSEHOLD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49808" y="8412480"/>
            <a:ext cx="2843784" cy="0"/>
          </a:xfrm>
          <a:prstGeom prst="line">
            <a:avLst/>
          </a:prstGeom>
          <a:ln w="8890">
            <a:solidFill>
              <a:srgbClr val="C1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49808" y="8595360"/>
            <a:ext cx="2843784" cy="0"/>
          </a:xfrm>
          <a:prstGeom prst="line">
            <a:avLst/>
          </a:prstGeom>
          <a:ln w="8890">
            <a:solidFill>
              <a:srgbClr val="C1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3995928" y="8028432"/>
            <a:ext cx="3182112" cy="676656"/>
          </a:xfrm>
          <a:prstGeom prst="rect">
            <a:avLst/>
          </a:prstGeom>
          <a:solidFill>
            <a:srgbClr val="F8F4ED"/>
          </a:solidFill>
          <a:ln w="12700">
            <a:solidFill>
              <a:srgbClr val="D8C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51376" y="8138160"/>
            <a:ext cx="13716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B9907F"/>
                </a:solidFill>
                <a:latin typeface="Avenir Next"/>
              </a:rPr>
              <a:t>LAST REVIEWED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151376" y="8412480"/>
            <a:ext cx="2843784" cy="0"/>
          </a:xfrm>
          <a:prstGeom prst="line">
            <a:avLst/>
          </a:prstGeom>
          <a:ln w="8890">
            <a:solidFill>
              <a:srgbClr val="C1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151376" y="8595360"/>
            <a:ext cx="2843784" cy="0"/>
          </a:xfrm>
          <a:prstGeom prst="line">
            <a:avLst/>
          </a:prstGeom>
          <a:ln w="8890">
            <a:solidFill>
              <a:srgbClr val="C1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94360" y="8942832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6E7072"/>
                </a:solidFill>
                <a:latin typeface="Avenir Next"/>
              </a:rPr>
              <a:t>Review Rhythm Key: monthly / quarterly / annually / multiyear / life event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94360" y="9144000"/>
            <a:ext cx="6583680" cy="0"/>
          </a:xfrm>
          <a:prstGeom prst="line">
            <a:avLst/>
          </a:prstGeom>
          <a:ln w="8890">
            <a:solidFill>
              <a:srgbClr val="828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94360" y="9326880"/>
            <a:ext cx="25603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7B7D7F"/>
                </a:solidFill>
                <a:latin typeface="Avenir Next"/>
              </a:rPr>
              <a:t>The Private Family Office / Risk &amp; Protection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34840" y="9326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 i="0">
                <a:solidFill>
                  <a:srgbClr val="7B7D7F"/>
                </a:solidFill>
                <a:latin typeface="Avenir Next"/>
              </a:rPr>
              <a:t>Reference worksheet. Not legal, financial, insurance, tax, or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