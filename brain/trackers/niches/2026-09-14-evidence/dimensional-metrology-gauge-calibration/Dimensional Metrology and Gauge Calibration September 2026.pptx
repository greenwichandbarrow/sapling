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11"/>
    <p:sldId id="258" r:id="rId12"/>
    <p:sldId id="259" r:id="rId13"/>
    <p:sldId id="260" r:id="rId14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rain/traces/agents/2026-09-14-niche-intelligence.md" TargetMode="External"/><Relationship Id="rId3" Type="http://schemas.openxmlformats.org/officeDocument/2006/relationships/hyperlink" Target="https://docs.google.com/spreadsheets/d/1vHx4E1tRTR6V3k7NQeHdCrUjDITJVtZA5YPSIFeSins/edit" TargetMode="External"/><Relationship Id="rId4" Type="http://schemas.openxmlformats.org/officeDocument/2006/relationships/hyperlink" Target="https://www.nemetrology.com/about.cfm" TargetMode="External"/><Relationship Id="rId5" Type="http://schemas.openxmlformats.org/officeDocument/2006/relationships/hyperlink" Target="https://americalinc.com/" TargetMode="External"/><Relationship Id="rId6" Type="http://schemas.openxmlformats.org/officeDocument/2006/relationships/hyperlink" Target="https://www.unitedstandardslab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itedstandardslab.com/about-us" TargetMode="External"/><Relationship Id="rId3" Type="http://schemas.openxmlformats.org/officeDocument/2006/relationships/hyperlink" Target="https://mtausa.com/news/medical-technology-associates-acquires-cal-tec-labs-inc" TargetMode="External"/><Relationship Id="rId4" Type="http://schemas.openxmlformats.org/officeDocument/2006/relationships/hyperlink" Target="https://www.sec.gov/Archives/edgar/data/99302/000143774925018483/trns20250331_10k.htm" TargetMode="External"/><Relationship Id="rId5" Type="http://schemas.openxmlformats.org/officeDocument/2006/relationships/hyperlink" Target="https://www.sec.gov/Archives/edgar/data/99302/000114036126029373/edge20075511x3_ars.pdf" TargetMode="External"/><Relationship Id="rId6" Type="http://schemas.openxmlformats.org/officeDocument/2006/relationships/hyperlink" Target="https://www.nist.gov/calibrations/recommended-calibration-interva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2la.org/accreditation/calibration/" TargetMode="External"/><Relationship Id="rId3" Type="http://schemas.openxmlformats.org/officeDocument/2006/relationships/hyperlink" Target="https://customer.a2la.org/index.cfm?event=directory.index" TargetMode="External"/><Relationship Id="rId4" Type="http://schemas.openxmlformats.org/officeDocument/2006/relationships/hyperlink" Target="https://www.trescal.com/news/?category=press-release" TargetMode="External"/><Relationship Id="rId5" Type="http://schemas.openxmlformats.org/officeDocument/2006/relationships/hyperlink" Target="https://mail.google.com/mail/u/0/#all/1a08729e03bcfb82" TargetMode="External"/><Relationship Id="rId6" Type="http://schemas.openxmlformats.org/officeDocument/2006/relationships/hyperlink" Target="https://micronpa.com/gage-calibration-services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al-tec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274320" y="603504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274320" y="8796528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274320" y="667512"/>
          <a:ext cx="6309360" cy="7991856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154680"/>
                <a:gridCol w="3154680"/>
              </a:tblGrid>
              <a:tr h="365760">
                <a:tc gridSpan="2"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>Dimensional Metrology &amp; Gauge Calibration | Sep 2026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73152" rIns="73152" tIns="22860" bIns="18288"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t"/>
                </a:tc>
              </a:tr>
              <a:tr h="402336">
                <a:tc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>Assessment: 1.73 / 3.0 (58%)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/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/>
                      </a:r>
                      <a:r>
                        <a:rPr b="1" lang="en-US" sz="10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/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/>
                      </a:r>
                      <a:r>
                        <a:rPr b="1" lang="en-US" sz="10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/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>Pending analyst review | Screen incomplete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73152" rIns="73152" tIns="22860" bIns="18288"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t"/>
                </a:tc>
              </a:tr>
              <a:tr h="685800">
                <a:tc gridSpan="2">
                  <a:txBody>
                    <a:bodyPr wrap="square" lIns="73152" rIns="73152" tIns="22860" bIns="18288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</a:rPr>
                        <a:t>Independent labs calibrate and repair dimensional gauges for precision manufacturers. Five providers reviewed: three family-owned claims and two acquired comps. Exact U.S. service TAM and scaled independent target pool remain unknown.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73152" rIns="73152" tIns="22860" bIns="18288"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t"/>
                </a:tc>
              </a:tr>
              <a:tr h="246888">
                <a:tc gridSpan="2"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73152" rIns="73152" tIns="22860" bIns="18288"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t"/>
                </a:tc>
              </a:tr>
              <a:tr h="685800">
                <a:tc gridSpan="2">
                  <a:txBody>
                    <a:bodyPr wrap="square" lIns="73152" rIns="73152" tIns="22860" bIns="18288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>Production quality depends on trusted measurements. Specialist labs can retain repeat equipment-service relationships through dependable calibration, repair and records, without making instruments or owning customer factories.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73152" rIns="73152" tIns="22860" bIns="18288"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t"/>
                </a:tc>
              </a:tr>
              <a:tr h="246888">
                <a:tc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4128">
                <a:tc>
                  <a:txBody>
                    <a:bodyPr wrap="square" lIns="73152" rIns="73152" tIns="22860" bIns="18288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Trust, Compliance &amp; Verification
Precision and audit requirements create scheduling, certificate and traceability work. Transcat FY2025 service growth: 7% (broader-company proxy). Exact niche growth above GDP is unverified.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73152" rIns="73152" tIns="22860" bIns="18288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INITIAL SCREEN INCOMPLETE
Typical EBITDA and $500M+ niche TAM unverified. Strong consolidator activity. Technical-manager retention, quality liability and reference-equipment investment matter.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3000">
                <a:tc>
                  <a:txBody>
                    <a:bodyPr wrap="square" lIns="73152" rIns="73152" tIns="22860" bIns="18288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Per-instrument/batch fees, repair and scheduled service. Repeat demand supported; contracted share and retention unknown. Transcat FY2025 service gross margin: 33.4%, NOT niche EBITDA. No universal NIST annual calibration rule; intervals depend on use and requirements.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73152" rIns="73152" tIns="22860" bIns="18288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</a:rPr>
                        <a:t>Potential independents: Northeast Metrology (MA), Americal (MA), United Standards Lab (MN); ownership claims and scale require diligence. Cal-Tec and MicronPA are MTA-owned comps, excluded from supply. Transcat, Trescal and MTA demonstrate consolidation.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80">
                <a:tc>
                  <a:txBody>
                    <a:bodyPr wrap="square" lIns="73152" rIns="73152" tIns="22860" bIns="18288"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</a:rPr>
                        <a:t>Precision manufacturers and quality departments; labs with dimensional measuring assets. Service-heavy scope excludes electrical power testing and product-testing labs.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73152" rIns="73152" tIns="22860" bIns="18288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</a:rPr>
                        <a:t>Technical competence, accreditation scope, traceability and reliable turnaround. Switching is possible; no measured retention or pricing moat established.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73152" rIns="73152" tIns="22860" bIns="18288"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t"/>
                </a:tc>
              </a:tr>
              <a:tr h="713232">
                <a:tc>
                  <a:txBody>
                    <a:bodyPr wrap="square" lIns="73152" rIns="73152" tIns="22860" bIns="18288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</a:rPr>
                        <a:t>Retain quality leadership; verify accreditation scope and equipment standards; schedule repeat work and measure turnaround. Separate service earnings from resale.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73152" rIns="73152" tIns="22860" bIns="18288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</a:rPr>
                        <a:t>J-curve cushion (inference): repeat measurement needs and trusted records. G&amp;B fit: Medium/Weak; no warm owner route or committed operator. No outreach yet.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 wrap="square" lIns="73152" rIns="73152" tIns="22860" bIns="18288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73152" rIns="73152" tIns="22860" bIns="18288"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t"/>
                </a:tc>
              </a:tr>
              <a:tr h="603504">
                <a:tc gridSpan="2">
                  <a:txBody>
                    <a:bodyPr wrap="square" lIns="73152" rIns="73152" tIns="22860" bIns="18288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Strategic and sponsor-backed laboratory buyers are visible; no exit multiple assumed. Next proof: typical EBITDA, exact niche TAM/growth, ownership/scale and a credible technical operator. Sources follow.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 lIns="73152" rIns="73152" tIns="22860" bIns="18288"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t"/>
                </a:tc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7432"/>
            <a:ext cx="521207" cy="52120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983480" y="8851392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9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96112" y="201168"/>
            <a:ext cx="5577840" cy="246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900">
                <a:solidFill>
                  <a:srgbClr val="282828"/>
                </a:solidFill>
                <a:latin typeface="Arial"/>
              </a:rPr>
              <a:t>G&amp;B INDUSTRY RESEARCH | SERVICE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D3C"/>
                </a:solidFill>
                <a:latin typeface="Arial"/>
              </a:rPr>
              <a:t>Sources | Dimensional Metrology</a:t>
            </a:r>
          </a:p>
          <a:p>
            <a:r>
              <a:rPr sz="1800" b="1">
                <a:solidFill>
                  <a:srgbClr val="192D3C"/>
                </a:solidFill>
                <a:latin typeface="Arial"/>
              </a:rPr>
              <a:t>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2"/>
              </a:rPr>
              <a:t>I1 — Sequential synthesis and expansion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Gathering posts and sequential synthesis context for the calibration-service hypothesis.</a:t>
            </a:r>
          </a:p>
          <a:p>
            <a:r>
              <a:rPr sz="1000">
                <a:solidFill>
                  <a:srgbClr val="0B5CAB"/>
                </a:solidFill>
                <a:hlinkClick r:id="rId2"/>
              </a:rPr>
              <a:t>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60604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3"/>
              </a:rPr>
              <a:t>I2 — Live Industry Research Tracker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Fresh four-tab duplicate/lifecycle check; neither proposed niche appears; killed generic BPO remains excluded.</a:t>
            </a:r>
          </a:p>
          <a:p>
            <a:r>
              <a:rPr sz="1000">
                <a:solidFill>
                  <a:srgbClr val="0B5CAB"/>
                </a:solidFill>
                <a:hlinkClick r:id="rId3"/>
              </a:rP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4"/>
              </a:rPr>
              <a:t>C1 — Northeast Metrology owner and operating history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Owner Mark Kuehl, took over from father in 2008; hundreds of yearly customers, thousands of certificates; manufacturing measurement repair/calibration; East Longmeadow MA.</a:t>
            </a:r>
          </a:p>
          <a:p>
            <a:r>
              <a:rPr sz="1000">
                <a:solidFill>
                  <a:srgbClr val="0B5CAB"/>
                </a:solidFill>
                <a:hlinkClick r:id="rId4"/>
              </a:rPr>
              <a:t>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4068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5"/>
              </a:rPr>
              <a:t>C2 — Americal calibration services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Self-described family-owned since 1997; mechanical/dimensional scope, service lab and on-site work, records portal; Danvers MA.</a:t>
            </a:r>
          </a:p>
          <a:p>
            <a:r>
              <a:rPr sz="1000">
                <a:solidFill>
                  <a:srgbClr val="0B5CAB"/>
                </a:solidFill>
                <a:hlinkClick r:id="rId5"/>
              </a:rPr>
              <a:t>Open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6"/>
              </a:rPr>
              <a:t>C3 — United Standards Lab services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Dimensional/mechanical accredited calibration; service-only model; Bloomington MN.</a:t>
            </a:r>
          </a:p>
          <a:p>
            <a:r>
              <a:rPr sz="1000">
                <a:solidFill>
                  <a:srgbClr val="0B5CAB"/>
                </a:solidFill>
                <a:hlinkClick r:id="rId6"/>
              </a:rPr>
              <a:t>Open 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D3C"/>
                </a:solidFill>
                <a:latin typeface="Arial"/>
              </a:rPr>
              <a:t>Sources | Dimensional Metrology</a:t>
            </a:r>
          </a:p>
          <a:p>
            <a:r>
              <a:rPr sz="1800" b="1">
                <a:solidFill>
                  <a:srgbClr val="192D3C"/>
                </a:solidFill>
                <a:latin typeface="Arial"/>
              </a:rPr>
              <a:t>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2"/>
              </a:rPr>
              <a:t>C4 — United Standards Lab ownership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Family-owned operation established 1965; A 2LA accreditation claim.</a:t>
            </a:r>
          </a:p>
          <a:p>
            <a:r>
              <a:rPr sz="1000">
                <a:solidFill>
                  <a:srgbClr val="0B5CAB"/>
                </a:solidFill>
                <a:hlinkClick r:id="rId2"/>
              </a:rPr>
              <a:t>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60604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3"/>
              </a:rPr>
              <a:t>C5 — MTA acquires Cal-Tec; MicronPA already acquired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Acquirer primary announcement identifies Cal-Tec and earlier MicronPA acquisitions. These are comps, not independent targets despite stale provider ownership copy.</a:t>
            </a:r>
          </a:p>
          <a:p>
            <a:r>
              <a:rPr sz="1000">
                <a:solidFill>
                  <a:srgbClr val="0B5CAB"/>
                </a:solidFill>
                <a:hlinkClick r:id="rId3"/>
              </a:rP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4"/>
              </a:rPr>
              <a:t>C6 — Transcat FY2025 SEC annual report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Broad service segment FY 2025 revenue $181.428M, 7.0% growth, 33.4% gross margin. NOT standalone dimensional industry EBITDA or market CAGR.</a:t>
            </a:r>
          </a:p>
          <a:p>
            <a:r>
              <a:rPr sz="1000">
                <a:solidFill>
                  <a:srgbClr val="0B5CAB"/>
                </a:solidFill>
                <a:hlinkClick r:id="rId4"/>
              </a:rPr>
              <a:t>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4068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5"/>
              </a:rPr>
              <a:t>C7 — Transcat FY2026 annual report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FY 2026 consolidated revenue$331.9M and adjusted EBITDA$48.7M; service revenue+20% includes acquisition effects; recurrent calibration demand. Company comp only, not industry margin.</a:t>
            </a:r>
          </a:p>
          <a:p>
            <a:r>
              <a:rPr sz="1000">
                <a:solidFill>
                  <a:srgbClr val="0B5CAB"/>
                </a:solidFill>
                <a:hlinkClick r:id="rId5"/>
              </a:rPr>
              <a:t>Open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6"/>
              </a:rPr>
              <a:t>C8 — NIST recommended calibration interval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No universal NIST recalibration interval; cadence depends on instrument stability, use, accuracy, contracts and applicable requirements.</a:t>
            </a:r>
          </a:p>
          <a:p>
            <a:r>
              <a:rPr sz="1000">
                <a:solidFill>
                  <a:srgbClr val="0B5CAB"/>
                </a:solidFill>
                <a:hlinkClick r:id="rId6"/>
              </a:rPr>
              <a:t>Open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D3C"/>
                </a:solidFill>
                <a:latin typeface="Arial"/>
              </a:rPr>
              <a:t>Sources | Dimensional Metrology</a:t>
            </a:r>
          </a:p>
          <a:p>
            <a:r>
              <a:rPr sz="1800" b="1">
                <a:solidFill>
                  <a:srgbClr val="192D3C"/>
                </a:solidFill>
                <a:latin typeface="Arial"/>
              </a:rPr>
              <a:t>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2"/>
              </a:rPr>
              <a:t>C9 — A2LA calibration program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Accreditation assesses technical calibration competence; supports manufacturer/lab measurement confidence.</a:t>
            </a:r>
          </a:p>
          <a:p>
            <a:r>
              <a:rPr sz="1000">
                <a:solidFill>
                  <a:srgbClr val="0B5CAB"/>
                </a:solidFill>
                <a:hlinkClick r:id="rId2"/>
              </a:rPr>
              <a:t>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60604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3"/>
              </a:rPr>
              <a:t>C10 — A2LA accredited organization directory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Live searchable taxonomy/density route; no filtered independent US dimensional-firm count produced.</a:t>
            </a:r>
          </a:p>
          <a:p>
            <a:r>
              <a:rPr sz="1000">
                <a:solidFill>
                  <a:srgbClr val="0B5CAB"/>
                </a:solidFill>
                <a:hlinkClick r:id="rId3"/>
              </a:rP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4"/>
              </a:rPr>
              <a:t>C11 — Trescal acquisition announcements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January 2026 release lists 14 global acquisitions; clear consolidator activity, not 14 US dimensional firms.</a:t>
            </a:r>
          </a:p>
          <a:p>
            <a:r>
              <a:rPr sz="1000">
                <a:solidFill>
                  <a:srgbClr val="0B5CAB"/>
                </a:solidFill>
                <a:hlinkClick r:id="rId4"/>
              </a:rPr>
              <a:t>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4068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5"/>
              </a:rPr>
              <a:t>C12 — Calder September 9 metrology teaser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Anonymous dimensional/metrology provider embedded in distributor; seller cashflow not treated as EBITDA/industry margin.</a:t>
            </a:r>
          </a:p>
          <a:p>
            <a:r>
              <a:rPr sz="1000">
                <a:solidFill>
                  <a:srgbClr val="0B5CAB"/>
                </a:solidFill>
                <a:hlinkClick r:id="rId5"/>
              </a:rPr>
              <a:t>Open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6"/>
              </a:rPr>
              <a:t>C13 — MicronPA service description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York PA dimensional/gage services, stale privately-owned copy superseded by acquirer announcement.</a:t>
            </a:r>
          </a:p>
          <a:p>
            <a:r>
              <a:rPr sz="1000">
                <a:solidFill>
                  <a:srgbClr val="0B5CAB"/>
                </a:solidFill>
                <a:hlinkClick r:id="rId6"/>
              </a:rPr>
              <a:t>Open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D3C"/>
                </a:solidFill>
                <a:latin typeface="Arial"/>
              </a:rPr>
              <a:t>Sources | Dimensional Metrology</a:t>
            </a:r>
          </a:p>
          <a:p>
            <a:r>
              <a:rPr sz="1800" b="1">
                <a:solidFill>
                  <a:srgbClr val="192D3C"/>
                </a:solidFill>
                <a:latin typeface="Arial"/>
              </a:rPr>
              <a:t>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6080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5CAB"/>
                </a:solidFill>
                <a:latin typeface="Arial"/>
                <a:hlinkClick r:id="rId2"/>
              </a:rPr>
              <a:t>C14 — Cal-Tec provider description</a:t>
            </a:r>
          </a:p>
          <a:p>
            <a:r>
              <a:rPr sz="1000">
                <a:solidFill>
                  <a:srgbClr val="232323"/>
                </a:solidFill>
                <a:latin typeface="Arial"/>
              </a:rPr>
              <a:t>Pittsburgh PA dimensional/electronic/process services, family-owned copy superseded by MTA announcement.</a:t>
            </a:r>
          </a:p>
          <a:p>
            <a:r>
              <a:rPr sz="1000">
                <a:solidFill>
                  <a:srgbClr val="0B5CAB"/>
                </a:solidFill>
                <a:hlinkClick r:id="rId2"/>
              </a:rPr>
              <a:t>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0"/>
            <a:ext cx="6035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32323"/>
                </a:solidFill>
              </a:rPr>
              <a:t>Scoring: provisional evidence-weighted industry assessment. Missing facts penalized, not asserted adverse facts. Full methodology and criteria in companion scorecard.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