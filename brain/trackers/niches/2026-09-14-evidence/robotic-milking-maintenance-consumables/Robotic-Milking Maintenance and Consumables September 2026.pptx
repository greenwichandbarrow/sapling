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11"/>
    <p:sldId id="258" r:id="rId12"/>
    <p:sldId id="259" r:id="rId13"/>
    <p:sldId id="260" r:id="rId14"/>
  </p:sldIdLst>
  <p:sldSz cy="9144000" cx="6858000"/>
  <p:notesSz cx="6858000" cy="9144000"/>
  <p:embeddedFontLst>
    <p:embeddedFont>
      <p:font typeface="Play"/>
      <p:regular r:id="rId8"/>
      <p:bold r:id="rId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0" roundtripDataSignature="AMtx7mhcjH5U044/we/MAG3n+VSwUf8x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F6FF0B-5A19-4756-B371-CDEA78D29C38}">
  <a:tblStyle styleId="{60F6FF0B-5A19-4756-B371-CDEA78D29C38}"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b="off" i="off"/>
      <a:tcStyle>
        <a:fill>
          <a:solidFill>
            <a:srgbClr val="CAD1D8"/>
          </a:solidFill>
        </a:fill>
      </a:tcStyle>
    </a:band1H>
    <a:band2H>
      <a:tcTxStyle b="off" i="off"/>
    </a:band2H>
    <a:band1V>
      <a:tcTxStyle b="off" i="off"/>
      <a:tcStyle>
        <a:fill>
          <a:solidFill>
            <a:srgbClr val="CAD1D8"/>
          </a:solidFill>
        </a:fill>
      </a:tcStyle>
    </a:band1V>
    <a:band2V>
      <a:tcTxStyle b="off" i="off"/>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Play-regular.fntdata"/><Relationship Id="rId9" Type="http://schemas.openxmlformats.org/officeDocument/2006/relationships/font" Target="fonts/Play-bold.fntdata"/><Relationship Id="rId10" Type="http://customschemas.google.com/relationships/presentationmetadata" Target="metadata"/><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271713" y="1143000"/>
            <a:ext cx="23145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4:notes"/>
          <p:cNvSpPr/>
          <p:nvPr>
            <p:ph idx="2" type="sldImg"/>
          </p:nvPr>
        </p:nvSpPr>
        <p:spPr>
          <a:xfrm>
            <a:off x="2271713" y="1143000"/>
            <a:ext cx="23145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of people have set up</a:t>
            </a:r>
            <a:endParaRPr/>
          </a:p>
        </p:txBody>
      </p:sp>
      <p:sp>
        <p:nvSpPr>
          <p:cNvPr id="87" name="Google Shape;8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514350" y="1496484"/>
            <a:ext cx="5829300" cy="318346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857250" y="4802717"/>
            <a:ext cx="5143500" cy="220768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3"/>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71488" y="2434167"/>
            <a:ext cx="5915025" cy="5801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4"/>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467916" y="2279653"/>
            <a:ext cx="5915025" cy="380364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467916" y="6119286"/>
            <a:ext cx="5915025" cy="200024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757575"/>
              </a:buClr>
              <a:buSzPts val="1800"/>
              <a:buNone/>
              <a:defRPr sz="1800">
                <a:solidFill>
                  <a:srgbClr val="757575"/>
                </a:solidFill>
              </a:defRPr>
            </a:lvl1pPr>
            <a:lvl2pPr indent="-228600" lvl="1" marL="914400" algn="l">
              <a:lnSpc>
                <a:spcPct val="90000"/>
              </a:lnSpc>
              <a:spcBef>
                <a:spcPts val="375"/>
              </a:spcBef>
              <a:spcAft>
                <a:spcPts val="0"/>
              </a:spcAft>
              <a:buClr>
                <a:srgbClr val="757575"/>
              </a:buClr>
              <a:buSzPts val="1500"/>
              <a:buNone/>
              <a:defRPr sz="1500">
                <a:solidFill>
                  <a:srgbClr val="757575"/>
                </a:solidFill>
              </a:defRPr>
            </a:lvl2pPr>
            <a:lvl3pPr indent="-228600" lvl="2" marL="1371600" algn="l">
              <a:lnSpc>
                <a:spcPct val="90000"/>
              </a:lnSpc>
              <a:spcBef>
                <a:spcPts val="375"/>
              </a:spcBef>
              <a:spcAft>
                <a:spcPts val="0"/>
              </a:spcAft>
              <a:buClr>
                <a:srgbClr val="757575"/>
              </a:buClr>
              <a:buSzPts val="1350"/>
              <a:buNone/>
              <a:defRPr sz="1350">
                <a:solidFill>
                  <a:srgbClr val="757575"/>
                </a:solidFill>
              </a:defRPr>
            </a:lvl3pPr>
            <a:lvl4pPr indent="-228600" lvl="3" marL="1828800" algn="l">
              <a:lnSpc>
                <a:spcPct val="90000"/>
              </a:lnSpc>
              <a:spcBef>
                <a:spcPts val="375"/>
              </a:spcBef>
              <a:spcAft>
                <a:spcPts val="0"/>
              </a:spcAft>
              <a:buClr>
                <a:srgbClr val="757575"/>
              </a:buClr>
              <a:buSzPts val="1200"/>
              <a:buNone/>
              <a:defRPr sz="1200">
                <a:solidFill>
                  <a:srgbClr val="757575"/>
                </a:solidFill>
              </a:defRPr>
            </a:lvl4pPr>
            <a:lvl5pPr indent="-228600" lvl="4" marL="2286000" algn="l">
              <a:lnSpc>
                <a:spcPct val="90000"/>
              </a:lnSpc>
              <a:spcBef>
                <a:spcPts val="375"/>
              </a:spcBef>
              <a:spcAft>
                <a:spcPts val="0"/>
              </a:spcAft>
              <a:buClr>
                <a:srgbClr val="757575"/>
              </a:buClr>
              <a:buSzPts val="1200"/>
              <a:buNone/>
              <a:defRPr sz="1200">
                <a:solidFill>
                  <a:srgbClr val="757575"/>
                </a:solidFill>
              </a:defRPr>
            </a:lvl5pPr>
            <a:lvl6pPr indent="-228600" lvl="5" marL="2743200" algn="l">
              <a:lnSpc>
                <a:spcPct val="90000"/>
              </a:lnSpc>
              <a:spcBef>
                <a:spcPts val="375"/>
              </a:spcBef>
              <a:spcAft>
                <a:spcPts val="0"/>
              </a:spcAft>
              <a:buClr>
                <a:srgbClr val="757575"/>
              </a:buClr>
              <a:buSzPts val="1200"/>
              <a:buNone/>
              <a:defRPr sz="1200">
                <a:solidFill>
                  <a:srgbClr val="757575"/>
                </a:solidFill>
              </a:defRPr>
            </a:lvl6pPr>
            <a:lvl7pPr indent="-228600" lvl="6" marL="3200400" algn="l">
              <a:lnSpc>
                <a:spcPct val="90000"/>
              </a:lnSpc>
              <a:spcBef>
                <a:spcPts val="375"/>
              </a:spcBef>
              <a:spcAft>
                <a:spcPts val="0"/>
              </a:spcAft>
              <a:buClr>
                <a:srgbClr val="757575"/>
              </a:buClr>
              <a:buSzPts val="1200"/>
              <a:buNone/>
              <a:defRPr sz="1200">
                <a:solidFill>
                  <a:srgbClr val="757575"/>
                </a:solidFill>
              </a:defRPr>
            </a:lvl7pPr>
            <a:lvl8pPr indent="-228600" lvl="7" marL="3657600" algn="l">
              <a:lnSpc>
                <a:spcPct val="90000"/>
              </a:lnSpc>
              <a:spcBef>
                <a:spcPts val="375"/>
              </a:spcBef>
              <a:spcAft>
                <a:spcPts val="0"/>
              </a:spcAft>
              <a:buClr>
                <a:srgbClr val="757575"/>
              </a:buClr>
              <a:buSzPts val="1200"/>
              <a:buNone/>
              <a:defRPr sz="1200">
                <a:solidFill>
                  <a:srgbClr val="757575"/>
                </a:solidFill>
              </a:defRPr>
            </a:lvl8pPr>
            <a:lvl9pPr indent="-228600" lvl="8" marL="4114800" algn="l">
              <a:lnSpc>
                <a:spcPct val="90000"/>
              </a:lnSpc>
              <a:spcBef>
                <a:spcPts val="375"/>
              </a:spcBef>
              <a:spcAft>
                <a:spcPts val="0"/>
              </a:spcAft>
              <a:buClr>
                <a:srgbClr val="757575"/>
              </a:buClr>
              <a:buSzPts val="1200"/>
              <a:buNone/>
              <a:defRPr sz="1200">
                <a:solidFill>
                  <a:srgbClr val="757575"/>
                </a:solidFill>
              </a:defRPr>
            </a:lvl9pPr>
          </a:lstStyle>
          <a:p/>
        </p:txBody>
      </p:sp>
      <p:sp>
        <p:nvSpPr>
          <p:cNvPr id="30" name="Google Shape;30;p5"/>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71488" y="2434167"/>
            <a:ext cx="2914650" cy="5801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6"/>
          <p:cNvSpPr txBox="1"/>
          <p:nvPr>
            <p:ph idx="2" type="body"/>
          </p:nvPr>
        </p:nvSpPr>
        <p:spPr>
          <a:xfrm>
            <a:off x="3471863" y="2434167"/>
            <a:ext cx="2914650" cy="5801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6"/>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72381"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72381" y="2241551"/>
            <a:ext cx="2901255" cy="10985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7"/>
          <p:cNvSpPr txBox="1"/>
          <p:nvPr>
            <p:ph idx="2" type="body"/>
          </p:nvPr>
        </p:nvSpPr>
        <p:spPr>
          <a:xfrm>
            <a:off x="472381" y="3340100"/>
            <a:ext cx="2901255" cy="4912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7"/>
          <p:cNvSpPr txBox="1"/>
          <p:nvPr>
            <p:ph idx="3" type="body"/>
          </p:nvPr>
        </p:nvSpPr>
        <p:spPr>
          <a:xfrm>
            <a:off x="3471863" y="2241551"/>
            <a:ext cx="2915543" cy="10985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7"/>
          <p:cNvSpPr txBox="1"/>
          <p:nvPr>
            <p:ph idx="4" type="body"/>
          </p:nvPr>
        </p:nvSpPr>
        <p:spPr>
          <a:xfrm>
            <a:off x="3471863" y="3340100"/>
            <a:ext cx="2915543" cy="4912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7"/>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9"/>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472381" y="609600"/>
            <a:ext cx="2211884" cy="2133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 type="body"/>
          </p:nvPr>
        </p:nvSpPr>
        <p:spPr>
          <a:xfrm>
            <a:off x="2915543" y="1316569"/>
            <a:ext cx="3471863" cy="6498167"/>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10"/>
          <p:cNvSpPr txBox="1"/>
          <p:nvPr>
            <p:ph idx="2" type="body"/>
          </p:nvPr>
        </p:nvSpPr>
        <p:spPr>
          <a:xfrm>
            <a:off x="472381" y="2743200"/>
            <a:ext cx="2211884" cy="50821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10"/>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472381" y="609600"/>
            <a:ext cx="2211884" cy="2133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p:nvPr>
            <p:ph idx="2" type="pic"/>
          </p:nvPr>
        </p:nvSpPr>
        <p:spPr>
          <a:xfrm>
            <a:off x="2915543" y="1316569"/>
            <a:ext cx="3471863" cy="6498167"/>
          </a:xfrm>
          <a:prstGeom prst="rect">
            <a:avLst/>
          </a:prstGeom>
          <a:noFill/>
          <a:ln>
            <a:noFill/>
          </a:ln>
        </p:spPr>
      </p:sp>
      <p:sp>
        <p:nvSpPr>
          <p:cNvPr id="68" name="Google Shape;68;p11"/>
          <p:cNvSpPr txBox="1"/>
          <p:nvPr>
            <p:ph idx="1" type="body"/>
          </p:nvPr>
        </p:nvSpPr>
        <p:spPr>
          <a:xfrm>
            <a:off x="472381" y="2743200"/>
            <a:ext cx="2211884" cy="50821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1"/>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1"/>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2"/>
          <p:cNvSpPr txBox="1"/>
          <p:nvPr>
            <p:ph idx="1" type="body"/>
          </p:nvPr>
        </p:nvSpPr>
        <p:spPr>
          <a:xfrm rot="5400000">
            <a:off x="528108" y="2377546"/>
            <a:ext cx="5801784"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2"/>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2"/>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1772577" y="3622015"/>
            <a:ext cx="774911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3"/>
          <p:cNvSpPr txBox="1"/>
          <p:nvPr>
            <p:ph idx="1" type="body"/>
          </p:nvPr>
        </p:nvSpPr>
        <p:spPr>
          <a:xfrm rot="5400000">
            <a:off x="-1227798" y="2186121"/>
            <a:ext cx="774911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3"/>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3"/>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3"/>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
          <p:cNvSpPr txBox="1"/>
          <p:nvPr>
            <p:ph idx="1" type="body"/>
          </p:nvPr>
        </p:nvSpPr>
        <p:spPr>
          <a:xfrm>
            <a:off x="471488" y="2434167"/>
            <a:ext cx="5915025" cy="580178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2" name="Google Shape;12;p2"/>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rain/trackers/niches/2026-09-14-evidence/historical.txt" TargetMode="External"/><Relationship Id="rId3" Type="http://schemas.openxmlformats.org/officeDocument/2006/relationships/hyperlink" Target="brain/trackers/niches/2026-09-14-evidence/recent.txt" TargetMode="External"/><Relationship Id="rId4" Type="http://schemas.openxmlformats.org/officeDocument/2006/relationships/hyperlink" Target="brain/trackers/niches/2026-09-14-evidence/synthesis.txt" TargetMode="External"/><Relationship Id="rId5" Type="http://schemas.openxmlformats.org/officeDocument/2006/relationships/hyperlink" Target="brain/traces/agents/2026-09-14-niche-intelligence.md" TargetMode="External"/><Relationship Id="rId6" Type="http://schemas.openxmlformats.org/officeDocument/2006/relationships/hyperlink" Target="https://docs.google.com/spreadsheets/d/1vHx4E1tRTR6V3k7NQeHdCrUjDITJVtZA5YPSIFeSins/edit" TargetMode="External"/><Relationship Id="rId7" Type="http://schemas.openxmlformats.org/officeDocument/2006/relationships/hyperlink" Target="https://ers.usda.gov/data-products/charts-of-note/11419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lelyna.com/us/" TargetMode="External"/><Relationship Id="rId3" Type="http://schemas.openxmlformats.org/officeDocument/2006/relationships/hyperlink" Target="https://www.jbzdairy.com/" TargetMode="External"/><Relationship Id="rId4" Type="http://schemas.openxmlformats.org/officeDocument/2006/relationships/hyperlink" Target="https://www.jbzdairy.com/contact" TargetMode="External"/><Relationship Id="rId5" Type="http://schemas.openxmlformats.org/officeDocument/2006/relationships/hyperlink" Target="https://www.gortersclayanddairy.com/" TargetMode="External"/><Relationship Id="rId6" Type="http://schemas.openxmlformats.org/officeDocument/2006/relationships/hyperlink" Target="https://www.thomsonservices.com/supplies" TargetMode="External"/><Relationship Id="rId7" Type="http://schemas.openxmlformats.org/officeDocument/2006/relationships/hyperlink" Target="https://www.lelyna.com/us/centers/new-englan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lelylife.com/progressive-dairy-service-supply" TargetMode="External"/><Relationship Id="rId3" Type="http://schemas.openxmlformats.org/officeDocument/2006/relationships/hyperlink" Target="https://www.lelycentermidatlantic.com/index.php/2025/08/01/10-minutes-to-better-robot-performance-lely-center-mid-atlantics-daily-checklist/" TargetMode="External"/><Relationship Id="rId4" Type="http://schemas.openxmlformats.org/officeDocument/2006/relationships/hyperlink" Target="https://schneiderresources.com/" TargetMode="External"/><Relationship Id="rId5" Type="http://schemas.openxmlformats.org/officeDocument/2006/relationships/hyperlink" Target="https://mail.google.com/mail/u/0/#all/19e656820ec74fd6" TargetMode="External"/><Relationship Id="rId6" Type="http://schemas.openxmlformats.org/officeDocument/2006/relationships/hyperlink" Target="memory/feedback_niche_screen_soft_excludes_construction_adjacent_travel.md" TargetMode="External"/><Relationship Id="rId7" Type="http://schemas.openxmlformats.org/officeDocument/2006/relationships/hyperlink" Target="brain/library/internal/one-pager-template/customs-bonds-template.pptx"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rain/trackers/niches/2026-09-14-evidence/source-coverage.js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cxnSp>
        <p:nvCxnSpPr>
          <p:cNvPr id="89" name="Google Shape;89;p14"/>
          <p:cNvCxnSpPr/>
          <p:nvPr/>
        </p:nvCxnSpPr>
        <p:spPr>
          <a:xfrm>
            <a:off x="1187927" y="594360"/>
            <a:ext cx="5359400" cy="0"/>
          </a:xfrm>
          <a:prstGeom prst="straightConnector1">
            <a:avLst/>
          </a:prstGeom>
          <a:noFill/>
          <a:ln cap="flat" cmpd="sng" w="9525">
            <a:solidFill>
              <a:srgbClr val="C49B77"/>
            </a:solidFill>
            <a:prstDash val="solid"/>
            <a:miter lim="800000"/>
            <a:headEnd len="sm" w="sm" type="none"/>
            <a:tailEnd len="sm" w="sm" type="none"/>
          </a:ln>
        </p:spPr>
      </p:cxnSp>
      <p:cxnSp>
        <p:nvCxnSpPr>
          <p:cNvPr id="90" name="Google Shape;90;p14"/>
          <p:cNvCxnSpPr/>
          <p:nvPr/>
        </p:nvCxnSpPr>
        <p:spPr>
          <a:xfrm>
            <a:off x="0" y="603504"/>
            <a:ext cx="6858000" cy="0"/>
          </a:xfrm>
          <a:prstGeom prst="straightConnector1">
            <a:avLst/>
          </a:prstGeom>
          <a:noFill/>
          <a:ln cap="flat" cmpd="sng" w="9525">
            <a:solidFill>
              <a:srgbClr val="C49B77"/>
            </a:solidFill>
            <a:prstDash val="solid"/>
            <a:miter lim="800000"/>
            <a:headEnd len="sm" w="sm" type="none"/>
            <a:tailEnd len="sm" w="sm" type="none"/>
          </a:ln>
        </p:spPr>
      </p:cxnSp>
      <p:graphicFrame>
        <p:nvGraphicFramePr>
          <p:cNvPr id="91" name="Google Shape;91;p14"/>
          <p:cNvGraphicFramePr/>
          <p:nvPr/>
        </p:nvGraphicFramePr>
        <p:xfrm>
          <a:off x="164592" y="658368"/>
          <a:ext cx="6528816" cy="7754112"/>
        </p:xfrm>
        <a:graphic>
          <a:graphicData uri="http://schemas.openxmlformats.org/drawingml/2006/table">
            <a:tbl>
              <a:tblPr bandRow="1" firstRow="1">
                <a:noFill/>
                <a:tableStyleId>{60F6FF0B-5A19-4756-B371-CDEA78D29C38}</a:tableStyleId>
              </a:tblPr>
              <a:tblGrid>
                <a:gridCol w="3264408"/>
                <a:gridCol w="3264408"/>
              </a:tblGrid>
              <a:tr h="640080">
                <a:tc gridSpan="2">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b="1">
                          <a:solidFill>
                            <a:srgbClr val="000000"/>
                          </a:solidFill>
                          <a:latin typeface="Arial"/>
                        </a:rPr>
                        <a:t>Robotic-Milking Maintenance &amp; Consumables
September 2026</a:t>
                      </a:r>
                      <a:endParaRPr sz="1400" u="none" cap="none" strike="noStrike"/>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365760">
                <a:tc>
                  <a:txBody>
                    <a:bodyPr/>
                    <a:lstStyle/>
                    <a:p>
                      <a:pPr indent="0" lvl="0" marL="0" marR="0" rtl="0" algn="ctr">
                        <a:lnSpc>
                          <a:spcPct val="100000"/>
                        </a:lnSpc>
                        <a:spcBef>
                          <a:spcPts val="0"/>
                        </a:spcBef>
                        <a:spcAft>
                          <a:spcPts val="0"/>
                        </a:spcAft>
                        <a:buClr>
                          <a:srgbClr val="000000"/>
                        </a:buClr>
                        <a:buSzPts val="1400"/>
                        <a:buFont typeface="Arial"/>
                        <a:buNone/>
                      </a:pPr>
                      <a:r>
                        <a:rPr b="0" lang="en-US" sz="1000" u="none" cap="none" strike="noStrike">
                          <a:solidFill>
                            <a:srgbClr val="000000"/>
                          </a:solidFill>
                          <a:latin typeface="Arial"/>
                        </a:rPr>
                        <a:t>Assessment: 1.74 / 3.0 (58%)</a:t>
                      </a:r>
                      <a:endParaRPr sz="1400" u="none" cap="none" strike="noStrike">
                        <a:highlight>
                          <a:srgbClr val="FFFF00"/>
                        </a:highlight>
                      </a:endParaRPr>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000" u="none" cap="none" strike="noStrike">
                          <a:solidFill>
                            <a:srgbClr val="000000"/>
                          </a:solidFill>
                          <a:latin typeface="Arial"/>
                        </a:rPr>
                        <a:t>Pending analyst review | Screen incomplete</a:t>
                      </a:r>
                      <a:endParaRPr sz="1400" u="none" cap="none" strike="noStrike"/>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28600">
                <a:tc gridSpan="2">
                  <a:txBody>
                    <a:bodyPr/>
                    <a:lstStyle/>
                    <a:p>
                      <a:pPr indent="0" lvl="0" marL="0" marR="0" rtl="0" algn="ctr">
                        <a:lnSpc>
                          <a:spcPct val="100000"/>
                        </a:lnSpc>
                        <a:spcBef>
                          <a:spcPts val="0"/>
                        </a:spcBef>
                        <a:spcAft>
                          <a:spcPts val="0"/>
                        </a:spcAft>
                        <a:buClr>
                          <a:srgbClr val="000000"/>
                        </a:buClr>
                        <a:buSzPts val="1400"/>
                        <a:buFont typeface="Arial"/>
                        <a:buNone/>
                      </a:pPr>
                      <a:r>
                        <a:rPr b="1" lang="en-US" sz="1050" u="none" cap="none" strike="noStrike">
                          <a:solidFill>
                            <a:srgbClr val="000000"/>
                          </a:solidFill>
                          <a:latin typeface="Arial"/>
                        </a:rPr>
                        <a:t>Industry Overview</a:t>
                      </a:r>
                      <a:endParaRPr sz="1400" u="none" cap="none" strike="noStrike"/>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667512">
                <a:tc gridSpan="2">
                  <a:txBody>
                    <a:bodyPr/>
                    <a:lstStyle/>
                    <a:p>
                      <a:pPr indent="0" lvl="0" marL="0" marR="0" rtl="0" algn="l">
                        <a:lnSpc>
                          <a:spcPct val="100000"/>
                        </a:lnSpc>
                        <a:spcBef>
                          <a:spcPts val="0"/>
                        </a:spcBef>
                        <a:spcAft>
                          <a:spcPts val="0"/>
                        </a:spcAft>
                        <a:buClr>
                          <a:schemeClr val="dk1"/>
                        </a:buClr>
                        <a:buSzPts val="1200"/>
                        <a:buFont typeface="Arial"/>
                        <a:buNone/>
                      </a:pPr>
                      <a:r>
                        <a:rPr lang="en-US" sz="1000" b="0">
                          <a:solidFill>
                            <a:srgbClr val="000000"/>
                          </a:solidFill>
                          <a:latin typeface="Arial"/>
                        </a:rPr>
                        <a:t>Service-only thesis: preventive maintenance, emergency repair, wear parts and hygiene-consumable routes for dairy farms with milking robots. Dealers often combine services with equipment sales. Exact US service TAM and scaled independent target pool are unknown.</a:t>
                      </a:r>
                      <a:endParaRPr sz="1000"/>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228600">
                <a:tc gridSpan="2">
                  <a:txBody>
                    <a:bodyPr/>
                    <a:lstStyle/>
                    <a:p>
                      <a:pPr indent="0" lvl="0" marL="0" marR="0" rtl="0" algn="ctr">
                        <a:lnSpc>
                          <a:spcPct val="100000"/>
                        </a:lnSpc>
                        <a:spcBef>
                          <a:spcPts val="0"/>
                        </a:spcBef>
                        <a:spcAft>
                          <a:spcPts val="0"/>
                        </a:spcAft>
                        <a:buClr>
                          <a:srgbClr val="000000"/>
                        </a:buClr>
                        <a:buSzPts val="1400"/>
                        <a:buFont typeface="Arial"/>
                        <a:buNone/>
                      </a:pPr>
                      <a:r>
                        <a:rPr b="1" lang="en-US" sz="1050" u="none" cap="none" strike="noStrike">
                          <a:solidFill>
                            <a:srgbClr val="000000"/>
                          </a:solidFill>
                          <a:latin typeface="Arial"/>
                        </a:rPr>
                        <a:t>Industry Thesis</a:t>
                      </a:r>
                      <a:endParaRPr sz="1400" u="none" cap="none" strike="noStrike"/>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630936">
                <a:tc gridSpan="2">
                  <a:txBody>
                    <a:bodyPr/>
                    <a:lstStyle/>
                    <a:p>
                      <a:pPr indent="0" lvl="0" marL="0" marR="0" rtl="0" algn="l">
                        <a:lnSpc>
                          <a:spcPct val="100000"/>
                        </a:lnSpc>
                        <a:spcBef>
                          <a:spcPts val="0"/>
                        </a:spcBef>
                        <a:spcAft>
                          <a:spcPts val="0"/>
                        </a:spcAft>
                        <a:buClr>
                          <a:schemeClr val="dk1"/>
                        </a:buClr>
                        <a:buSzPts val="1150"/>
                        <a:buFont typeface="Arial"/>
                        <a:buNone/>
                      </a:pPr>
                      <a:r>
                        <a:rPr lang="en-US" sz="1000" u="none" cap="none" strike="noStrike" b="0">
                          <a:solidFill>
                            <a:srgbClr val="000000"/>
                          </a:solidFill>
                          <a:latin typeface="Arial"/>
                        </a:rPr>
                        <a:t>Installed robots require uptime, parts and hygiene throughout their useful lives. Regional technical providers may capture repeat service demand without owning farms or manufacturing robots. Service earnings must be separated from equipment and installation revenue.</a:t>
                      </a:r>
                      <a:endParaRPr sz="1000">
                        <a:latin typeface="Arial"/>
                        <a:ea typeface="Arial"/>
                        <a:cs typeface="Arial"/>
                        <a:sym typeface="Arial"/>
                      </a:endParaRPr>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246888">
                <a:tc>
                  <a:txBody>
                    <a:bodyPr/>
                    <a:lstStyle/>
                    <a:p>
                      <a:pPr indent="0" lvl="0" marL="0" marR="0" rtl="0" algn="ctr">
                        <a:lnSpc>
                          <a:spcPct val="100000"/>
                        </a:lnSpc>
                        <a:spcBef>
                          <a:spcPts val="0"/>
                        </a:spcBef>
                        <a:spcAft>
                          <a:spcPts val="0"/>
                        </a:spcAft>
                        <a:buClr>
                          <a:srgbClr val="000000"/>
                        </a:buClr>
                        <a:buSzPts val="1400"/>
                        <a:buFont typeface="Arial"/>
                        <a:buNone/>
                      </a:pPr>
                      <a:r>
                        <a:rPr b="1" lang="en-US" sz="1050" u="none" cap="none" strike="noStrike">
                          <a:solidFill>
                            <a:srgbClr val="000000"/>
                          </a:solidFill>
                          <a:latin typeface="Arial"/>
                        </a:rPr>
                        <a:t>Macro Trends &amp; Growth Drivers</a:t>
                      </a:r>
                      <a:endParaRPr sz="1400" u="none" cap="none" strike="noStrike"/>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b="1" lang="en-US" sz="1050" u="none" cap="none" strike="noStrike">
                          <a:solidFill>
                            <a:srgbClr val="000000"/>
                          </a:solidFill>
                          <a:latin typeface="Arial"/>
                        </a:rPr>
                        <a:t>Risks &amp; Concerns</a:t>
                      </a:r>
                      <a:endParaRPr sz="1400" u="none" cap="none" strike="noStrike"/>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87552">
                <a:tc>
                  <a:txBody>
                    <a:bodyPr/>
                    <a:lstStyle/>
                    <a:p>
                      <a:pPr indent="-304800" lvl="0" marL="457200" marR="0" rtl="0" algn="l">
                        <a:lnSpc>
                          <a:spcPct val="100000"/>
                        </a:lnSpc>
                        <a:spcBef>
                          <a:spcPts val="0"/>
                        </a:spcBef>
                        <a:spcAft>
                          <a:spcPts val="0"/>
                        </a:spcAft>
                        <a:buClr>
                          <a:schemeClr val="dk1"/>
                        </a:buClr>
                        <a:buSzPts val="1200"/>
                        <a:buFont typeface="Arial"/>
                        <a:buChar char="•"/>
                      </a:pPr>
                      <a:r>
                        <a:rPr lang="en-US" sz="1000" b="0">
                          <a:solidFill>
                            <a:srgbClr val="000000"/>
                          </a:solidFill>
                          <a:latin typeface="Arial"/>
                          <a:ea typeface="Arial"/>
                          <a:cs typeface="Arial"/>
                          <a:sym typeface="Arial"/>
                        </a:rPr>
                        <a:t>USDA historical data: robots produced 4% of US milk in 2016 and 6% in 2021; 13% adoption among 150-499-cow farms in 2021. Published June 2026; not current adoption. Automation creates maintenance needs; exact service CAGR unknown.</a:t>
                      </a:r>
                      <a:endParaRPr sz="1100" u="none" cap="none" strike="noStrike">
                        <a:latin typeface="Arial"/>
                        <a:ea typeface="Arial"/>
                        <a:cs typeface="Arial"/>
                        <a:sym typeface="Arial"/>
                      </a:endParaRPr>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304800" lvl="0" marL="457200" marR="0" rtl="0" algn="l">
                        <a:lnSpc>
                          <a:spcPct val="100000"/>
                        </a:lnSpc>
                        <a:spcBef>
                          <a:spcPts val="0"/>
                        </a:spcBef>
                        <a:spcAft>
                          <a:spcPts val="0"/>
                        </a:spcAft>
                        <a:buClr>
                          <a:schemeClr val="dk1"/>
                        </a:buClr>
                        <a:buSzPts val="1200"/>
                        <a:buFont typeface="Arial"/>
                        <a:buChar char="•"/>
                      </a:pPr>
                      <a:r>
                        <a:rPr lang="en-US" sz="1000" u="none" cap="none" strike="noStrike" b="0">
                          <a:solidFill>
                            <a:srgbClr val="000000"/>
                          </a:solidFill>
                          <a:latin typeface="Arial"/>
                          <a:ea typeface="Arial"/>
                          <a:cs typeface="Arial"/>
                          <a:sym typeface="Arial"/>
                        </a:rPr>
                        <a:t>STRONG FIT FLAG: rural travel and 24/7 dispatch. OEM parts/software access and dealer-transfer approval. Technician dependency; equipment working capital; farm customer stress. No verified technical operator or warm owner access.</a:t>
                      </a:r>
                      <a:endParaRPr sz="1100" u="none" cap="none" strike="noStrike">
                        <a:latin typeface="Arial"/>
                        <a:ea typeface="Arial"/>
                        <a:cs typeface="Arial"/>
                        <a:sym typeface="Arial"/>
                      </a:endParaRPr>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46888">
                <a:tc>
                  <a:txBody>
                    <a:bodyPr/>
                    <a:lstStyle/>
                    <a:p>
                      <a:pPr indent="0" lvl="0" marL="0" marR="0" rtl="0" algn="ctr">
                        <a:lnSpc>
                          <a:spcPct val="100000"/>
                        </a:lnSpc>
                        <a:spcBef>
                          <a:spcPts val="0"/>
                        </a:spcBef>
                        <a:spcAft>
                          <a:spcPts val="0"/>
                        </a:spcAft>
                        <a:buClr>
                          <a:srgbClr val="000000"/>
                        </a:buClr>
                        <a:buSzPts val="1400"/>
                        <a:buFont typeface="Arial"/>
                        <a:buNone/>
                      </a:pPr>
                      <a:r>
                        <a:rPr b="1" lang="en-US" sz="1050" u="none" cap="none" strike="noStrike">
                          <a:solidFill>
                            <a:srgbClr val="000000"/>
                          </a:solidFill>
                          <a:latin typeface="Arial"/>
                        </a:rPr>
                        <a:t>Economics &amp; Pricing</a:t>
                      </a:r>
                      <a:endParaRPr sz="1400" u="none" cap="none" strike="noStrike"/>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050" u="none" cap="none" strike="noStrike">
                          <a:solidFill>
                            <a:srgbClr val="000000"/>
                          </a:solidFill>
                          <a:latin typeface="Arial"/>
                        </a:rPr>
                        <a:t>Competitive Landscape</a:t>
                      </a:r>
                      <a:endParaRPr sz="1400" u="none" cap="none" strike="noStrike"/>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078992">
                <a:tc>
                  <a:txBody>
                    <a:bodyPr/>
                    <a:lstStyle/>
                    <a:p>
                      <a:pPr indent="0" lvl="0" marL="0" marR="0" rtl="0" algn="l">
                        <a:lnSpc>
                          <a:spcPct val="100000"/>
                        </a:lnSpc>
                        <a:spcBef>
                          <a:spcPts val="0"/>
                        </a:spcBef>
                        <a:spcAft>
                          <a:spcPts val="0"/>
                        </a:spcAft>
                        <a:buClr>
                          <a:schemeClr val="dk1"/>
                        </a:buClr>
                        <a:buSzPts val="1100"/>
                        <a:buFont typeface="Arial"/>
                        <a:buNone/>
                      </a:pPr>
                      <a:r>
                        <a:rPr lang="en-US" sz="1000" u="none" cap="none" strike="noStrike" b="0">
                          <a:solidFill>
                            <a:srgbClr val="000000"/>
                          </a:solidFill>
                          <a:latin typeface="Arial"/>
                          <a:ea typeface="Arial"/>
                          <a:cs typeface="Arial"/>
                          <a:sym typeface="Arial"/>
                        </a:rPr>
                        <a:t>Labor/service plans plus parts and consumables. A provider describes a five-farm monthly-fee pilot; mature contract economics unknown. Anonymous seller: $2.5M revenue / $442,888 EBITDA (17.7%) across mixed dealer/services, NOT typical service margin. Exact TAM, current CAGR and typical EBITDA remain unverified.</a:t>
                      </a:r>
                      <a:endParaRPr sz="1000" u="none" cap="none" strike="noStrike">
                        <a:latin typeface="Arial"/>
                        <a:ea typeface="Arial"/>
                        <a:cs typeface="Arial"/>
                        <a:sym typeface="Arial"/>
                      </a:endParaRPr>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Arial"/>
                        <a:buNone/>
                      </a:pPr>
                      <a:r>
                        <a:rPr lang="en-US" sz="1000" u="none" cap="none" strike="noStrike" b="0">
                          <a:solidFill>
                            <a:srgbClr val="000000"/>
                          </a:solidFill>
                          <a:latin typeface="Arial"/>
                        </a:rPr>
                        <a:t>5 providers reviewed: JBZ Dairy Advantage; Gorter Clay &amp; Dairy; Thomson Services; Lely Center New England; Progressive Dairy Service &amp; Supplies. Four current ownership claims; one from 2021. Lely lists 39 locations, including branches, NOT 39 targets. Foxland investment ownership shows competition.</a:t>
                      </a:r>
                      <a:endParaRPr sz="1000" u="none" cap="none" strike="noStrike"/>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46888">
                <a:tc>
                  <a:txBody>
                    <a:bodyPr/>
                    <a:lstStyle/>
                    <a:p>
                      <a:pPr indent="0" lvl="0" marL="0" marR="0" rtl="0" algn="ctr">
                        <a:lnSpc>
                          <a:spcPct val="100000"/>
                        </a:lnSpc>
                        <a:spcBef>
                          <a:spcPts val="0"/>
                        </a:spcBef>
                        <a:spcAft>
                          <a:spcPts val="0"/>
                        </a:spcAft>
                        <a:buClr>
                          <a:srgbClr val="000000"/>
                        </a:buClr>
                        <a:buSzPts val="1400"/>
                        <a:buFont typeface="Arial"/>
                        <a:buNone/>
                      </a:pPr>
                      <a:r>
                        <a:rPr b="1" lang="en-US" sz="1050" u="none" cap="none" strike="noStrike">
                          <a:solidFill>
                            <a:srgbClr val="000000"/>
                          </a:solidFill>
                          <a:latin typeface="Arial"/>
                          <a:ea typeface="Arial"/>
                          <a:cs typeface="Arial"/>
                          <a:sym typeface="Arial"/>
                        </a:rPr>
                        <a:t>Customers</a:t>
                      </a:r>
                      <a:endParaRPr sz="1400" u="none" cap="none" strike="noStrike"/>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050" u="none" cap="none" strike="noStrike">
                          <a:solidFill>
                            <a:srgbClr val="000000"/>
                          </a:solidFill>
                          <a:latin typeface="Arial"/>
                          <a:ea typeface="Arial"/>
                          <a:cs typeface="Arial"/>
                          <a:sym typeface="Arial"/>
                        </a:rPr>
                        <a:t>Barriers to Entry</a:t>
                      </a:r>
                      <a:endParaRPr sz="1400" u="none" cap="none" strike="noStrike"/>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31520">
                <a:tc>
                  <a:txBody>
                    <a:bodyPr/>
                    <a:lstStyle/>
                    <a:p>
                      <a:pPr indent="-171450" lvl="0" marL="171450" marR="0" rtl="0" algn="l">
                        <a:lnSpc>
                          <a:spcPct val="100000"/>
                        </a:lnSpc>
                        <a:spcBef>
                          <a:spcPts val="0"/>
                        </a:spcBef>
                        <a:spcAft>
                          <a:spcPts val="0"/>
                        </a:spcAft>
                        <a:buClr>
                          <a:schemeClr val="dk1"/>
                        </a:buClr>
                        <a:buSzPts val="1200"/>
                        <a:buFont typeface="Arial"/>
                        <a:buChar char="•"/>
                      </a:pPr>
                      <a:r>
                        <a:rPr lang="en-US" sz="1000" b="0">
                          <a:solidFill>
                            <a:srgbClr val="000000"/>
                          </a:solidFill>
                          <a:latin typeface="Arial"/>
                        </a:rPr>
                        <a:t>Dairy farms operating robotic milking systems; some dealers also serve conventional parlors. Validate robot mix, farm concentration, route density and recurring contract share.</a:t>
                      </a:r>
                      <a:endParaRPr sz="1000"/>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285750" lvl="0" marL="285750" marR="0" rtl="0" algn="l">
                        <a:lnSpc>
                          <a:spcPct val="100000"/>
                        </a:lnSpc>
                        <a:spcBef>
                          <a:spcPts val="0"/>
                        </a:spcBef>
                        <a:spcAft>
                          <a:spcPts val="0"/>
                        </a:spcAft>
                        <a:buClr>
                          <a:schemeClr val="dk1"/>
                        </a:buClr>
                        <a:buSzPts val="1200"/>
                        <a:buFont typeface="Arial"/>
                        <a:buChar char="•"/>
                      </a:pPr>
                      <a:r>
                        <a:rPr lang="en-US" sz="1000" b="0">
                          <a:solidFill>
                            <a:srgbClr val="000000"/>
                          </a:solidFill>
                          <a:latin typeface="Arial"/>
                        </a:rPr>
                        <a:t>OEM-certified technicians; parts/software access; local emergency response and farm trust. Territory rights and change-of-control consent may restrict transfer.</a:t>
                      </a:r>
                      <a:endParaRPr sz="1000"/>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46888">
                <a:tc gridSpan="2">
                  <a:txBody>
                    <a:bodyPr/>
                    <a:lstStyle/>
                    <a:p>
                      <a:pPr indent="0" lvl="0" marL="0" marR="0" rtl="0" algn="ctr">
                        <a:lnSpc>
                          <a:spcPct val="100000"/>
                        </a:lnSpc>
                        <a:spcBef>
                          <a:spcPts val="0"/>
                        </a:spcBef>
                        <a:spcAft>
                          <a:spcPts val="0"/>
                        </a:spcAft>
                        <a:buClr>
                          <a:srgbClr val="000000"/>
                        </a:buClr>
                        <a:buSzPts val="1400"/>
                        <a:buFont typeface="Arial"/>
                        <a:buNone/>
                      </a:pPr>
                      <a:r>
                        <a:rPr b="1" lang="en-US" sz="1050" u="none" cap="none" strike="noStrike">
                          <a:solidFill>
                            <a:srgbClr val="000000"/>
                          </a:solidFill>
                          <a:latin typeface="Arial"/>
                          <a:ea typeface="Arial"/>
                          <a:cs typeface="Arial"/>
                          <a:sym typeface="Arial"/>
                        </a:rPr>
                        <a:t>Key Success Factors</a:t>
                      </a:r>
                      <a:endParaRPr sz="1400" u="none" cap="none" strike="noStrike"/>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530352">
                <a:tc>
                  <a:txBody>
                    <a:bodyPr/>
                    <a:lstStyle/>
                    <a:p>
                      <a:pPr indent="-285750" lvl="0" marL="285750" marR="0" rtl="0" algn="l">
                        <a:lnSpc>
                          <a:spcPct val="100000"/>
                        </a:lnSpc>
                        <a:spcBef>
                          <a:spcPts val="0"/>
                        </a:spcBef>
                        <a:spcAft>
                          <a:spcPts val="0"/>
                        </a:spcAft>
                        <a:buClr>
                          <a:schemeClr val="dk1"/>
                        </a:buClr>
                        <a:buSzPts val="1200"/>
                        <a:buFont typeface="Arial"/>
                        <a:buChar char="•"/>
                      </a:pPr>
                      <a:r>
                        <a:rPr lang="en-US" sz="1000" b="0">
                          <a:solidFill>
                            <a:srgbClr val="000000"/>
                          </a:solidFill>
                          <a:latin typeface="Arial"/>
                        </a:rPr>
                        <a:t>Retain certified technicians; validate OEM contracts, service margins and emergency coverage.</a:t>
                      </a:r>
                      <a:endParaRPr sz="1000"/>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285750" lvl="0" marL="285750" marR="0" rtl="0" algn="l">
                        <a:lnSpc>
                          <a:spcPct val="100000"/>
                        </a:lnSpc>
                        <a:spcBef>
                          <a:spcPts val="0"/>
                        </a:spcBef>
                        <a:spcAft>
                          <a:spcPts val="0"/>
                        </a:spcAft>
                        <a:buClr>
                          <a:schemeClr val="dk1"/>
                        </a:buClr>
                        <a:buSzPts val="1200"/>
                        <a:buFont typeface="Arial"/>
                        <a:buChar char="•"/>
                      </a:pPr>
                      <a:r>
                        <a:rPr lang="en-US" sz="1000" b="0">
                          <a:solidFill>
                            <a:srgbClr val="000000"/>
                          </a:solidFill>
                          <a:latin typeface="Arial"/>
                        </a:rPr>
                        <a:t>Separate equipment/real estate from service earnings; prove route density and contract profitability.</a:t>
                      </a:r>
                      <a:endParaRPr sz="1000"/>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46888">
                <a:tc gridSpan="2">
                  <a:txBody>
                    <a:bodyPr/>
                    <a:lstStyle/>
                    <a:p>
                      <a:pPr indent="0" lvl="0" marL="0" marR="0" rtl="0" algn="ctr">
                        <a:lnSpc>
                          <a:spcPct val="100000"/>
                        </a:lnSpc>
                        <a:spcBef>
                          <a:spcPts val="0"/>
                        </a:spcBef>
                        <a:spcAft>
                          <a:spcPts val="0"/>
                        </a:spcAft>
                        <a:buClr>
                          <a:srgbClr val="000000"/>
                        </a:buClr>
                        <a:buSzPts val="1400"/>
                        <a:buFont typeface="Arial"/>
                        <a:buNone/>
                      </a:pPr>
                      <a:r>
                        <a:rPr b="1" lang="en-US" sz="1050" u="none" cap="none" strike="noStrike">
                          <a:solidFill>
                            <a:srgbClr val="000000"/>
                          </a:solidFill>
                          <a:latin typeface="Arial"/>
                          <a:ea typeface="Arial"/>
                          <a:cs typeface="Arial"/>
                          <a:sym typeface="Arial"/>
                        </a:rPr>
                        <a:t>Exit</a:t>
                      </a:r>
                      <a:endParaRPr sz="1400" u="none" cap="none" strike="noStrike"/>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429768">
                <a:tc gridSpan="2">
                  <a:txBody>
                    <a:bodyPr/>
                    <a:lstStyle/>
                    <a:p>
                      <a:pPr indent="0" lvl="0" marL="0" marR="0" rtl="0" algn="l">
                        <a:lnSpc>
                          <a:spcPct val="100000"/>
                        </a:lnSpc>
                        <a:spcBef>
                          <a:spcPts val="0"/>
                        </a:spcBef>
                        <a:spcAft>
                          <a:spcPts val="0"/>
                        </a:spcAft>
                        <a:buClr>
                          <a:schemeClr val="dk1"/>
                        </a:buClr>
                        <a:buSzPts val="1150"/>
                        <a:buFont typeface="Arial"/>
                        <a:buNone/>
                      </a:pPr>
                      <a:r>
                        <a:rPr b="0" i="0" lang="en-US" sz="1000" u="none" cap="none" strike="noStrike">
                          <a:solidFill>
                            <a:srgbClr val="000000"/>
                          </a:solidFill>
                          <a:latin typeface="Arial"/>
                          <a:ea typeface="Arial"/>
                          <a:cs typeface="Arial"/>
                          <a:sym typeface="Arial"/>
                        </a:rPr>
                        <a:t>Strategic dealers, OEM-linked networks or specialist investors are possible buyers. Foxland is an investor-backed comp; no exit multiple or buyer commitment established.</a:t>
                      </a:r>
                      <a:endParaRPr sz="1000">
                        <a:latin typeface="Arial"/>
                        <a:ea typeface="Arial"/>
                        <a:cs typeface="Arial"/>
                        <a:sym typeface="Arial"/>
                      </a:endParaRPr>
                    </a:p>
                  </a:txBody>
                  <a:tcPr marT="27432" marB="27432" marR="64008" marL="64008"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bl>
          </a:graphicData>
        </a:graphic>
      </p:graphicFrame>
      <p:pic>
        <p:nvPicPr>
          <p:cNvPr descr="A black background with a black square&#10;&#10;AI-generated content may be incorrect." id="92" name="Google Shape;92;p14"/>
          <p:cNvPicPr preferRelativeResize="0"/>
          <p:nvPr/>
        </p:nvPicPr>
        <p:blipFill rotWithShape="1">
          <a:blip r:embed="rId3">
            <a:alphaModFix/>
          </a:blip>
          <a:srcRect b="0" l="0" r="0" t="0"/>
          <a:stretch/>
        </p:blipFill>
        <p:spPr>
          <a:xfrm>
            <a:off x="182880" y="9144"/>
            <a:ext cx="548640" cy="548640"/>
          </a:xfrm>
          <a:prstGeom prst="rect">
            <a:avLst/>
          </a:prstGeom>
          <a:noFill/>
          <a:ln>
            <a:noFill/>
          </a:ln>
        </p:spPr>
      </p:pic>
      <p:sp>
        <p:nvSpPr>
          <p:cNvPr id="93" name="Google Shape;93;p14"/>
          <p:cNvSpPr txBox="1"/>
          <p:nvPr/>
        </p:nvSpPr>
        <p:spPr>
          <a:xfrm>
            <a:off x="4937760" y="8750808"/>
            <a:ext cx="1737360" cy="2286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800"/>
              <a:buFont typeface="Arial"/>
              <a:buNone/>
            </a:pPr>
            <a:r>
              <a:rPr sz="800"/>
              <a:t>Strictly Confidential</a:t>
            </a:r>
            <a:endParaRPr b="0" i="0" sz="800" u="none" cap="none" strike="noStrike">
              <a:solidFill>
                <a:schemeClr val="dk1"/>
              </a:solidFill>
              <a:latin typeface="Arial"/>
              <a:ea typeface="Arial"/>
              <a:cs typeface="Arial"/>
              <a:sym typeface="Arial"/>
            </a:endParaRPr>
          </a:p>
        </p:txBody>
      </p:sp>
      <p:sp>
        <p:nvSpPr>
          <p:cNvPr id="94" name="Google Shape;94;p14"/>
          <p:cNvSpPr txBox="1"/>
          <p:nvPr/>
        </p:nvSpPr>
        <p:spPr>
          <a:xfrm>
            <a:off x="0" y="0"/>
            <a:ext cx="1" cy="1"/>
          </a:xfrm>
          <a:prstGeom prst="rect">
            <a:avLst/>
          </a:prstGeom>
          <a:solidFill>
            <a:schemeClr val="accent2"/>
          </a:solidFill>
          <a:ln>
            <a:noFill/>
          </a:ln>
        </p:spPr>
        <p:txBody>
          <a:bodyPr anchorCtr="0" anchor="t" bIns="91425" lIns="91425" spcFirstLastPara="1" rIns="91425" wrap="square" tIns="91425">
            <a:noAutofit/>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74320"/>
            <a:ext cx="6217920" cy="457200"/>
          </a:xfrm>
          <a:prstGeom prst="rect">
            <a:avLst/>
          </a:prstGeom>
          <a:noFill/>
        </p:spPr>
        <p:txBody>
          <a:bodyPr wrap="none">
            <a:spAutoFit/>
          </a:bodyPr>
          <a:lstStyle/>
          <a:p>
            <a:r>
              <a:rPr sz="2200" b="1">
                <a:solidFill>
                  <a:srgbClr val="000000"/>
                </a:solidFill>
              </a:rPr>
              <a:t>Sources (1/4)</a:t>
            </a:r>
          </a:p>
        </p:txBody>
      </p:sp>
      <p:sp>
        <p:nvSpPr>
          <p:cNvPr id="3" name="TextBox 2"/>
          <p:cNvSpPr txBox="1"/>
          <p:nvPr/>
        </p:nvSpPr>
        <p:spPr>
          <a:xfrm>
            <a:off x="365760" y="960120"/>
            <a:ext cx="6080760" cy="1124712"/>
          </a:xfrm>
          <a:prstGeom prst="rect">
            <a:avLst/>
          </a:prstGeom>
          <a:noFill/>
        </p:spPr>
        <p:txBody>
          <a:bodyPr wrap="square">
            <a:spAutoFit/>
          </a:bodyPr>
          <a:lstStyle/>
          <a:p>
            <a:r>
              <a:rPr sz="1200" b="1">
                <a:solidFill>
                  <a:srgbClr val="0B5CAB"/>
                </a:solidFill>
                <a:hlinkClick r:id="rId2"/>
              </a:rPr>
              <a:t>1. Historical gathering: source and limitations</a:t>
            </a:r>
          </a:p>
          <a:p>
            <a:r>
              <a:rPr sz="1000">
                <a:solidFill>
                  <a:srgbClr val="000000"/>
                </a:solidFill>
              </a:rPr>
              <a:t>Internal source / workflow provenance.</a:t>
            </a:r>
          </a:p>
          <a:p>
            <a:r>
              <a:rPr sz="800">
                <a:solidFill>
                  <a:srgbClr val="0B5CAB"/>
                </a:solidFill>
                <a:hlinkClick r:id="rId2"/>
              </a:rPr>
              <a:t>brain/trackers/niches/2026-09-14-evidence/historical.txt</a:t>
            </a:r>
          </a:p>
        </p:txBody>
      </p:sp>
      <p:sp>
        <p:nvSpPr>
          <p:cNvPr id="4" name="TextBox 3"/>
          <p:cNvSpPr txBox="1"/>
          <p:nvPr/>
        </p:nvSpPr>
        <p:spPr>
          <a:xfrm>
            <a:off x="365760" y="2185416"/>
            <a:ext cx="6080760" cy="1124712"/>
          </a:xfrm>
          <a:prstGeom prst="rect">
            <a:avLst/>
          </a:prstGeom>
          <a:noFill/>
        </p:spPr>
        <p:txBody>
          <a:bodyPr wrap="square">
            <a:spAutoFit/>
          </a:bodyPr>
          <a:lstStyle/>
          <a:p>
            <a:r>
              <a:rPr sz="1200" b="1">
                <a:solidFill>
                  <a:srgbClr val="0B5CAB"/>
                </a:solidFill>
                <a:hlinkClick r:id="rId3"/>
              </a:rPr>
              <a:t>2. Recent gathering: source coverage</a:t>
            </a:r>
          </a:p>
          <a:p>
            <a:r>
              <a:rPr sz="1000">
                <a:solidFill>
                  <a:srgbClr val="000000"/>
                </a:solidFill>
              </a:rPr>
              <a:t>Internal source / workflow provenance.</a:t>
            </a:r>
          </a:p>
          <a:p>
            <a:r>
              <a:rPr sz="800">
                <a:solidFill>
                  <a:srgbClr val="0B5CAB"/>
                </a:solidFill>
                <a:hlinkClick r:id="rId3"/>
              </a:rPr>
              <a:t>brain/trackers/niches/2026-09-14-evidence/recent.txt</a:t>
            </a:r>
          </a:p>
        </p:txBody>
      </p:sp>
      <p:sp>
        <p:nvSpPr>
          <p:cNvPr id="5" name="TextBox 4"/>
          <p:cNvSpPr txBox="1"/>
          <p:nvPr/>
        </p:nvSpPr>
        <p:spPr>
          <a:xfrm>
            <a:off x="365760" y="3410712"/>
            <a:ext cx="6080760" cy="1124712"/>
          </a:xfrm>
          <a:prstGeom prst="rect">
            <a:avLst/>
          </a:prstGeom>
          <a:noFill/>
        </p:spPr>
        <p:txBody>
          <a:bodyPr wrap="square">
            <a:spAutoFit/>
          </a:bodyPr>
          <a:lstStyle/>
          <a:p>
            <a:r>
              <a:rPr sz="1200" b="1">
                <a:solidFill>
                  <a:srgbClr val="0B5CAB"/>
                </a:solidFill>
                <a:hlinkClick r:id="rId4"/>
              </a:rPr>
              <a:t>3. Six-output synthesis and edge expansion</a:t>
            </a:r>
          </a:p>
          <a:p>
            <a:r>
              <a:rPr sz="1000">
                <a:solidFill>
                  <a:srgbClr val="000000"/>
                </a:solidFill>
              </a:rPr>
              <a:t>Internal source / workflow provenance.</a:t>
            </a:r>
          </a:p>
          <a:p>
            <a:r>
              <a:rPr sz="800">
                <a:solidFill>
                  <a:srgbClr val="0B5CAB"/>
                </a:solidFill>
                <a:hlinkClick r:id="rId4"/>
              </a:rPr>
              <a:t>brain/trackers/niches/2026-09-14-evidence/synthesis.txt</a:t>
            </a:r>
          </a:p>
        </p:txBody>
      </p:sp>
      <p:sp>
        <p:nvSpPr>
          <p:cNvPr id="6" name="TextBox 5"/>
          <p:cNvSpPr txBox="1"/>
          <p:nvPr/>
        </p:nvSpPr>
        <p:spPr>
          <a:xfrm>
            <a:off x="365760" y="4636008"/>
            <a:ext cx="6080760" cy="1124712"/>
          </a:xfrm>
          <a:prstGeom prst="rect">
            <a:avLst/>
          </a:prstGeom>
          <a:noFill/>
        </p:spPr>
        <p:txBody>
          <a:bodyPr wrap="square">
            <a:spAutoFit/>
          </a:bodyPr>
          <a:lstStyle/>
          <a:p>
            <a:r>
              <a:rPr sz="1200" b="1">
                <a:solidFill>
                  <a:srgbClr val="0B5CAB"/>
                </a:solidFill>
                <a:hlinkClick r:id="rId5"/>
              </a:rPr>
              <a:t>4. Gathering chatroom and sequential handoffs</a:t>
            </a:r>
          </a:p>
          <a:p>
            <a:r>
              <a:rPr sz="1000">
                <a:solidFill>
                  <a:srgbClr val="000000"/>
                </a:solidFill>
              </a:rPr>
              <a:t>Internal source / workflow provenance.</a:t>
            </a:r>
          </a:p>
          <a:p>
            <a:r>
              <a:rPr sz="800">
                <a:solidFill>
                  <a:srgbClr val="0B5CAB"/>
                </a:solidFill>
                <a:hlinkClick r:id="rId5"/>
              </a:rPr>
              <a:t>brain/traces/agents/2026-09-14-niche-intelligence.md</a:t>
            </a:r>
          </a:p>
        </p:txBody>
      </p:sp>
      <p:sp>
        <p:nvSpPr>
          <p:cNvPr id="7" name="TextBox 6"/>
          <p:cNvSpPr txBox="1"/>
          <p:nvPr/>
        </p:nvSpPr>
        <p:spPr>
          <a:xfrm>
            <a:off x="365760" y="5861304"/>
            <a:ext cx="6080760" cy="1124712"/>
          </a:xfrm>
          <a:prstGeom prst="rect">
            <a:avLst/>
          </a:prstGeom>
          <a:noFill/>
        </p:spPr>
        <p:txBody>
          <a:bodyPr wrap="square">
            <a:spAutoFit/>
          </a:bodyPr>
          <a:lstStyle/>
          <a:p>
            <a:r>
              <a:rPr sz="1200" b="1">
                <a:solidFill>
                  <a:srgbClr val="0B5CAB"/>
                </a:solidFill>
                <a:hlinkClick r:id="rId6"/>
              </a:rPr>
              <a:t>5. Live Industry Research Tracker</a:t>
            </a:r>
          </a:p>
          <a:p>
            <a:r>
              <a:rPr sz="1000">
                <a:solidFill>
                  <a:srgbClr val="000000"/>
                </a:solidFill>
              </a:rPr>
              <a:t>Fresh four-tab duplicate/lifecycle check; neither proposed niche appears; killed generic BPO remains excluded.</a:t>
            </a:r>
          </a:p>
          <a:p>
            <a:r>
              <a:rPr sz="800">
                <a:solidFill>
                  <a:srgbClr val="0B5CAB"/>
                </a:solidFill>
                <a:hlinkClick r:id="rId6"/>
              </a:rPr>
              <a:t>https://docs.google.com/spreadsheets/d/1vHx4E1tRTR6V3k7NQeHdCrUjDITJVtZA5YPSIFeSins/edit</a:t>
            </a:r>
          </a:p>
        </p:txBody>
      </p:sp>
      <p:sp>
        <p:nvSpPr>
          <p:cNvPr id="8" name="TextBox 7"/>
          <p:cNvSpPr txBox="1"/>
          <p:nvPr/>
        </p:nvSpPr>
        <p:spPr>
          <a:xfrm>
            <a:off x="365760" y="7086600"/>
            <a:ext cx="6080760" cy="1124712"/>
          </a:xfrm>
          <a:prstGeom prst="rect">
            <a:avLst/>
          </a:prstGeom>
          <a:noFill/>
        </p:spPr>
        <p:txBody>
          <a:bodyPr wrap="square">
            <a:spAutoFit/>
          </a:bodyPr>
          <a:lstStyle/>
          <a:p>
            <a:r>
              <a:rPr sz="1200" b="1">
                <a:solidFill>
                  <a:srgbClr val="0B5CAB"/>
                </a:solidFill>
                <a:hlinkClick r:id="rId7"/>
              </a:rPr>
              <a:t>6. USDA ERS robotic-milking adoption</a:t>
            </a:r>
          </a:p>
          <a:p>
            <a:r>
              <a:rPr sz="1000">
                <a:solidFill>
                  <a:srgbClr val="000000"/>
                </a:solidFill>
              </a:rPr>
              <a:t>Published June2 2026 using2016/2021 farm data: robotic systems share of US milk4%→6%;13% adoption for150–499 cow farms in2021. Not a2026 adoption level or service-market CAGR.</a:t>
            </a:r>
          </a:p>
          <a:p>
            <a:r>
              <a:rPr sz="800">
                <a:solidFill>
                  <a:srgbClr val="0B5CAB"/>
                </a:solidFill>
                <a:hlinkClick r:id="rId7"/>
              </a:rPr>
              <a:t>https://ers.usda.gov/data-products/charts-of-note/114194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74320"/>
            <a:ext cx="6217920" cy="457200"/>
          </a:xfrm>
          <a:prstGeom prst="rect">
            <a:avLst/>
          </a:prstGeom>
          <a:noFill/>
        </p:spPr>
        <p:txBody>
          <a:bodyPr wrap="none">
            <a:spAutoFit/>
          </a:bodyPr>
          <a:lstStyle/>
          <a:p>
            <a:r>
              <a:rPr sz="2200" b="1">
                <a:solidFill>
                  <a:srgbClr val="000000"/>
                </a:solidFill>
              </a:rPr>
              <a:t>Sources (2/4)</a:t>
            </a:r>
          </a:p>
        </p:txBody>
      </p:sp>
      <p:sp>
        <p:nvSpPr>
          <p:cNvPr id="3" name="TextBox 2"/>
          <p:cNvSpPr txBox="1"/>
          <p:nvPr/>
        </p:nvSpPr>
        <p:spPr>
          <a:xfrm>
            <a:off x="365760" y="960120"/>
            <a:ext cx="6080760" cy="1124712"/>
          </a:xfrm>
          <a:prstGeom prst="rect">
            <a:avLst/>
          </a:prstGeom>
          <a:noFill/>
        </p:spPr>
        <p:txBody>
          <a:bodyPr wrap="square">
            <a:spAutoFit/>
          </a:bodyPr>
          <a:lstStyle/>
          <a:p>
            <a:r>
              <a:rPr sz="1200" b="1">
                <a:solidFill>
                  <a:srgbClr val="0B5CAB"/>
                </a:solidFill>
                <a:hlinkClick r:id="rId2"/>
              </a:rPr>
              <a:t>7. Lely US center directory and services</a:t>
            </a:r>
          </a:p>
          <a:p>
            <a:r>
              <a:rPr sz="1000">
                <a:solidFill>
                  <a:srgbClr val="000000"/>
                </a:solidFill>
              </a:rPr>
              <a:t>39 listed locations; repeats/branches present, not39 independent companies. Technical services and consumables offered.</a:t>
            </a:r>
          </a:p>
          <a:p>
            <a:r>
              <a:rPr sz="800">
                <a:solidFill>
                  <a:srgbClr val="0B5CAB"/>
                </a:solidFill>
                <a:hlinkClick r:id="rId2"/>
              </a:rPr>
              <a:t>https://www.lelyna.com/us/</a:t>
            </a:r>
          </a:p>
        </p:txBody>
      </p:sp>
      <p:sp>
        <p:nvSpPr>
          <p:cNvPr id="4" name="TextBox 3"/>
          <p:cNvSpPr txBox="1"/>
          <p:nvPr/>
        </p:nvSpPr>
        <p:spPr>
          <a:xfrm>
            <a:off x="365760" y="2185416"/>
            <a:ext cx="6080760" cy="1124712"/>
          </a:xfrm>
          <a:prstGeom prst="rect">
            <a:avLst/>
          </a:prstGeom>
          <a:noFill/>
        </p:spPr>
        <p:txBody>
          <a:bodyPr wrap="square">
            <a:spAutoFit/>
          </a:bodyPr>
          <a:lstStyle/>
          <a:p>
            <a:r>
              <a:rPr sz="1200" b="1">
                <a:solidFill>
                  <a:srgbClr val="0B5CAB"/>
                </a:solidFill>
                <a:hlinkClick r:id="rId3"/>
              </a:rPr>
              <a:t>8. JBZ Dairy Advantage services</a:t>
            </a:r>
          </a:p>
          <a:p>
            <a:r>
              <a:rPr sz="1000">
                <a:solidFill>
                  <a:srgbClr val="000000"/>
                </a:solidFill>
              </a:rPr>
              <a:t>Family-owned DeLaval dealership, VMS robotics and maintenance/route service.</a:t>
            </a:r>
          </a:p>
          <a:p>
            <a:r>
              <a:rPr sz="800">
                <a:solidFill>
                  <a:srgbClr val="0B5CAB"/>
                </a:solidFill>
                <a:hlinkClick r:id="rId3"/>
              </a:rPr>
              <a:t>https://www.jbzdairy.com/</a:t>
            </a:r>
          </a:p>
        </p:txBody>
      </p:sp>
      <p:sp>
        <p:nvSpPr>
          <p:cNvPr id="5" name="TextBox 4"/>
          <p:cNvSpPr txBox="1"/>
          <p:nvPr/>
        </p:nvSpPr>
        <p:spPr>
          <a:xfrm>
            <a:off x="365760" y="3410712"/>
            <a:ext cx="6080760" cy="1124712"/>
          </a:xfrm>
          <a:prstGeom prst="rect">
            <a:avLst/>
          </a:prstGeom>
          <a:noFill/>
        </p:spPr>
        <p:txBody>
          <a:bodyPr wrap="square">
            <a:spAutoFit/>
          </a:bodyPr>
          <a:lstStyle/>
          <a:p>
            <a:r>
              <a:rPr sz="1200" b="1">
                <a:solidFill>
                  <a:srgbClr val="0B5CAB"/>
                </a:solidFill>
                <a:hlinkClick r:id="rId4"/>
              </a:rPr>
              <a:t>9. JBZ locations</a:t>
            </a:r>
          </a:p>
          <a:p>
            <a:r>
              <a:rPr sz="1000">
                <a:solidFill>
                  <a:srgbClr val="000000"/>
                </a:solidFill>
              </a:rPr>
              <a:t>Blue Ball/New Holland and Orangeville PA, count as one firm.</a:t>
            </a:r>
          </a:p>
          <a:p>
            <a:r>
              <a:rPr sz="800">
                <a:solidFill>
                  <a:srgbClr val="0B5CAB"/>
                </a:solidFill>
                <a:hlinkClick r:id="rId4"/>
              </a:rPr>
              <a:t>https://www.jbzdairy.com/contact</a:t>
            </a:r>
          </a:p>
        </p:txBody>
      </p:sp>
      <p:sp>
        <p:nvSpPr>
          <p:cNvPr id="6" name="TextBox 5"/>
          <p:cNvSpPr txBox="1"/>
          <p:nvPr/>
        </p:nvSpPr>
        <p:spPr>
          <a:xfrm>
            <a:off x="365760" y="4636008"/>
            <a:ext cx="6080760" cy="1124712"/>
          </a:xfrm>
          <a:prstGeom prst="rect">
            <a:avLst/>
          </a:prstGeom>
          <a:noFill/>
        </p:spPr>
        <p:txBody>
          <a:bodyPr wrap="square">
            <a:spAutoFit/>
          </a:bodyPr>
          <a:lstStyle/>
          <a:p>
            <a:r>
              <a:rPr sz="1200" b="1">
                <a:solidFill>
                  <a:srgbClr val="0B5CAB"/>
                </a:solidFill>
                <a:hlinkClick r:id="rId5"/>
              </a:rPr>
              <a:t>10. Gorter Clay and Dairy</a:t>
            </a:r>
          </a:p>
          <a:p>
            <a:r>
              <a:rPr sz="1000">
                <a:solidFill>
                  <a:srgbClr val="000000"/>
                </a:solidFill>
              </a:rPr>
              <a:t>Pipestone MN; current named owner Rusty Hartke; robotic maintenance,24/7 emergency and consumable routes.</a:t>
            </a:r>
          </a:p>
          <a:p>
            <a:r>
              <a:rPr sz="800">
                <a:solidFill>
                  <a:srgbClr val="0B5CAB"/>
                </a:solidFill>
                <a:hlinkClick r:id="rId5"/>
              </a:rPr>
              <a:t>https://www.gortersclayanddairy.com/</a:t>
            </a:r>
          </a:p>
        </p:txBody>
      </p:sp>
      <p:sp>
        <p:nvSpPr>
          <p:cNvPr id="7" name="TextBox 6"/>
          <p:cNvSpPr txBox="1"/>
          <p:nvPr/>
        </p:nvSpPr>
        <p:spPr>
          <a:xfrm>
            <a:off x="365760" y="5861304"/>
            <a:ext cx="6080760" cy="1124712"/>
          </a:xfrm>
          <a:prstGeom prst="rect">
            <a:avLst/>
          </a:prstGeom>
          <a:noFill/>
        </p:spPr>
        <p:txBody>
          <a:bodyPr wrap="square">
            <a:spAutoFit/>
          </a:bodyPr>
          <a:lstStyle/>
          <a:p>
            <a:r>
              <a:rPr sz="1200" b="1">
                <a:solidFill>
                  <a:srgbClr val="0B5CAB"/>
                </a:solidFill>
                <a:hlinkClick r:id="rId6"/>
              </a:rPr>
              <a:t>11. Thomson Services</a:t>
            </a:r>
          </a:p>
          <a:p>
            <a:r>
              <a:rPr sz="1000">
                <a:solidFill>
                  <a:srgbClr val="000000"/>
                </a:solidFill>
              </a:rPr>
              <a:t>Family-owned dairy maintenance/installation/supplies, Dublin TX; service plans and40+ farm clients provider claim.</a:t>
            </a:r>
          </a:p>
          <a:p>
            <a:r>
              <a:rPr sz="800">
                <a:solidFill>
                  <a:srgbClr val="0B5CAB"/>
                </a:solidFill>
                <a:hlinkClick r:id="rId6"/>
              </a:rPr>
              <a:t>https://www.thomsonservices.com/supplies</a:t>
            </a:r>
          </a:p>
        </p:txBody>
      </p:sp>
      <p:sp>
        <p:nvSpPr>
          <p:cNvPr id="8" name="TextBox 7"/>
          <p:cNvSpPr txBox="1"/>
          <p:nvPr/>
        </p:nvSpPr>
        <p:spPr>
          <a:xfrm>
            <a:off x="365760" y="7086600"/>
            <a:ext cx="6080760" cy="1124712"/>
          </a:xfrm>
          <a:prstGeom prst="rect">
            <a:avLst/>
          </a:prstGeom>
          <a:noFill/>
        </p:spPr>
        <p:txBody>
          <a:bodyPr wrap="square">
            <a:spAutoFit/>
          </a:bodyPr>
          <a:lstStyle/>
          <a:p>
            <a:r>
              <a:rPr sz="1200" b="1">
                <a:solidFill>
                  <a:srgbClr val="0B5CAB"/>
                </a:solidFill>
                <a:hlinkClick r:id="rId7"/>
              </a:rPr>
              <a:t>12. Lely Center New England</a:t>
            </a:r>
          </a:p>
          <a:p>
            <a:r>
              <a:rPr sz="1000">
                <a:solidFill>
                  <a:srgbClr val="000000"/>
                </a:solidFill>
              </a:rPr>
              <a:t>OEM names owner Paul Godin and regional technician team; milking robots/consumables services; New England location and NY service technician role.</a:t>
            </a:r>
          </a:p>
          <a:p>
            <a:r>
              <a:rPr sz="800">
                <a:solidFill>
                  <a:srgbClr val="0B5CAB"/>
                </a:solidFill>
                <a:hlinkClick r:id="rId7"/>
              </a:rPr>
              <a:t>https://www.lelyna.com/us/centers/new-england/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74320"/>
            <a:ext cx="6217920" cy="457200"/>
          </a:xfrm>
          <a:prstGeom prst="rect">
            <a:avLst/>
          </a:prstGeom>
          <a:noFill/>
        </p:spPr>
        <p:txBody>
          <a:bodyPr wrap="none">
            <a:spAutoFit/>
          </a:bodyPr>
          <a:lstStyle/>
          <a:p>
            <a:r>
              <a:rPr sz="2200" b="1">
                <a:solidFill>
                  <a:srgbClr val="000000"/>
                </a:solidFill>
              </a:rPr>
              <a:t>Sources (3/4)</a:t>
            </a:r>
          </a:p>
        </p:txBody>
      </p:sp>
      <p:sp>
        <p:nvSpPr>
          <p:cNvPr id="3" name="TextBox 2"/>
          <p:cNvSpPr txBox="1"/>
          <p:nvPr/>
        </p:nvSpPr>
        <p:spPr>
          <a:xfrm>
            <a:off x="365760" y="960120"/>
            <a:ext cx="6080760" cy="1124712"/>
          </a:xfrm>
          <a:prstGeom prst="rect">
            <a:avLst/>
          </a:prstGeom>
          <a:noFill/>
        </p:spPr>
        <p:txBody>
          <a:bodyPr wrap="square">
            <a:spAutoFit/>
          </a:bodyPr>
          <a:lstStyle/>
          <a:p>
            <a:r>
              <a:rPr sz="1200" b="1">
                <a:solidFill>
                  <a:srgbClr val="0B5CAB"/>
                </a:solidFill>
                <a:hlinkClick r:id="rId2"/>
              </a:rPr>
              <a:t>13. Progressive Dairy Service and Supplies</a:t>
            </a:r>
          </a:p>
          <a:p>
            <a:r>
              <a:rPr sz="1000">
                <a:solidFill>
                  <a:srgbClr val="000000"/>
                </a:solidFill>
              </a:rPr>
              <a:t>Lely2021 announcement names Tobin Millican founder/owner and Wendell Idaho family-owned dealership. Ownership evidence historical,2026 status unverified.</a:t>
            </a:r>
          </a:p>
          <a:p>
            <a:r>
              <a:rPr sz="800">
                <a:solidFill>
                  <a:srgbClr val="0B5CAB"/>
                </a:solidFill>
                <a:hlinkClick r:id="rId2"/>
              </a:rPr>
              <a:t>https://www.lelylife.com/progressive-dairy-service-supply</a:t>
            </a:r>
          </a:p>
        </p:txBody>
      </p:sp>
      <p:sp>
        <p:nvSpPr>
          <p:cNvPr id="4" name="TextBox 3"/>
          <p:cNvSpPr txBox="1"/>
          <p:nvPr/>
        </p:nvSpPr>
        <p:spPr>
          <a:xfrm>
            <a:off x="365760" y="2185416"/>
            <a:ext cx="6080760" cy="1124712"/>
          </a:xfrm>
          <a:prstGeom prst="rect">
            <a:avLst/>
          </a:prstGeom>
          <a:noFill/>
        </p:spPr>
        <p:txBody>
          <a:bodyPr wrap="square">
            <a:spAutoFit/>
          </a:bodyPr>
          <a:lstStyle/>
          <a:p>
            <a:r>
              <a:rPr sz="1200" b="1">
                <a:solidFill>
                  <a:srgbClr val="0B5CAB"/>
                </a:solidFill>
                <a:hlinkClick r:id="rId3"/>
              </a:rPr>
              <a:t>14. Mid-Atlantic robotic service-agreement pilot</a:t>
            </a:r>
          </a:p>
          <a:p>
            <a:r>
              <a:rPr sz="1000">
                <a:solidFill>
                  <a:srgbClr val="000000"/>
                </a:solidFill>
              </a:rPr>
              <a:t>Provider describes five-farm pilot and flat monthly fee per robot covering maintenance/parts/labor. Mixed crawl/date metadata; do not assert rollout completed.</a:t>
            </a:r>
          </a:p>
          <a:p>
            <a:r>
              <a:rPr sz="800">
                <a:solidFill>
                  <a:srgbClr val="0B5CAB"/>
                </a:solidFill>
                <a:hlinkClick r:id="rId3"/>
              </a:rPr>
              <a:t>https://www.lelycentermidatlantic.com/index.php/2025/08/01/10-minutes-to-better-robot-performance-lely-center-mid-atlantics-daily-checklist/</a:t>
            </a:r>
          </a:p>
        </p:txBody>
      </p:sp>
      <p:sp>
        <p:nvSpPr>
          <p:cNvPr id="5" name="TextBox 4"/>
          <p:cNvSpPr txBox="1"/>
          <p:nvPr/>
        </p:nvSpPr>
        <p:spPr>
          <a:xfrm>
            <a:off x="365760" y="3410712"/>
            <a:ext cx="6080760" cy="1124712"/>
          </a:xfrm>
          <a:prstGeom prst="rect">
            <a:avLst/>
          </a:prstGeom>
          <a:noFill/>
        </p:spPr>
        <p:txBody>
          <a:bodyPr wrap="square">
            <a:spAutoFit/>
          </a:bodyPr>
          <a:lstStyle/>
          <a:p>
            <a:r>
              <a:rPr sz="1200" b="1">
                <a:solidFill>
                  <a:srgbClr val="0B5CAB"/>
                </a:solidFill>
                <a:hlinkClick r:id="rId4"/>
              </a:rPr>
              <a:t>15. Schneider Resources portfolio</a:t>
            </a:r>
          </a:p>
          <a:p>
            <a:r>
              <a:rPr sz="1000">
                <a:solidFill>
                  <a:srgbClr val="000000"/>
                </a:solidFill>
              </a:rPr>
              <a:t>Private investment firm lists Foxland dairy-equipment/service portfolio company; no claim of untouched sector.</a:t>
            </a:r>
          </a:p>
          <a:p>
            <a:r>
              <a:rPr sz="800">
                <a:solidFill>
                  <a:srgbClr val="0B5CAB"/>
                </a:solidFill>
                <a:hlinkClick r:id="rId4"/>
              </a:rPr>
              <a:t>https://schneiderresources.com/</a:t>
            </a:r>
          </a:p>
        </p:txBody>
      </p:sp>
      <p:sp>
        <p:nvSpPr>
          <p:cNvPr id="6" name="TextBox 5"/>
          <p:cNvSpPr txBox="1"/>
          <p:nvPr/>
        </p:nvSpPr>
        <p:spPr>
          <a:xfrm>
            <a:off x="365760" y="4636008"/>
            <a:ext cx="6080760" cy="1124712"/>
          </a:xfrm>
          <a:prstGeom prst="rect">
            <a:avLst/>
          </a:prstGeom>
          <a:noFill/>
        </p:spPr>
        <p:txBody>
          <a:bodyPr wrap="square">
            <a:spAutoFit/>
          </a:bodyPr>
          <a:lstStyle/>
          <a:p>
            <a:r>
              <a:rPr sz="1200" b="1">
                <a:solidFill>
                  <a:srgbClr val="0B5CAB"/>
                </a:solidFill>
                <a:hlinkClick r:id="rId5"/>
              </a:rPr>
              <a:t>16. Historical source newsletter</a:t>
            </a:r>
          </a:p>
          <a:p>
            <a:r>
              <a:rPr sz="1000">
                <a:solidFill>
                  <a:srgbClr val="000000"/>
                </a:solidFill>
              </a:rPr>
              <a:t>Anonymous UT/ID dealer/service listing:2.5M revenue/442888 EBITDA seller claims; do not conflate with named providers or industry margin.</a:t>
            </a:r>
          </a:p>
          <a:p>
            <a:r>
              <a:rPr sz="800">
                <a:solidFill>
                  <a:srgbClr val="0B5CAB"/>
                </a:solidFill>
                <a:hlinkClick r:id="rId5"/>
              </a:rPr>
              <a:t>https://mail.google.com/mail/u/0/#all/19e656820ec74fd6</a:t>
            </a:r>
          </a:p>
        </p:txBody>
      </p:sp>
      <p:sp>
        <p:nvSpPr>
          <p:cNvPr id="7" name="TextBox 6"/>
          <p:cNvSpPr txBox="1"/>
          <p:nvPr/>
        </p:nvSpPr>
        <p:spPr>
          <a:xfrm>
            <a:off x="365760" y="5861304"/>
            <a:ext cx="6080760" cy="1124712"/>
          </a:xfrm>
          <a:prstGeom prst="rect">
            <a:avLst/>
          </a:prstGeom>
          <a:noFill/>
        </p:spPr>
        <p:txBody>
          <a:bodyPr wrap="square">
            <a:spAutoFit/>
          </a:bodyPr>
          <a:lstStyle/>
          <a:p>
            <a:r>
              <a:rPr sz="1200" b="1">
                <a:solidFill>
                  <a:srgbClr val="0B5CAB"/>
                </a:solidFill>
                <a:hlinkClick r:id="rId6"/>
              </a:rPr>
              <a:t>17. Travel-intensive screening preference</a:t>
            </a:r>
          </a:p>
          <a:p>
            <a:r>
              <a:rPr sz="1000">
                <a:solidFill>
                  <a:srgbClr val="000000"/>
                </a:solidFill>
              </a:rPr>
              <a:t>Internal source / workflow provenance.</a:t>
            </a:r>
          </a:p>
          <a:p>
            <a:r>
              <a:rPr sz="800">
                <a:solidFill>
                  <a:srgbClr val="0B5CAB"/>
                </a:solidFill>
                <a:hlinkClick r:id="rId6"/>
              </a:rPr>
              <a:t>memory/feedback_niche_screen_soft_excludes_construction_adjacent_travel.md</a:t>
            </a:r>
          </a:p>
        </p:txBody>
      </p:sp>
      <p:sp>
        <p:nvSpPr>
          <p:cNvPr id="8" name="TextBox 7"/>
          <p:cNvSpPr txBox="1"/>
          <p:nvPr/>
        </p:nvSpPr>
        <p:spPr>
          <a:xfrm>
            <a:off x="365760" y="7086600"/>
            <a:ext cx="6080760" cy="1124712"/>
          </a:xfrm>
          <a:prstGeom prst="rect">
            <a:avLst/>
          </a:prstGeom>
          <a:noFill/>
        </p:spPr>
        <p:txBody>
          <a:bodyPr wrap="square">
            <a:spAutoFit/>
          </a:bodyPr>
          <a:lstStyle/>
          <a:p>
            <a:r>
              <a:rPr sz="1200" b="1">
                <a:solidFill>
                  <a:srgbClr val="0B5CAB"/>
                </a:solidFill>
                <a:hlinkClick r:id="rId7"/>
              </a:rPr>
              <a:t>18. Industry template layout</a:t>
            </a:r>
          </a:p>
          <a:p>
            <a:r>
              <a:rPr sz="1000">
                <a:solidFill>
                  <a:srgbClr val="000000"/>
                </a:solidFill>
              </a:rPr>
              <a:t>Internal source / workflow provenance.</a:t>
            </a:r>
          </a:p>
          <a:p>
            <a:r>
              <a:rPr sz="800">
                <a:solidFill>
                  <a:srgbClr val="0B5CAB"/>
                </a:solidFill>
                <a:hlinkClick r:id="rId7"/>
              </a:rPr>
              <a:t>brain/library/internal/one-pager-template/customs-bonds-template.pptx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74320"/>
            <a:ext cx="6217920" cy="457200"/>
          </a:xfrm>
          <a:prstGeom prst="rect">
            <a:avLst/>
          </a:prstGeom>
          <a:noFill/>
        </p:spPr>
        <p:txBody>
          <a:bodyPr wrap="none">
            <a:spAutoFit/>
          </a:bodyPr>
          <a:lstStyle/>
          <a:p>
            <a:r>
              <a:rPr sz="2200" b="1">
                <a:solidFill>
                  <a:srgbClr val="000000"/>
                </a:solidFill>
              </a:rPr>
              <a:t>Sources (4/4)</a:t>
            </a:r>
          </a:p>
        </p:txBody>
      </p:sp>
      <p:sp>
        <p:nvSpPr>
          <p:cNvPr id="3" name="TextBox 2"/>
          <p:cNvSpPr txBox="1"/>
          <p:nvPr/>
        </p:nvSpPr>
        <p:spPr>
          <a:xfrm>
            <a:off x="365760" y="960120"/>
            <a:ext cx="6080760" cy="1124712"/>
          </a:xfrm>
          <a:prstGeom prst="rect">
            <a:avLst/>
          </a:prstGeom>
          <a:noFill/>
        </p:spPr>
        <p:txBody>
          <a:bodyPr wrap="square">
            <a:spAutoFit/>
          </a:bodyPr>
          <a:lstStyle/>
          <a:p>
            <a:r>
              <a:rPr sz="1200" b="1">
                <a:solidFill>
                  <a:srgbClr val="0B5CAB"/>
                </a:solidFill>
                <a:hlinkClick r:id="rId2"/>
              </a:rPr>
              <a:t>19. Source coverage diagnostics</a:t>
            </a:r>
          </a:p>
          <a:p>
            <a:r>
              <a:rPr sz="1000">
                <a:solidFill>
                  <a:srgbClr val="000000"/>
                </a:solidFill>
              </a:rPr>
              <a:t>Internal source / workflow provenance.</a:t>
            </a:r>
          </a:p>
          <a:p>
            <a:r>
              <a:rPr sz="800">
                <a:solidFill>
                  <a:srgbClr val="0B5CAB"/>
                </a:solidFill>
                <a:hlinkClick r:id="rId2"/>
              </a:rPr>
              <a:t>brain/trackers/niches/2026-09-14-evidence/source-coverage.json</a:t>
            </a:r>
          </a:p>
        </p:txBody>
      </p:sp>
      <p:sp>
        <p:nvSpPr>
          <p:cNvPr id="4" name="TextBox 3"/>
          <p:cNvSpPr txBox="1"/>
          <p:nvPr/>
        </p:nvSpPr>
        <p:spPr>
          <a:xfrm>
            <a:off x="365760" y="8046720"/>
            <a:ext cx="6035040" cy="731520"/>
          </a:xfrm>
          <a:prstGeom prst="rect">
            <a:avLst/>
          </a:prstGeom>
          <a:noFill/>
        </p:spPr>
        <p:txBody>
          <a:bodyPr wrap="none">
            <a:spAutoFit/>
          </a:bodyPr>
          <a:lstStyle/>
          <a:p>
            <a:r>
              <a:rPr sz="900">
                <a:solidFill>
                  <a:srgbClr val="232323"/>
                </a:solidFill>
              </a:rPr>
              <a:t>Scoring: provisional evidence-weighted industry assessment. Missing facts penalized, not asserted adverse facts. Full methodology and criteria in companion scorecard.</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2025-07-18T20:10:07Z</dcterms:created>
  <dc:creator>Jonathan Zylberberg</dc:creator>
</cp:coreProperties>
</file>