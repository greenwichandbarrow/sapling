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11"/>
    <p:sldId id="258" r:id="rId12"/>
    <p:sldId id="259" r:id="rId13"/>
    <p:sldId id="260" r:id="rId14"/>
  </p:sldIdLst>
  <p:sldSz cy="9144000" cx="6858000"/>
  <p:notesSz cx="6858000" cy="9144000"/>
  <p:embeddedFontLst>
    <p:embeddedFont>
      <p:font typeface="Play"/>
      <p:regular r:id="rId8"/>
      <p:bold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0" roundtripDataSignature="AMtx7mhcjH5U044/we/MAG3n+VSwUf8x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0F6FF0B-5A19-4756-B371-CDEA78D29C38}">
  <a:tblStyle styleId="{60F6FF0B-5A19-4756-B371-CDEA78D29C38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fill>
          <a:solidFill>
            <a:srgbClr val="CAD1D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1D8"/>
          </a:solidFill>
        </a:fill>
      </a:tcStyle>
    </a:band1V>
    <a:band2V>
      <a:tcTxStyle b="off" i="off"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Play-regular.fntdata"/><Relationship Id="rId9" Type="http://schemas.openxmlformats.org/officeDocument/2006/relationships/font" Target="fonts/Play-bold.fntdata"/><Relationship Id="rId10" Type="http://customschemas.google.com/relationships/presentationmetadata" Target="metadata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:notes"/>
          <p:cNvSpPr/>
          <p:nvPr>
            <p:ph idx="2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33% of people have set up</a:t>
            </a:r>
            <a:endParaRPr/>
          </a:p>
        </p:txBody>
      </p:sp>
      <p:sp>
        <p:nvSpPr>
          <p:cNvPr id="87" name="Google Shape;8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514350" y="1496484"/>
            <a:ext cx="5829300" cy="31834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857250" y="4802717"/>
            <a:ext cx="5143500" cy="22076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467916" y="2279653"/>
            <a:ext cx="5915025" cy="38036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467916" y="6119286"/>
            <a:ext cx="5915025" cy="2000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71488" y="2434167"/>
            <a:ext cx="2914650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3471863" y="2434167"/>
            <a:ext cx="2914650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72381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72381" y="2241551"/>
            <a:ext cx="2901255" cy="10985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72381" y="3340100"/>
            <a:ext cx="2901255" cy="4912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3471863" y="2241551"/>
            <a:ext cx="2915543" cy="10985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3471863" y="3340100"/>
            <a:ext cx="2915543" cy="4912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472381" y="609600"/>
            <a:ext cx="2211884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2915543" y="1316569"/>
            <a:ext cx="3471863" cy="64981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472381" y="2743200"/>
            <a:ext cx="2211884" cy="5082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472381" y="609600"/>
            <a:ext cx="2211884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/>
          <p:nvPr>
            <p:ph idx="2" type="pic"/>
          </p:nvPr>
        </p:nvSpPr>
        <p:spPr>
          <a:xfrm>
            <a:off x="2915543" y="1316569"/>
            <a:ext cx="3471863" cy="6498167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472381" y="2743200"/>
            <a:ext cx="2211884" cy="5082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 rot="5400000">
            <a:off x="528108" y="2377546"/>
            <a:ext cx="5801784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 rot="5400000">
            <a:off x="1772577" y="3622015"/>
            <a:ext cx="774911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 rot="5400000">
            <a:off x="-1227798" y="2186121"/>
            <a:ext cx="774911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brain/traces/agents/2026-09-07-niche-intelligence.md" TargetMode="External"/><Relationship Id="rId3" Type="http://schemas.openxmlformats.org/officeDocument/2006/relationships/hyperlink" Target="/tmp/niche-intel-2026-09-07-historical/hist-email.md" TargetMode="External"/><Relationship Id="rId4" Type="http://schemas.openxmlformats.org/officeDocument/2006/relationships/hyperlink" Target="/tmp/niche-intel-2026-09-07-identified.json" TargetMode="External"/><Relationship Id="rId5" Type="http://schemas.openxmlformats.org/officeDocument/2006/relationships/hyperlink" Target="https://netadev.netaworld.org/accreditation/overview" TargetMode="External"/><Relationship Id="rId6" Type="http://schemas.openxmlformats.org/officeDocument/2006/relationships/hyperlink" Target="https://netaworldjournal.org/wp-content/uploads/2026/04/NWJ-spring-2026.pdf" TargetMode="External"/><Relationship Id="rId7" Type="http://schemas.openxmlformats.org/officeDocument/2006/relationships/hyperlink" Target="https://netaworldjournal.org/wp-content/uploads/2026/05/NETA-World-SM26_FINAL.pdf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netaworldjournal.org/wp-content/uploads/2025/11/NETA-World_FL25.pdf" TargetMode="External"/><Relationship Id="rId3" Type="http://schemas.openxmlformats.org/officeDocument/2006/relationships/hyperlink" Target="https://afelectricaltesting.com/" TargetMode="External"/><Relationship Id="rId4" Type="http://schemas.openxmlformats.org/officeDocument/2006/relationships/hyperlink" Target="https://www.apparatustesting.com/" TargetMode="External"/><Relationship Id="rId5" Type="http://schemas.openxmlformats.org/officeDocument/2006/relationships/hyperlink" Target="https://www.highvolt.com/en/ats" TargetMode="External"/><Relationship Id="rId6" Type="http://schemas.openxmlformats.org/officeDocument/2006/relationships/hyperlink" Target="https://www.gryphon-inv.com/news/gryphon-investors-to-sell-shermco-to-blackstone-in-1-6-billion-transaction/" TargetMode="External"/><Relationship Id="rId7" Type="http://schemas.openxmlformats.org/officeDocument/2006/relationships/hyperlink" Target="https://www.eia.gov/todayinenergy/detail.php?id=67344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expertmarketresearch.com/reports/north-america-electrical-testing-services-market" TargetMode="External"/><Relationship Id="rId3" Type="http://schemas.openxmlformats.org/officeDocument/2006/relationships/hyperlink" Target="https://mail.google.com/mail/u/0/#all/1a01bd7b7605d215" TargetMode="External"/><Relationship Id="rId4" Type="http://schemas.openxmlformats.org/officeDocument/2006/relationships/hyperlink" Target="/tmp/niche-intel-2026-09-07-deliverables/electrical-power-reliability-testing/prior-sept1.pptx" TargetMode="External"/><Relationship Id="rId5" Type="http://schemas.openxmlformats.org/officeDocument/2006/relationships/hyperlink" Target=".agents/skills/niche-intelligence/references/one-pager-template.md" TargetMode="External"/><Relationship Id="rId6" Type="http://schemas.openxmlformats.org/officeDocument/2006/relationships/hyperlink" Target="brain/library/internal/one-pager-template/customs-bonds-template.pptx" TargetMode="External"/><Relationship Id="rId7" Type="http://schemas.openxmlformats.org/officeDocument/2006/relationships/hyperlink" Target="https://docs.google.com/spreadsheets/d/1vHx4E1tRTR6V3k7NQeHdCrUjDITJVtZA5YPSIFeSins/edit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rive.google.com/file/d/1RUQtRHyZeM5O1OU3UZXzVHNqjLuhQZMy/view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" name="Google Shape;89;p14"/>
          <p:cNvCxnSpPr/>
          <p:nvPr/>
        </p:nvCxnSpPr>
        <p:spPr>
          <a:xfrm>
            <a:off x="914400" y="566928"/>
            <a:ext cx="5669280" cy="0"/>
          </a:xfrm>
          <a:prstGeom prst="straightConnector1">
            <a:avLst/>
          </a:prstGeom>
          <a:noFill/>
          <a:ln cap="flat" cmpd="sng" w="9525">
            <a:solidFill>
              <a:srgbClr val="C49B77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0" name="Google Shape;90;p14"/>
          <p:cNvCxnSpPr/>
          <p:nvPr/>
        </p:nvCxnSpPr>
        <p:spPr>
          <a:xfrm>
            <a:off x="137160" y="8641080"/>
            <a:ext cx="6583680" cy="0"/>
          </a:xfrm>
          <a:prstGeom prst="straightConnector1">
            <a:avLst/>
          </a:prstGeom>
          <a:noFill/>
          <a:ln cap="flat" cmpd="sng" w="9525">
            <a:solidFill>
              <a:srgbClr val="C49B77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91" name="Google Shape;91;p14"/>
          <p:cNvGraphicFramePr/>
          <p:nvPr/>
        </p:nvGraphicFramePr>
        <p:xfrm>
          <a:off x="137160" y="777240"/>
          <a:ext cx="6583680" cy="7699247"/>
        </p:xfrm>
        <a:graphic>
          <a:graphicData uri="http://schemas.openxmlformats.org/drawingml/2006/table">
            <a:tbl>
              <a:tblPr bandRow="1" firstRow="1">
                <a:noFill/>
                <a:tableStyleId>{60F6FF0B-5A19-4756-B371-CDEA78D29C38}</a:tableStyleId>
              </a:tblPr>
              <a:tblGrid>
                <a:gridCol w="3291840"/>
                <a:gridCol w="3291840"/>
              </a:tblGrid>
              <a:tr h="402336">
                <a:tc gridSpan="2">
                  <a:txBody>
                    <a:bodyPr wrap="square" lIns="64008" rIns="64008" tIns="36576" bIns="27432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</a:rPr>
                        <a:t>Power Reliability Testing | September 2026</a:t>
                      </a:r>
                      <a:endParaRPr sz="1400" u="none" cap="none" strike="noStrike"/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292608">
                <a:tc>
                  <a:txBody>
                    <a:bodyPr wrap="square" lIns="64008" rIns="64008" tIns="36576" bIns="27432"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Assessment: 1.91 / 3.0 (64%)</a:t>
                      </a:r>
                    </a:p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Initial screen incomplete; analyst review.</a:t>
                      </a:r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 lIns="64008" rIns="64008" tIns="36576" bIns="27432"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Status: Research | Scored</a:t>
                      </a:r>
                    </a:p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Initial screen incomplete</a:t>
                      </a:r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9456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Industry Overview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859536">
                <a:tc gridSpan="2">
                  <a:txBody>
                    <a:bodyPr wrap="square" lIns="64008" rIns="64008" tIns="36576" bIns="27432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Independent testing and preventive reliability services for installed commercial/industrial power systems: transformers, switchgear, protection relays and fault diagnostics. Excludes utilities ownership, construction-led contractors and equipment sales. Broader North America electrical-testing proxy: $2.66B (2025), 6.5% forecast CAGR (2026–35). Exact US service-only niche TAM remains UNKNOWN.</a:t>
                      </a:r>
                      <a:endParaRPr sz="1000"/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219456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Industry Thesis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621792">
                <a:tc gridSpan="2">
                  <a:txBody>
                    <a:bodyPr wrap="square" lIns="64008" rIns="64008" tIns="36576" bIns="27432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Specialists sell documented equipment condition and uptime protection. Accreditation, trained technicians and equipment-history continuity can support repeat work and switching friction. Regional provider examples exist; independent ownership, scalable supply and sustained margins remain unproven.</a:t>
                      </a:r>
                      <a:r>
                        <a:rPr lang="en-US" sz="1000" u="none" cap="none" strike="noStrike">
                          <a:highlight>
                            <a:srgbClr val="FFFF00"/>
                          </a:highlight>
                        </a:rPr>
                        <a:t/>
                      </a:r>
                      <a:r>
                        <a:rPr lang="en-US" sz="1000" u="none" cap="none" strike="noStrike"/>
                        <a:t/>
                      </a:r>
                      <a:r>
                        <a:rPr lang="en-US" sz="1000"/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0"/>
                            </a:ext>
                          </a:extLst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1"/>
                            </a:ext>
                          </a:extLst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2"/>
                            </a:ext>
                          </a:extLst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219456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Macro Trends &amp; Growth Drivers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Risks &amp; Concerns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05840">
                <a:tc>
                  <a:txBody>
                    <a:bodyPr wrap="square" lIns="64008" rIns="64008" tIns="36576" bIns="27432"/>
                    <a:lstStyle/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EIA: US electricity load rose ~1.7% annually in 2020–25; data centers and industrial electrification add demand. Complex installed systems need inspection, relay calibration and records. Hypothesis: uptime risk translates into repeat service spend, not only new-project commissioning.</a:t>
                      </a: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 lIns="64008" rIns="64008" tIns="36576" bIns="27432"/>
                    <a:lstStyle/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High-voltage liability; scarce technicians; calibrated equipment investment; shutdown scheduling and emergency dispatch. Substantial PE competition. A&amp;F discloses IBEW agreements: verify labor obligations. Maintenance share and founder dependence need diligence.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Economics &amp; Pricing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Competitive Landscape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05840">
                <a:tc>
                  <a:txBody>
                    <a:bodyPr wrap="square" lIns="64008" rIns="64008" tIns="36576" bIns="27432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Scheduled testing/maintenance, studies and emergency response; commissioning may be project-driven. Contract share, typical pricing and industry EBITDA are UNKNOWN. Aug19 seller teaser: $6.1M revenue/$3.5M normalized EBITDA (~57.4%); exceptional, unverified and not representative.</a:t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 lIns="64008" rIns="64008" tIns="36576" bIns="27432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Five observed firms: A&amp;F (NY), Apparatus (CA), 1 Test (MA), 360 Electrical (FL), 51 Power (TX). Accreditation does not prove non-PE equity. Shermco and acquired ATS/HIGHVOLT are comps, excluded from independent supply. 50+ buy-box targets not established.</a:t>
                      </a:r>
                      <a:r>
                        <a:rPr lang="en-US" sz="1000"/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Customers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Barriers to Entry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49808">
                <a:tc>
                  <a:txBody>
                    <a:bodyPr wrap="square" lIns="64008" rIns="64008" tIns="36576" bIns="27432"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Commercial/industrial facilities with costly downtime. Value: identify deterioration and document maintenance. NY examples offer G&amp;B geographic relevance; technical operating expertise and warm specialist access are unverified.</a:t>
                      </a:r>
                      <a:r>
                        <a:rPr lang="en-US" sz="1000"/>
                        <a:t/>
                      </a:r>
                      <a:r>
                        <a:rPr lang="en-US" sz="1000"/>
                        <a:t/>
                      </a:r>
                      <a:endParaRPr sz="1000"/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 lIns="64008" rIns="64008" tIns="36576" bIns="27432"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Qualified technicians, calibrated instruments and safety discipline. Apparatus documents NETA staff and NIST-traceable calibration. Hypothesis: trust, equipment records and response density support retention; durability not measured.</a:t>
                      </a:r>
                      <a:endParaRPr sz="1000"/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9456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Key Success Factors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704088">
                <a:tc>
                  <a:txBody>
                    <a:bodyPr wrap="square" lIns="64008" rIns="64008" tIns="36576" bIns="27432"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Retain technical leadership; validate safety and credentials. Separate repeat maintenance from construction/equipment pass-through. Price labor, travel and shutdown windows accurately.</a:t>
                      </a:r>
                      <a:endParaRPr sz="1000"/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 lIns="64008" rIns="64008" tIns="36576" bIns="27432"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Track repeat cohorts and backlog. Standardize reporting. Count firms, not branches. Confirm whether 15%+ EBITDA survives management replacement and labor obligations.</a:t>
                      </a:r>
                      <a:endParaRPr sz="1000"/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9456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Exit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521207">
                <a:tc gridSpan="2">
                  <a:txBody>
                    <a:bodyPr wrap="square" lIns="64008" rIns="64008" tIns="36576" bIns="27432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Potential exit: larger testing/services platforms. Gryphon announced Shermco’s $1.6B sale to Blackstone in Aug2025; ATS joined HIGHVOLT in 2022. Consolidation evidence, not buyer commitments or target availability.</a:t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</a:tbl>
          </a:graphicData>
        </a:graphic>
      </p:graphicFrame>
      <p:pic>
        <p:nvPicPr>
          <p:cNvPr descr="A black background with a black square&#10;&#10;AI-generated content may be incorrect.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458" y="-6321"/>
            <a:ext cx="678789" cy="67878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 rot="-5400000">
            <a:off x="4937760" y="8778240"/>
            <a:ext cx="173736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Strictly Confidential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960120" y="91440"/>
            <a:ext cx="5577840" cy="411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1000">
                <a:solidFill>
                  <a:srgbClr val="464646"/>
                </a:solidFill>
              </a:rPr>
              <a:t>G&amp;B INDUSTRY RESEARCH | Operating date: 7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/>
              <a:t>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41248"/>
            <a:ext cx="6126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/>
              <a:t>Independent Electrical Power-System Testing and Preventive Reliability Services for Commercial and Industrial Facilities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45920"/>
            <a:ext cx="6126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5CAB"/>
                </a:solidFill>
                <a:hlinkClick r:id="rId2"/>
              </a:rPr>
              <a:t>1. Gathering: Current chatroom</a:t>
            </a:r>
          </a:p>
          <a:p>
            <a:r>
              <a:rPr sz="900">
                <a:solidFill>
                  <a:srgbClr val="3C3C3C"/>
                </a:solidFill>
              </a:rPr>
              <a:t>Gathering/synthesis evidence</a:t>
            </a:r>
          </a:p>
          <a:p>
            <a:r>
              <a:rPr sz="900">
                <a:solidFill>
                  <a:srgbClr val="3C3C3C"/>
                </a:solidFill>
                <a:hlinkClick r:id="rId2"/>
              </a:rPr>
              <a:t>brain/traces/agents/2026-09-07-niche-intelligence.md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679191"/>
            <a:ext cx="6126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5CAB"/>
                </a:solidFill>
                <a:hlinkClick r:id="rId3"/>
              </a:rPr>
              <a:t>2. Gathering: Historical email specialist</a:t>
            </a:r>
          </a:p>
          <a:p>
            <a:r>
              <a:rPr sz="900">
                <a:solidFill>
                  <a:srgbClr val="3C3C3C"/>
                </a:solidFill>
              </a:rPr>
              <a:t>Seller signal and limitations</a:t>
            </a:r>
          </a:p>
          <a:p>
            <a:r>
              <a:rPr sz="900">
                <a:solidFill>
                  <a:srgbClr val="3C3C3C"/>
                </a:solidFill>
                <a:hlinkClick r:id="rId3"/>
              </a:rPr>
              <a:t>/tmp/niche-intel-2026-09-07-historical/hist-email.md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712463"/>
            <a:ext cx="6126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5CAB"/>
                </a:solidFill>
                <a:hlinkClick r:id="rId4"/>
              </a:rPr>
              <a:t>3. Gathering: Identifier validation</a:t>
            </a:r>
          </a:p>
          <a:p>
            <a:r>
              <a:rPr sz="900">
                <a:solidFill>
                  <a:srgbClr val="3C3C3C"/>
                </a:solidFill>
              </a:rPr>
              <a:t>Narrow scope and explicit unknowns</a:t>
            </a:r>
          </a:p>
          <a:p>
            <a:r>
              <a:rPr sz="900">
                <a:solidFill>
                  <a:srgbClr val="3C3C3C"/>
                </a:solidFill>
                <a:hlinkClick r:id="rId4"/>
              </a:rPr>
              <a:t>/tmp/niche-intel-2026-09-07-identified.json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745736"/>
            <a:ext cx="6126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5CAB"/>
                </a:solidFill>
                <a:hlinkClick r:id="rId5"/>
              </a:rPr>
              <a:t>4. External research: NETA accreditation</a:t>
            </a:r>
          </a:p>
          <a:p>
            <a:r>
              <a:rPr sz="900">
                <a:solidFill>
                  <a:srgbClr val="3C3C3C"/>
                </a:solidFill>
              </a:rPr>
              <a:t>Third-party testing/maintenance company standards, not PE ownership certification</a:t>
            </a:r>
          </a:p>
          <a:p>
            <a:r>
              <a:rPr sz="900">
                <a:solidFill>
                  <a:srgbClr val="3C3C3C"/>
                </a:solidFill>
                <a:hlinkClick r:id="rId5"/>
              </a:rPr>
              <a:t>https://netadev.netaworld.org/accreditation/overview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779007"/>
            <a:ext cx="6126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5CAB"/>
                </a:solidFill>
                <a:hlinkClick r:id="rId6"/>
              </a:rPr>
              <a:t>5. External research: NETA Spring2026 directory</a:t>
            </a:r>
          </a:p>
          <a:p>
            <a:r>
              <a:rPr sz="900">
                <a:solidFill>
                  <a:srgbClr val="3C3C3C"/>
                </a:solidFill>
              </a:rPr>
              <a:t>Named firms and branches</a:t>
            </a:r>
          </a:p>
          <a:p>
            <a:r>
              <a:rPr sz="900">
                <a:solidFill>
                  <a:srgbClr val="3C3C3C"/>
                </a:solidFill>
                <a:hlinkClick r:id="rId6"/>
              </a:rPr>
              <a:t>https://netaworldjournal.org/wp-content/uploads/2026/04/NWJ-spring-2026.pdf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812279"/>
            <a:ext cx="6126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5CAB"/>
                </a:solidFill>
                <a:hlinkClick r:id="rId7"/>
              </a:rPr>
              <a:t>6. External research: NETA Summer2026 directory</a:t>
            </a:r>
          </a:p>
          <a:p>
            <a:r>
              <a:rPr sz="900">
                <a:solidFill>
                  <a:srgbClr val="3C3C3C"/>
                </a:solidFill>
              </a:rPr>
              <a:t>Named firms/locations</a:t>
            </a:r>
          </a:p>
          <a:p>
            <a:r>
              <a:rPr sz="900">
                <a:solidFill>
                  <a:srgbClr val="3C3C3C"/>
                </a:solidFill>
                <a:hlinkClick r:id="rId7"/>
              </a:rPr>
              <a:t>https://netaworldjournal.org/wp-content/uploads/2026/05/NETA-World-SM26_FINAL.pdf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503920"/>
            <a:ext cx="6126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/>
              <a:t>Accessed 8 September 2026 recovery. Undated pages may have changed; historical claims labeled.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/>
              <a:t>Sources (continued)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41248"/>
            <a:ext cx="6126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/>
              <a:t>Independent Electrical Power-System Testing and Preventive Reliability Services for Commercial and Industrial Facilities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45920"/>
            <a:ext cx="6126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5CAB"/>
                </a:solidFill>
                <a:hlinkClick r:id="rId2"/>
              </a:rPr>
              <a:t>7. External research: NETA Fall2025 directory</a:t>
            </a:r>
          </a:p>
          <a:p>
            <a:r>
              <a:rPr sz="900">
                <a:solidFill>
                  <a:srgbClr val="3C3C3C"/>
                </a:solidFill>
              </a:rPr>
              <a:t>51 Power Services location/provider evidence</a:t>
            </a:r>
          </a:p>
          <a:p>
            <a:r>
              <a:rPr sz="900">
                <a:solidFill>
                  <a:srgbClr val="3C3C3C"/>
                </a:solidFill>
                <a:hlinkClick r:id="rId2"/>
              </a:rPr>
              <a:t>https://netaworldjournal.org/wp-content/uploads/2025/11/NETA-World_FL25.pdf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679191"/>
            <a:ext cx="6126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5CAB"/>
                </a:solidFill>
                <a:hlinkClick r:id="rId3"/>
              </a:rPr>
              <a:t>8. External research: A&amp;F</a:t>
            </a:r>
          </a:p>
          <a:p>
            <a:r>
              <a:rPr sz="900">
                <a:solidFill>
                  <a:srgbClr val="3C3C3C"/>
                </a:solidFill>
              </a:rPr>
              <a:t>Independent testing since1995; preventive offerings</a:t>
            </a:r>
          </a:p>
          <a:p>
            <a:r>
              <a:rPr sz="900">
                <a:solidFill>
                  <a:srgbClr val="3C3C3C"/>
                </a:solidFill>
                <a:hlinkClick r:id="rId3"/>
              </a:rPr>
              <a:t>https://afelectricaltesting.com/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712463"/>
            <a:ext cx="6126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5CAB"/>
                </a:solidFill>
                <a:hlinkClick r:id="rId4"/>
              </a:rPr>
              <a:t>9. External research: Apparatus</a:t>
            </a:r>
          </a:p>
          <a:p>
            <a:r>
              <a:rPr sz="900">
                <a:solidFill>
                  <a:srgbClr val="3C3C3C"/>
                </a:solidFill>
              </a:rPr>
              <a:t>Since1983, testing/maintenance</a:t>
            </a:r>
          </a:p>
          <a:p>
            <a:r>
              <a:rPr sz="900">
                <a:solidFill>
                  <a:srgbClr val="3C3C3C"/>
                </a:solidFill>
                <a:hlinkClick r:id="rId4"/>
              </a:rPr>
              <a:t>https://www.apparatustesting.com/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745736"/>
            <a:ext cx="6126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5CAB"/>
                </a:solidFill>
                <a:hlinkClick r:id="rId5"/>
              </a:rPr>
              <a:t>10. External research: ATS HIGHVOLT</a:t>
            </a:r>
          </a:p>
          <a:p>
            <a:r>
              <a:rPr sz="900">
                <a:solidFill>
                  <a:srgbClr val="3C3C3C"/>
                </a:solidFill>
              </a:rPr>
              <a:t>ATS belongs to HIGHVOLT since2022; acquired comp exclusion</a:t>
            </a:r>
          </a:p>
          <a:p>
            <a:r>
              <a:rPr sz="900">
                <a:solidFill>
                  <a:srgbClr val="3C3C3C"/>
                </a:solidFill>
                <a:hlinkClick r:id="rId5"/>
              </a:rPr>
              <a:t>https://www.highvolt.com/en/ats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779007"/>
            <a:ext cx="6126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5CAB"/>
                </a:solidFill>
                <a:hlinkClick r:id="rId6"/>
              </a:rPr>
              <a:t>11. External research: Gryphon Shermco sale</a:t>
            </a:r>
          </a:p>
          <a:p>
            <a:r>
              <a:rPr sz="900">
                <a:solidFill>
                  <a:srgbClr val="3C3C3C"/>
                </a:solidFill>
              </a:rPr>
              <a:t>Aug21 2025 $1.6B deal,600+NETA technicians/40service centers are platform scale not targets</a:t>
            </a:r>
          </a:p>
          <a:p>
            <a:r>
              <a:rPr sz="900">
                <a:solidFill>
                  <a:srgbClr val="3C3C3C"/>
                </a:solidFill>
                <a:hlinkClick r:id="rId6"/>
              </a:rPr>
              <a:t>https://www.gryphon-inv.com/news/gryphon-investors-to-sell-shermco-to-blackstone-in-1-6-billion-transaction/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812279"/>
            <a:ext cx="6126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5CAB"/>
                </a:solidFill>
                <a:hlinkClick r:id="rId7"/>
              </a:rPr>
              <a:t>12. External research: EIA demand analysis</a:t>
            </a:r>
          </a:p>
          <a:p>
            <a:r>
              <a:rPr sz="900">
                <a:solidFill>
                  <a:srgbClr val="3C3C3C"/>
                </a:solidFill>
              </a:rPr>
              <a:t>Mar12 2026 electricity-load trend; not service CAGR</a:t>
            </a:r>
          </a:p>
          <a:p>
            <a:r>
              <a:rPr sz="900">
                <a:solidFill>
                  <a:srgbClr val="3C3C3C"/>
                </a:solidFill>
                <a:hlinkClick r:id="rId7"/>
              </a:rPr>
              <a:t>https://www.eia.gov/todayinenergy/detail.php?id=67344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503920"/>
            <a:ext cx="6126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/>
              <a:t>Accessed 8 September 2026 recovery. Undated pages may have changed; historical claims labeled.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/>
              <a:t>Sources (continued)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41248"/>
            <a:ext cx="6126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/>
              <a:t>Independent Electrical Power-System Testing and Preventive Reliability Services for Commercial and Industrial Facilities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45920"/>
            <a:ext cx="6126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5CAB"/>
                </a:solidFill>
                <a:hlinkClick r:id="rId2"/>
              </a:rPr>
              <a:t>13. External research: EMR original research</a:t>
            </a:r>
          </a:p>
          <a:p>
            <a:r>
              <a:rPr sz="900">
                <a:solidFill>
                  <a:srgbClr val="3C3C3C"/>
                </a:solidFill>
              </a:rPr>
              <a:t>Broader North America $2.66B2025/6.5% forecast proxy; narrow TAM unknown</a:t>
            </a:r>
          </a:p>
          <a:p>
            <a:r>
              <a:rPr sz="900">
                <a:solidFill>
                  <a:srgbClr val="3C3C3C"/>
                </a:solidFill>
                <a:hlinkClick r:id="rId2"/>
              </a:rPr>
              <a:t>https://www.expertmarketresearch.com/reports/north-america-electrical-testing-services-market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679191"/>
            <a:ext cx="6126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5CAB"/>
                </a:solidFill>
                <a:hlinkClick r:id="rId3"/>
              </a:rPr>
              <a:t>14. External research: Historical seller signal</a:t>
            </a:r>
          </a:p>
          <a:p>
            <a:r>
              <a:rPr sz="900">
                <a:solidFill>
                  <a:srgbClr val="3C3C3C"/>
                </a:solidFill>
              </a:rPr>
              <a:t>Aug19 seller metrics unverified</a:t>
            </a:r>
          </a:p>
          <a:p>
            <a:r>
              <a:rPr sz="900">
                <a:solidFill>
                  <a:srgbClr val="3C3C3C"/>
                </a:solidFill>
                <a:hlinkClick r:id="rId3"/>
              </a:rPr>
              <a:t>https://mail.google.com/mail/u/0/#all/1a01bd7b7605d215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712463"/>
            <a:ext cx="6126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5CAB"/>
                </a:solidFill>
                <a:hlinkClick r:id="rId4"/>
              </a:rPr>
              <a:t>15. Internal: Prior Sept1 PPTX backup</a:t>
            </a:r>
          </a:p>
          <a:p>
            <a:r>
              <a:rPr sz="900">
                <a:solidFill>
                  <a:srgbClr val="3C3C3C"/>
                </a:solidFill>
              </a:rPr>
              <a:t>Preserved prior research; same Drive identity</a:t>
            </a:r>
          </a:p>
          <a:p>
            <a:r>
              <a:rPr sz="900">
                <a:solidFill>
                  <a:srgbClr val="3C3C3C"/>
                </a:solidFill>
                <a:hlinkClick r:id="rId4"/>
              </a:rPr>
              <a:t>/tmp/niche-intel-2026-09-07-deliverables/electrical-power-reliability-testing/prior-sept1.pptx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745736"/>
            <a:ext cx="6126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5CAB"/>
                </a:solidFill>
                <a:hlinkClick r:id="rId5"/>
              </a:rPr>
              <a:t>16. Internal: One-pager template reference</a:t>
            </a:r>
          </a:p>
          <a:p>
            <a:r>
              <a:rPr sz="900">
                <a:solidFill>
                  <a:srgbClr val="3C3C3C"/>
                </a:solidFill>
              </a:rPr>
              <a:t>Structure/source contract</a:t>
            </a:r>
          </a:p>
          <a:p>
            <a:r>
              <a:rPr sz="900">
                <a:solidFill>
                  <a:srgbClr val="3C3C3C"/>
                </a:solidFill>
                <a:hlinkClick r:id="rId5"/>
              </a:rPr>
              <a:t>.agents/skills/niche-intelligence/references/one-pager-template.md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779007"/>
            <a:ext cx="6126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5CAB"/>
                </a:solidFill>
                <a:hlinkClick r:id="rId6"/>
              </a:rPr>
              <a:t>17. Internal: Template asset</a:t>
            </a:r>
          </a:p>
          <a:p>
            <a:r>
              <a:rPr sz="900">
                <a:solidFill>
                  <a:srgbClr val="3C3C3C"/>
                </a:solidFill>
              </a:rPr>
              <a:t>Six original shapes and branded table</a:t>
            </a:r>
          </a:p>
          <a:p>
            <a:r>
              <a:rPr sz="900">
                <a:solidFill>
                  <a:srgbClr val="3C3C3C"/>
                </a:solidFill>
                <a:hlinkClick r:id="rId6"/>
              </a:rPr>
              <a:t>brain/library/internal/one-pager-template/customs-bonds-template.pptx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812279"/>
            <a:ext cx="6126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5CAB"/>
                </a:solidFill>
                <a:hlinkClick r:id="rId7"/>
              </a:rPr>
              <a:t>18. Data pulls: Live Industry Research Tracker</a:t>
            </a:r>
          </a:p>
          <a:p>
            <a:r>
              <a:rPr sz="900">
                <a:solidFill>
                  <a:srgbClr val="3C3C3C"/>
                </a:solidFill>
              </a:rPr>
              <a:t>Semantic dedup; no activation</a:t>
            </a:r>
          </a:p>
          <a:p>
            <a:r>
              <a:rPr sz="900">
                <a:solidFill>
                  <a:srgbClr val="3C3C3C"/>
                </a:solidFill>
                <a:hlinkClick r:id="rId7"/>
              </a:rPr>
              <a:t>https://docs.google.com/spreadsheets/d/1vHx4E1tRTR6V3k7NQeHdCrUjDITJVtZA5YPSIFeSins/edit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503920"/>
            <a:ext cx="6126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/>
              <a:t>Accessed 8 September 2026 recovery. Undated pages may have changed; historical claims labeled.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5852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400"/>
              <a:t>Sources: Industry Scoring</a:t>
            </a:r>
          </a:p>
          <a:p>
            <a:r>
              <a:rPr sz="1400"/>
              <a:t>Industry score 1.91 / 3.0 (64%). Initial screen remains incomplete.</a:t>
            </a:r>
          </a:p>
          <a:p>
            <a:r>
              <a:rPr sz="1400"/>
              <a:t>Actual eight-group G&amp;B INDUSTRY template; ratings +=3, +/-=2, -=1. Unknown empirical metrics assigned conservative 1 uncertainty penalty, not asserted adverse facts; unknown qualitative judgments generally 2. Target TAM excluded. Weighted average /3. Original category/total formulas retained; numeric rating inputs replace SWITCH and deterministic XML caches verified with openpyxl data_only. No initial-screen certification.</a:t>
            </a:r>
          </a:p>
          <a:p>
            <a:r>
              <a:rPr sz="1400">
                <a:hlinkClick r:id="rId2"/>
              </a:rPr>
              <a:t>Workbook: https://drive.google.com/file/d/1RUQtRHyZeM5O1OU3UZXzVHNqjLuhQZMy/view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2025-07-18T20:10:07Z</dcterms:created>
  <dc:creator>Jonathan Zylberberg</dc:creator>
</cp:coreProperties>
</file>