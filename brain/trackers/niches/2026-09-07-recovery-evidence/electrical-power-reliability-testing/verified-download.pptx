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11"/>
    <p:sldId id="258" r:id="rId12"/>
    <p:sldId id="259" r:id="rId13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rain/traces/agents/2026-09-07-niche-intelligence.md" TargetMode="External"/><Relationship Id="rId3" Type="http://schemas.openxmlformats.org/officeDocument/2006/relationships/hyperlink" Target="/tmp/niche-intel-2026-09-07-historical/hist-email.md" TargetMode="External"/><Relationship Id="rId4" Type="http://schemas.openxmlformats.org/officeDocument/2006/relationships/hyperlink" Target="/tmp/niche-intel-2026-09-07-identified.json" TargetMode="External"/><Relationship Id="rId5" Type="http://schemas.openxmlformats.org/officeDocument/2006/relationships/hyperlink" Target="https://netadev.netaworld.org/accreditation/overview" TargetMode="External"/><Relationship Id="rId6" Type="http://schemas.openxmlformats.org/officeDocument/2006/relationships/hyperlink" Target="https://netaworldjournal.org/wp-content/uploads/2026/04/NWJ-spring-2026.pdf" TargetMode="External"/><Relationship Id="rId7" Type="http://schemas.openxmlformats.org/officeDocument/2006/relationships/hyperlink" Target="https://netaworldjournal.org/wp-content/uploads/2026/05/NETA-World-SM26_FINAL.pdf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taworldjournal.org/wp-content/uploads/2025/11/NETA-World_FL25.pdf" TargetMode="External"/><Relationship Id="rId3" Type="http://schemas.openxmlformats.org/officeDocument/2006/relationships/hyperlink" Target="https://afelectricaltesting.com/" TargetMode="External"/><Relationship Id="rId4" Type="http://schemas.openxmlformats.org/officeDocument/2006/relationships/hyperlink" Target="https://www.apparatustesting.com/" TargetMode="External"/><Relationship Id="rId5" Type="http://schemas.openxmlformats.org/officeDocument/2006/relationships/hyperlink" Target="https://www.highvolt.com/en/ats" TargetMode="External"/><Relationship Id="rId6" Type="http://schemas.openxmlformats.org/officeDocument/2006/relationships/hyperlink" Target="https://www.gryphon-inv.com/news/gryphon-investors-to-sell-shermco-to-blackstone-in-1-6-billion-transaction/" TargetMode="External"/><Relationship Id="rId7" Type="http://schemas.openxmlformats.org/officeDocument/2006/relationships/hyperlink" Target="https://www.eia.gov/todayinenergy/detail.php?id=67344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expertmarketresearch.com/reports/north-america-electrical-testing-services-market" TargetMode="External"/><Relationship Id="rId3" Type="http://schemas.openxmlformats.org/officeDocument/2006/relationships/hyperlink" Target="https://mail.google.com/mail/u/0/#all/1a01bd7b7605d215" TargetMode="External"/><Relationship Id="rId4" Type="http://schemas.openxmlformats.org/officeDocument/2006/relationships/hyperlink" Target="/tmp/niche-intel-2026-09-07-deliverables/electrical-power-reliability-testing/prior-sept1.pptx" TargetMode="External"/><Relationship Id="rId5" Type="http://schemas.openxmlformats.org/officeDocument/2006/relationships/hyperlink" Target=".agents/skills/niche-intelligence/references/one-pager-template.md" TargetMode="External"/><Relationship Id="rId6" Type="http://schemas.openxmlformats.org/officeDocument/2006/relationships/hyperlink" Target="brain/library/internal/one-pager-template/customs-bonds-template.pptx" TargetMode="External"/><Relationship Id="rId7" Type="http://schemas.openxmlformats.org/officeDocument/2006/relationships/hyperlink" Target="https://docs.google.com/spreadsheets/d/1vHx4E1tRTR6V3k7NQeHdCrUjDITJVtZA5YPSIFeSins/ed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914400" y="566928"/>
            <a:ext cx="566928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137160" y="8641080"/>
            <a:ext cx="658368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137160" y="777240"/>
          <a:ext cx="6583680" cy="7699247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91840"/>
                <a:gridCol w="3291840"/>
              </a:tblGrid>
              <a:tr h="402336">
                <a:tc gridSpan="2">
                  <a:txBody>
                    <a:bodyPr wrap="square" lIns="64008" rIns="64008" tIns="36576" bIns="27432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Power Reliability Testing | September 2026</a:t>
                      </a:r>
                      <a:endParaRPr sz="1400" u="none" cap="none" strike="noStrike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92608">
                <a:tc>
                  <a:txBody>
                    <a:bodyPr wrap="square" lIns="64008" rIns="64008" tIns="36576" bIns="27432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Assessment: Pending Scoring</a:t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64008" rIns="64008" tIns="36576" bIns="27432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Status: Pending Scoring</a:t>
                      </a:r>
                      <a:endParaRPr sz="1400" u="none" cap="none" strike="noStrike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456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Industry Overview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859536">
                <a:tc gridSpan="2">
                  <a:txBody>
                    <a:bodyPr wrap="square" lIns="64008" rIns="64008" tIns="36576" bIns="27432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Independent testing and preventive reliability services for installed commercial/industrial power systems: transformers, switchgear, protection relays and fault diagnostics. Excludes utilities ownership, construction-led contractors and equipment sales. Broader North America electrical-testing proxy: $2.66B (2025), 6.5% forecast CAGR (2026–35). Exact US service-only niche TAM remains UNKNOWN.</a:t>
                      </a:r>
                      <a:endParaRPr sz="1000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19456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Industry Thesis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621792">
                <a:tc gridSpan="2">
                  <a:txBody>
                    <a:bodyPr wrap="square" lIns="64008" rIns="64008" tIns="36576" bIns="27432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Specialists sell documented equipment condition and uptime protection. Accreditation, trained technicians and equipment-history continuity can support repeat work and switching friction. Regional provider examples exist; independent ownership, scalable supply and sustained margins remain unproven.</a:t>
                      </a:r>
                      <a:r>
                        <a:rPr lang="en-US" sz="10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lang="en-US" sz="1000" u="none" cap="none" strike="noStrike"/>
                        <a:t/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19456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Macro Trends &amp; Growth Drivers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Risks &amp; Concerns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5840">
                <a:tc>
                  <a:txBody>
                    <a:bodyPr wrap="square" lIns="64008" rIns="64008" tIns="36576" bIns="27432"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EIA: US electricity load rose ~1.7% annually in 2020–25; data centers and industrial electrification add demand. Complex installed systems need inspection, relay calibration and records. Hypothesis: uptime risk translates into repeat service spend, not only new-project commissioning.</a:t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64008" rIns="64008" tIns="36576" bIns="27432"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High-voltage liability; scarce technicians; calibrated equipment investment; shutdown scheduling and emergency dispatch. Substantial PE competition. A&amp;F discloses IBEW agreements: verify labor obligations. Maintenance share and founder dependence need diligence.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Economics &amp; Pricing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Competitive Landscape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5840">
                <a:tc>
                  <a:txBody>
                    <a:bodyPr wrap="square" lIns="64008" rIns="64008" tIns="36576" bIns="27432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Scheduled testing/maintenance, studies and emergency response; commissioning may be project-driven. Contract share, typical pricing and industry EBITDA are UNKNOWN. Aug19 seller teaser: $6.1M revenue/$3.5M normalized EBITDA (~57.4%); exceptional, unverified and not representative.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64008" rIns="64008" tIns="36576" bIns="27432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Five observed firms: A&amp;F (NY), Apparatus (CA), 1 Test (MA), 360 Electrical (FL), 51 Power (TX). Accreditation does not prove non-PE equity. Shermco and acquired ATS/HIGHVOLT are comps, excluded from independent supply. 50+ buy-box targets not established.</a:t>
                      </a:r>
                      <a:r>
                        <a:rPr lang="en-US" sz="1000"/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Barriers to Entry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49808">
                <a:tc>
                  <a:txBody>
                    <a:bodyPr wrap="square" lIns="64008" rIns="64008" tIns="36576" bIns="27432"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Commercial/industrial facilities with costly downtime. Value: identify deterioration and document maintenance. NY examples offer G&amp;B geographic relevance; technical operating expertise and warm specialist access are unverified.</a:t>
                      </a:r>
                      <a:r>
                        <a:rPr lang="en-US" sz="1000"/>
                        <a:t/>
                      </a:r>
                      <a:r>
                        <a:rPr lang="en-US" sz="1000"/>
                        <a:t/>
                      </a:r>
                      <a:endParaRPr sz="1000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64008" rIns="64008" tIns="36576" bIns="27432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Qualified technicians, calibrated instruments and safety discipline. Apparatus documents NETA staff and NIST-traceable calibration. Hypothesis: trust, equipment records and response density support retention; durability not measured.</a:t>
                      </a:r>
                      <a:endParaRPr sz="1000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456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Success Factors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704088">
                <a:tc>
                  <a:txBody>
                    <a:bodyPr wrap="square" lIns="64008" rIns="64008" tIns="36576" bIns="27432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Retain technical leadership; validate safety and credentials. Separate repeat maintenance from construction/equipment pass-through. Price labor, travel and shutdown windows accurately.</a:t>
                      </a:r>
                      <a:endParaRPr sz="1000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 lIns="64008" rIns="64008" tIns="36576" bIns="27432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Track repeat cohorts and backlog. Standardize reporting. Count firms, not branches. Confirm whether 15%+ EBITDA survives management replacement and labor obligations.</a:t>
                      </a:r>
                      <a:endParaRPr sz="1000"/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456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521207">
                <a:tc gridSpan="2">
                  <a:txBody>
                    <a:bodyPr wrap="square" lIns="64008" rIns="64008" tIns="36576" bIns="27432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Potential exit: larger testing/services platforms. Gryphon announced Shermco’s $1.6B sale to Blackstone in Aug2025; ATS joined HIGHVOLT in 2022. Consolidation evidence, not buyer commitments or target availability.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458" y="-6321"/>
            <a:ext cx="678789" cy="67878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4937760" y="8778240"/>
            <a:ext cx="173736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Confidential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960120" y="91440"/>
            <a:ext cx="5577840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000">
                <a:solidFill>
                  <a:srgbClr val="464646"/>
                </a:solidFill>
              </a:rPr>
              <a:t>G&amp;B INDUSTRY RESEARCH | Operating date: 7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41248"/>
            <a:ext cx="6126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Independent Electrical Power-System Testing and Preventive Reliability Services for Commercial and Industrial Facilities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2"/>
              </a:rPr>
              <a:t>1. Gathering: Current chatroom</a:t>
            </a:r>
          </a:p>
          <a:p>
            <a:r>
              <a:rPr sz="900">
                <a:solidFill>
                  <a:srgbClr val="3C3C3C"/>
                </a:solidFill>
              </a:rPr>
              <a:t>Gathering/synthesis evidence</a:t>
            </a:r>
          </a:p>
          <a:p>
            <a:r>
              <a:rPr sz="900">
                <a:solidFill>
                  <a:srgbClr val="3C3C3C"/>
                </a:solidFill>
                <a:hlinkClick r:id="rId2"/>
              </a:rPr>
              <a:t>brain/traces/agents/2026-09-07-niche-intelligence.md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79191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3"/>
              </a:rPr>
              <a:t>2. Gathering: Historical email specialist</a:t>
            </a:r>
          </a:p>
          <a:p>
            <a:r>
              <a:rPr sz="900">
                <a:solidFill>
                  <a:srgbClr val="3C3C3C"/>
                </a:solidFill>
              </a:rPr>
              <a:t>Seller signal and limitations</a:t>
            </a:r>
          </a:p>
          <a:p>
            <a:r>
              <a:rPr sz="900">
                <a:solidFill>
                  <a:srgbClr val="3C3C3C"/>
                </a:solidFill>
                <a:hlinkClick r:id="rId3"/>
              </a:rPr>
              <a:t>/tmp/niche-intel-2026-09-07-historical/hist-email.md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12463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4"/>
              </a:rPr>
              <a:t>3. Gathering: Identifier validation</a:t>
            </a:r>
          </a:p>
          <a:p>
            <a:r>
              <a:rPr sz="900">
                <a:solidFill>
                  <a:srgbClr val="3C3C3C"/>
                </a:solidFill>
              </a:rPr>
              <a:t>Narrow scope and explicit unknowns</a:t>
            </a:r>
          </a:p>
          <a:p>
            <a:r>
              <a:rPr sz="900">
                <a:solidFill>
                  <a:srgbClr val="3C3C3C"/>
                </a:solidFill>
                <a:hlinkClick r:id="rId4"/>
              </a:rPr>
              <a:t>/tmp/niche-intel-2026-09-07-identified.json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45736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5"/>
              </a:rPr>
              <a:t>4. External research: NETA accreditation</a:t>
            </a:r>
          </a:p>
          <a:p>
            <a:r>
              <a:rPr sz="900">
                <a:solidFill>
                  <a:srgbClr val="3C3C3C"/>
                </a:solidFill>
              </a:rPr>
              <a:t>Third-party testing/maintenance company standards, not PE ownership certification</a:t>
            </a:r>
          </a:p>
          <a:p>
            <a:r>
              <a:rPr sz="900">
                <a:solidFill>
                  <a:srgbClr val="3C3C3C"/>
                </a:solidFill>
                <a:hlinkClick r:id="rId5"/>
              </a:rPr>
              <a:t>https://netadev.netaworld.org/accreditation/overview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779007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6"/>
              </a:rPr>
              <a:t>5. External research: NETA Spring2026 directory</a:t>
            </a:r>
          </a:p>
          <a:p>
            <a:r>
              <a:rPr sz="900">
                <a:solidFill>
                  <a:srgbClr val="3C3C3C"/>
                </a:solidFill>
              </a:rPr>
              <a:t>Named firms and branches</a:t>
            </a:r>
          </a:p>
          <a:p>
            <a:r>
              <a:rPr sz="900">
                <a:solidFill>
                  <a:srgbClr val="3C3C3C"/>
                </a:solidFill>
                <a:hlinkClick r:id="rId6"/>
              </a:rPr>
              <a:t>https://netaworldjournal.org/wp-content/uploads/2026/04/NWJ-spring-2026.pdf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812279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7"/>
              </a:rPr>
              <a:t>6. External research: NETA Summer2026 directory</a:t>
            </a:r>
          </a:p>
          <a:p>
            <a:r>
              <a:rPr sz="900">
                <a:solidFill>
                  <a:srgbClr val="3C3C3C"/>
                </a:solidFill>
              </a:rPr>
              <a:t>Named firms/locations</a:t>
            </a:r>
          </a:p>
          <a:p>
            <a:r>
              <a:rPr sz="900">
                <a:solidFill>
                  <a:srgbClr val="3C3C3C"/>
                </a:solidFill>
                <a:hlinkClick r:id="rId7"/>
              </a:rPr>
              <a:t>https://netaworldjournal.org/wp-content/uploads/2026/05/NETA-World-SM26_FINAL.pdf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503920"/>
            <a:ext cx="6126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Accessed 8 September 2026 recovery. Undated pages may have changed; historical claims labeled.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Sources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41248"/>
            <a:ext cx="6126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Independent Electrical Power-System Testing and Preventive Reliability Services for Commercial and Industrial Facilities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2"/>
              </a:rPr>
              <a:t>7. External research: NETA Fall2025 directory</a:t>
            </a:r>
          </a:p>
          <a:p>
            <a:r>
              <a:rPr sz="900">
                <a:solidFill>
                  <a:srgbClr val="3C3C3C"/>
                </a:solidFill>
              </a:rPr>
              <a:t>51 Power Services location/provider evidence</a:t>
            </a:r>
          </a:p>
          <a:p>
            <a:r>
              <a:rPr sz="900">
                <a:solidFill>
                  <a:srgbClr val="3C3C3C"/>
                </a:solidFill>
                <a:hlinkClick r:id="rId2"/>
              </a:rPr>
              <a:t>https://netaworldjournal.org/wp-content/uploads/2025/11/NETA-World_FL25.pdf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79191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3"/>
              </a:rPr>
              <a:t>8. External research: A&amp;F</a:t>
            </a:r>
          </a:p>
          <a:p>
            <a:r>
              <a:rPr sz="900">
                <a:solidFill>
                  <a:srgbClr val="3C3C3C"/>
                </a:solidFill>
              </a:rPr>
              <a:t>Independent testing since1995; preventive offerings</a:t>
            </a:r>
          </a:p>
          <a:p>
            <a:r>
              <a:rPr sz="900">
                <a:solidFill>
                  <a:srgbClr val="3C3C3C"/>
                </a:solidFill>
                <a:hlinkClick r:id="rId3"/>
              </a:rPr>
              <a:t>https://afelectricaltesting.com/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12463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4"/>
              </a:rPr>
              <a:t>9. External research: Apparatus</a:t>
            </a:r>
          </a:p>
          <a:p>
            <a:r>
              <a:rPr sz="900">
                <a:solidFill>
                  <a:srgbClr val="3C3C3C"/>
                </a:solidFill>
              </a:rPr>
              <a:t>Since1983, testing/maintenance</a:t>
            </a:r>
          </a:p>
          <a:p>
            <a:r>
              <a:rPr sz="900">
                <a:solidFill>
                  <a:srgbClr val="3C3C3C"/>
                </a:solidFill>
                <a:hlinkClick r:id="rId4"/>
              </a:rPr>
              <a:t>https://www.apparatustesting.com/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45736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5"/>
              </a:rPr>
              <a:t>10. External research: ATS HIGHVOLT</a:t>
            </a:r>
          </a:p>
          <a:p>
            <a:r>
              <a:rPr sz="900">
                <a:solidFill>
                  <a:srgbClr val="3C3C3C"/>
                </a:solidFill>
              </a:rPr>
              <a:t>ATS belongs to HIGHVOLT since2022; acquired comp exclusion</a:t>
            </a:r>
          </a:p>
          <a:p>
            <a:r>
              <a:rPr sz="900">
                <a:solidFill>
                  <a:srgbClr val="3C3C3C"/>
                </a:solidFill>
                <a:hlinkClick r:id="rId5"/>
              </a:rPr>
              <a:t>https://www.highvolt.com/en/ats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779007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6"/>
              </a:rPr>
              <a:t>11. External research: Gryphon Shermco sale</a:t>
            </a:r>
          </a:p>
          <a:p>
            <a:r>
              <a:rPr sz="900">
                <a:solidFill>
                  <a:srgbClr val="3C3C3C"/>
                </a:solidFill>
              </a:rPr>
              <a:t>Aug21 2025 $1.6B deal,600+NETA technicians/40service centers are platform scale not targets</a:t>
            </a:r>
          </a:p>
          <a:p>
            <a:r>
              <a:rPr sz="900">
                <a:solidFill>
                  <a:srgbClr val="3C3C3C"/>
                </a:solidFill>
                <a:hlinkClick r:id="rId6"/>
              </a:rPr>
              <a:t>https://www.gryphon-inv.com/news/gryphon-investors-to-sell-shermco-to-blackstone-in-1-6-billion-transaction/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812279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7"/>
              </a:rPr>
              <a:t>12. External research: EIA demand analysis</a:t>
            </a:r>
          </a:p>
          <a:p>
            <a:r>
              <a:rPr sz="900">
                <a:solidFill>
                  <a:srgbClr val="3C3C3C"/>
                </a:solidFill>
              </a:rPr>
              <a:t>Mar12 2026 electricity-load trend; not service CAGR</a:t>
            </a:r>
          </a:p>
          <a:p>
            <a:r>
              <a:rPr sz="900">
                <a:solidFill>
                  <a:srgbClr val="3C3C3C"/>
                </a:solidFill>
                <a:hlinkClick r:id="rId7"/>
              </a:rPr>
              <a:t>https://www.eia.gov/todayinenergy/detail.php?id=67344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503920"/>
            <a:ext cx="6126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Accessed 8 September 2026 recovery. Undated pages may have changed; historical claims labeled.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Sources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41248"/>
            <a:ext cx="6126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Independent Electrical Power-System Testing and Preventive Reliability Services for Commercial and Industrial Facilities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2"/>
              </a:rPr>
              <a:t>13. External research: EMR original research</a:t>
            </a:r>
          </a:p>
          <a:p>
            <a:r>
              <a:rPr sz="900">
                <a:solidFill>
                  <a:srgbClr val="3C3C3C"/>
                </a:solidFill>
              </a:rPr>
              <a:t>Broader North America $2.66B2025/6.5% forecast proxy; narrow TAM unknown</a:t>
            </a:r>
          </a:p>
          <a:p>
            <a:r>
              <a:rPr sz="900">
                <a:solidFill>
                  <a:srgbClr val="3C3C3C"/>
                </a:solidFill>
                <a:hlinkClick r:id="rId2"/>
              </a:rPr>
              <a:t>https://www.expertmarketresearch.com/reports/north-america-electrical-testing-services-market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79191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3"/>
              </a:rPr>
              <a:t>14. External research: Historical seller signal</a:t>
            </a:r>
          </a:p>
          <a:p>
            <a:r>
              <a:rPr sz="900">
                <a:solidFill>
                  <a:srgbClr val="3C3C3C"/>
                </a:solidFill>
              </a:rPr>
              <a:t>Aug19 seller metrics unverified</a:t>
            </a:r>
          </a:p>
          <a:p>
            <a:r>
              <a:rPr sz="900">
                <a:solidFill>
                  <a:srgbClr val="3C3C3C"/>
                </a:solidFill>
                <a:hlinkClick r:id="rId3"/>
              </a:rPr>
              <a:t>https://mail.google.com/mail/u/0/#all/1a01bd7b7605d215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12463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4"/>
              </a:rPr>
              <a:t>15. Internal: Prior Sept1 PPTX backup</a:t>
            </a:r>
          </a:p>
          <a:p>
            <a:r>
              <a:rPr sz="900">
                <a:solidFill>
                  <a:srgbClr val="3C3C3C"/>
                </a:solidFill>
              </a:rPr>
              <a:t>Preserved prior research; same Drive identity</a:t>
            </a:r>
          </a:p>
          <a:p>
            <a:r>
              <a:rPr sz="900">
                <a:solidFill>
                  <a:srgbClr val="3C3C3C"/>
                </a:solidFill>
                <a:hlinkClick r:id="rId4"/>
              </a:rPr>
              <a:t>/tmp/niche-intel-2026-09-07-deliverables/electrical-power-reliability-testing/prior-sept1.pptx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45736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5"/>
              </a:rPr>
              <a:t>16. Internal: One-pager template reference</a:t>
            </a:r>
          </a:p>
          <a:p>
            <a:r>
              <a:rPr sz="900">
                <a:solidFill>
                  <a:srgbClr val="3C3C3C"/>
                </a:solidFill>
              </a:rPr>
              <a:t>Structure/source contract</a:t>
            </a:r>
          </a:p>
          <a:p>
            <a:r>
              <a:rPr sz="900">
                <a:solidFill>
                  <a:srgbClr val="3C3C3C"/>
                </a:solidFill>
                <a:hlinkClick r:id="rId5"/>
              </a:rPr>
              <a:t>.agents/skills/niche-intelligence/references/one-pager-template.md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779007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6"/>
              </a:rPr>
              <a:t>17. Internal: Template asset</a:t>
            </a:r>
          </a:p>
          <a:p>
            <a:r>
              <a:rPr sz="900">
                <a:solidFill>
                  <a:srgbClr val="3C3C3C"/>
                </a:solidFill>
              </a:rPr>
              <a:t>Six original shapes and branded table</a:t>
            </a:r>
          </a:p>
          <a:p>
            <a:r>
              <a:rPr sz="900">
                <a:solidFill>
                  <a:srgbClr val="3C3C3C"/>
                </a:solidFill>
                <a:hlinkClick r:id="rId6"/>
              </a:rPr>
              <a:t>brain/library/internal/one-pager-template/customs-bonds-template.pptx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812279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5CAB"/>
                </a:solidFill>
                <a:hlinkClick r:id="rId7"/>
              </a:rPr>
              <a:t>18. Data pulls: Live Industry Research Tracker</a:t>
            </a:r>
          </a:p>
          <a:p>
            <a:r>
              <a:rPr sz="900">
                <a:solidFill>
                  <a:srgbClr val="3C3C3C"/>
                </a:solidFill>
              </a:rPr>
              <a:t>Semantic dedup; no activation</a:t>
            </a:r>
          </a:p>
          <a:p>
            <a:r>
              <a:rPr sz="900">
                <a:solidFill>
                  <a:srgbClr val="3C3C3C"/>
                </a:solidFill>
                <a:hlinkClick r:id="rId7"/>
              </a:rPr>
              <a:t>https://docs.google.com/spreadsheets/d/1vHx4E1tRTR6V3k7NQeHdCrUjDITJVtZA5YPSIFeSins/edit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503920"/>
            <a:ext cx="6126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Accessed 8 September 2026 recovery. Undated pages may have changed; historical claims labeled.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