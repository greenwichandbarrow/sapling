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  <p:sldId id="260" r:id="rId14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historical/hist-email.md" TargetMode="External"/><Relationship Id="rId4" Type="http://schemas.openxmlformats.org/officeDocument/2006/relationships/hyperlink" Target="/tmp/niche-intel-2026-09-07-identified.json" TargetMode="External"/><Relationship Id="rId5" Type="http://schemas.openxmlformats.org/officeDocument/2006/relationships/hyperlink" Target="https://netadev.netaworld.org/accreditation/overview" TargetMode="External"/><Relationship Id="rId6" Type="http://schemas.openxmlformats.org/officeDocument/2006/relationships/hyperlink" Target="https://netaworldjournal.org/wp-content/uploads/2026/04/NWJ-spring-2026.pdf" TargetMode="External"/><Relationship Id="rId7" Type="http://schemas.openxmlformats.org/officeDocument/2006/relationships/hyperlink" Target="https://netaworldjournal.org/wp-content/uploads/2026/05/NETA-World-SM26_FINAL.pd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taworldjournal.org/wp-content/uploads/2025/11/NETA-World_FL25.pdf" TargetMode="External"/><Relationship Id="rId3" Type="http://schemas.openxmlformats.org/officeDocument/2006/relationships/hyperlink" Target="https://afelectricaltesting.com/" TargetMode="External"/><Relationship Id="rId4" Type="http://schemas.openxmlformats.org/officeDocument/2006/relationships/hyperlink" Target="https://www.apparatustesting.com/" TargetMode="External"/><Relationship Id="rId5" Type="http://schemas.openxmlformats.org/officeDocument/2006/relationships/hyperlink" Target="https://www.highvolt.com/en/ats" TargetMode="External"/><Relationship Id="rId6" Type="http://schemas.openxmlformats.org/officeDocument/2006/relationships/hyperlink" Target="https://www.gryphon-inv.com/news/gryphon-investors-to-sell-shermco-to-blackstone-in-1-6-billion-transaction/" TargetMode="External"/><Relationship Id="rId7" Type="http://schemas.openxmlformats.org/officeDocument/2006/relationships/hyperlink" Target="https://www.eia.gov/todayinenergy/detail.php?id=6734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xpertmarketresearch.com/reports/north-america-electrical-testing-services-market" TargetMode="External"/><Relationship Id="rId3" Type="http://schemas.openxmlformats.org/officeDocument/2006/relationships/hyperlink" Target="https://mail.google.com/mail/u/0/#all/1a01bd7b7605d215" TargetMode="External"/><Relationship Id="rId4" Type="http://schemas.openxmlformats.org/officeDocument/2006/relationships/hyperlink" Target="/tmp/niche-intel-2026-09-07-deliverables/electrical-power-reliability-testing/prior-sept1.pptx" TargetMode="External"/><Relationship Id="rId5" Type="http://schemas.openxmlformats.org/officeDocument/2006/relationships/hyperlink" Target=".agents/skills/niche-intelligence/references/one-pager-template.md" TargetMode="External"/><Relationship Id="rId6" Type="http://schemas.openxmlformats.org/officeDocument/2006/relationships/hyperlink" Target="brain/library/internal/one-pager-template/customs-bonds-template.pptx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RUQtRHyZeM5O1OU3UZXzVHNqjLuhQZMy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914400" y="566928"/>
            <a:ext cx="56692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37160" y="8641080"/>
            <a:ext cx="65836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37160" y="777240"/>
          <a:ext cx="6583680" cy="7699247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1840"/>
                <a:gridCol w="3291840"/>
              </a:tblGrid>
              <a:tr h="4023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Power Reliability Testing | September 2026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2608">
                <a:tc>
                  <a:txBody>
                    <a:bodyPr wrap="square" lIns="64008" rIns="64008" tIns="36576" bIns="27432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1.91 / 3.0 (64%)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Status: Pending Scoring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8595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testing and preventive reliability services for installed commercial/industrial power systems: transformers, switchgear, protection relays and fault diagnostics. Excludes utilities ownership, construction-led contractors and equipment sales. Broader North America electrical-testing proxy: $2.66B (2025), 6.5% forecast CAGR (2026–35). Exact US service-only niche TAM remains UNKNOWN.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21792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 sell documented equipment condition and uptime protection. Accreditation, trained technicians and equipment-history continuity can support repeat work and switching friction. Regional provider examples exist; independent ownership, scalable supply and sustained margins remain unproven.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EIA: US electricity load rose ~1.7% annually in 2020–25; data centers and industrial electrification add demand. Complex installed systems need inspection, relay calibration and records. Hypothesis: uptime risk translates into repeat service spend, not only new-project commissioning.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High-voltage liability; scarce technicians; calibrated equipment investment; shutdown scheduling and emergency dispatch. Substantial PE competition. A&amp;F discloses IBEW agreements: verify labor obligations. Maintenance share and founder dependence need diligence.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Scheduled testing/maintenance, studies and emergency response; commissioning may be project-driven. Contract share, typical pricing and industry EBITDA are UNKNOWN. Aug19 seller teaser: $6.1M revenue/$3.5M normalized EBITDA (~57.4%); exceptional, unverified and not representative.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Five observed firms: A&amp;F (NY), Apparatus (CA), 1 Test (MA), 360 Electrical (FL), 51 Power (TX). Accreditation does not prove non-PE equity. Shermco and acquired ATS/HIGHVOLT are comps, excluded from independent supply. 50+ buy-box targets not established.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808">
                <a:tc>
                  <a:txBody>
                    <a:bodyPr wrap="square" lIns="64008" rIns="64008" tIns="36576" bIns="27432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Commercial/industrial facilities with costly downtime. Value: identify deterioration and document maintenance. NY examples offer G&amp;B geographic relevance; technical operating expertise and warm specialist access are unverified.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technicians, calibrated instruments and safety discipline. Apparatus documents NETA staff and NIST-traceable calibration. Hypothesis: trust, equipment records and response density support retention; durability not measured.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04088"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technical leadership; validate safety and credentials. Separate repeat maintenance from construction/equipment pass-through. Price labor, travel and shutdown windows accurately.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Track repeat cohorts and backlog. Standardize reporting. Count firms, not branches. Confirm whether 15%+ EBITDA survives management replacement and labor obligations.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21207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exit: larger testing/services platforms. Gryphon announced Shermco’s $1.6B sale to Blackstone in Aug2025; ATS joined HIGHVOLT in 2022. Consolidation evidence, not buyer commitments or target availability.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937760" y="8778240"/>
            <a:ext cx="173736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60120" y="91440"/>
            <a:ext cx="557784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000">
                <a:solidFill>
                  <a:srgbClr val="464646"/>
                </a:solidFill>
              </a:rPr>
              <a:t>G&amp;B INDUSTRY RESEARCH | Operating date: 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1. Gathering: Current chatroom</a:t>
            </a:r>
          </a:p>
          <a:p>
            <a:r>
              <a:rPr sz="900">
                <a:solidFill>
                  <a:srgbClr val="3C3C3C"/>
                </a:solidFill>
              </a:rPr>
              <a:t>Gathering/synthesis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brain/traces/agents/2026-09-07-niche-intelligence.md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2. Gathering: Historical email specialist</a:t>
            </a:r>
          </a:p>
          <a:p>
            <a:r>
              <a:rPr sz="900">
                <a:solidFill>
                  <a:srgbClr val="3C3C3C"/>
                </a:solidFill>
              </a:rPr>
              <a:t>Seller signal and limitations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/tmp/niche-intel-2026-09-07-historical/hist-email.md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3. Gathering: Identifier validation</a:t>
            </a:r>
          </a:p>
          <a:p>
            <a:r>
              <a:rPr sz="900">
                <a:solidFill>
                  <a:srgbClr val="3C3C3C"/>
                </a:solidFill>
              </a:rPr>
              <a:t>Narrow scope and explicit unknowns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/tmp/niche-intel-2026-09-07-identified.json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4. External research: NETA accreditation</a:t>
            </a:r>
          </a:p>
          <a:p>
            <a:r>
              <a:rPr sz="900">
                <a:solidFill>
                  <a:srgbClr val="3C3C3C"/>
                </a:solidFill>
              </a:rPr>
              <a:t>Third-party testing/maintenance company standards, not PE ownership certification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https://netadev.netaworld.org/accreditation/overview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5. External research: NETA Spring2026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 and branches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https://netaworldjournal.org/wp-content/uploads/2026/04/NWJ-spring-2026.pdf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6. External research: NETA Summer2026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firms/locations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https://netaworldjournal.org/wp-content/uploads/2026/05/NETA-World-SM26_FINAL.pdf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7. External research: NETA Fall2025 directory</a:t>
            </a:r>
          </a:p>
          <a:p>
            <a:r>
              <a:rPr sz="900">
                <a:solidFill>
                  <a:srgbClr val="3C3C3C"/>
                </a:solidFill>
              </a:rPr>
              <a:t>51 Power Services location/provider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https://netaworldjournal.org/wp-content/uploads/2025/11/NETA-World_FL25.pdf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8. External research: A&amp;F</a:t>
            </a:r>
          </a:p>
          <a:p>
            <a:r>
              <a:rPr sz="900">
                <a:solidFill>
                  <a:srgbClr val="3C3C3C"/>
                </a:solidFill>
              </a:rPr>
              <a:t>Independent testing since1995; preventive offerings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https://afelectricaltesting.com/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9. External research: Apparatus</a:t>
            </a:r>
          </a:p>
          <a:p>
            <a:r>
              <a:rPr sz="900">
                <a:solidFill>
                  <a:srgbClr val="3C3C3C"/>
                </a:solidFill>
              </a:rPr>
              <a:t>Since1983, testing/maintenance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https://www.apparatustesting.com/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10. External research: ATS HIGHVOLT</a:t>
            </a:r>
          </a:p>
          <a:p>
            <a:r>
              <a:rPr sz="900">
                <a:solidFill>
                  <a:srgbClr val="3C3C3C"/>
                </a:solidFill>
              </a:rPr>
              <a:t>ATS belongs to HIGHVOLT since2022; acquired comp exclusion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https://www.highvolt.com/en/ats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11. External research: Gryphon Shermco sale</a:t>
            </a:r>
          </a:p>
          <a:p>
            <a:r>
              <a:rPr sz="900">
                <a:solidFill>
                  <a:srgbClr val="3C3C3C"/>
                </a:solidFill>
              </a:rPr>
              <a:t>Aug21 2025 $1.6B deal,600+NETA technicians/40service centers are platform scale not targets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https://www.gryphon-inv.com/news/gryphon-investors-to-sell-shermco-to-blackstone-in-1-6-billion-transaction/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12. External research: EIA demand analysis</a:t>
            </a:r>
          </a:p>
          <a:p>
            <a:r>
              <a:rPr sz="900">
                <a:solidFill>
                  <a:srgbClr val="3C3C3C"/>
                </a:solidFill>
              </a:rPr>
              <a:t>Mar12 2026 electricity-load trend; not service CAGR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https://www.eia.gov/todayinenergy/detail.php?id=67344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13. External research: EMR original research</a:t>
            </a:r>
          </a:p>
          <a:p>
            <a:r>
              <a:rPr sz="900">
                <a:solidFill>
                  <a:srgbClr val="3C3C3C"/>
                </a:solidFill>
              </a:rPr>
              <a:t>Broader North America $2.66B2025/6.5% forecast proxy; narrow TAM unknown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https://www.expertmarketresearch.com/reports/north-america-electrical-testing-services-market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14. External research: Historical seller signal</a:t>
            </a:r>
          </a:p>
          <a:p>
            <a:r>
              <a:rPr sz="900">
                <a:solidFill>
                  <a:srgbClr val="3C3C3C"/>
                </a:solidFill>
              </a:rPr>
              <a:t>Aug19 seller metrics unverified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https://mail.google.com/mail/u/0/#all/1a01bd7b7605d215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15. Internal: Prior Sept1 PPTX backup</a:t>
            </a:r>
          </a:p>
          <a:p>
            <a:r>
              <a:rPr sz="900">
                <a:solidFill>
                  <a:srgbClr val="3C3C3C"/>
                </a:solidFill>
              </a:rPr>
              <a:t>Preserved prior research; same Drive identity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/tmp/niche-intel-2026-09-07-deliverables/electrical-power-reliability-testing/prior-sept1.pptx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16. Internal: One-pager template reference</a:t>
            </a:r>
          </a:p>
          <a:p>
            <a:r>
              <a:rPr sz="900">
                <a:solidFill>
                  <a:srgbClr val="3C3C3C"/>
                </a:solidFill>
              </a:rPr>
              <a:t>Structure/source contract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.agents/skills/niche-intelligence/references/one-pager-template.md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17. Internal: Template asset</a:t>
            </a:r>
          </a:p>
          <a:p>
            <a:r>
              <a:rPr sz="900">
                <a:solidFill>
                  <a:srgbClr val="3C3C3C"/>
                </a:solidFill>
              </a:rPr>
              <a:t>Six original shapes and branded table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brain/library/internal/one-pager-template/customs-bonds-template.pptx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18. Data pulls: Live Industry Research Tracker</a:t>
            </a:r>
          </a:p>
          <a:p>
            <a:r>
              <a:rPr sz="900">
                <a:solidFill>
                  <a:srgbClr val="3C3C3C"/>
                </a:solidFill>
              </a:rPr>
              <a:t>Semantic dedup; no activation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https://docs.google.com/spreadsheets/d/1vHx4E1tRTR6V3k7NQeHdCrUjDITJVtZA5YPSIFeSins/edit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1.91 / 3.0 (64%).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https://drive.google.com/file/d/1RUQtRHyZeM5O1OU3UZXzVHNqjLuhQZMy/view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