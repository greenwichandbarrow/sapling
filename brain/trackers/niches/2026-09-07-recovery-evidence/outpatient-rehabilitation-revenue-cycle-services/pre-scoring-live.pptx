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11"/>
    <p:sldId id="258" r:id="rId12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rain/traces/agents/2026-09-07-niche-intelligence.md" TargetMode="External"/><Relationship Id="rId3" Type="http://schemas.openxmlformats.org/officeDocument/2006/relationships/hyperlink" Target="/tmp/niche-intel-2026-09-07-recent/summary.md" TargetMode="External"/><Relationship Id="rId4" Type="http://schemas.openxmlformats.org/officeDocument/2006/relationships/hyperlink" Target="/tmp/niche-intel-2026-09-07-historical/consolidated.md" TargetMode="External"/><Relationship Id="rId5" Type="http://schemas.openxmlformats.org/officeDocument/2006/relationships/hyperlink" Target="/tmp/niche-intel-2026-09-07-synthesis.md" TargetMode="External"/><Relationship Id="rId6" Type="http://schemas.openxmlformats.org/officeDocument/2006/relationships/hyperlink" Target="/tmp/niche-intel-2026-09-07-identified.json" TargetMode="External"/><Relationship Id="rId7" Type="http://schemas.openxmlformats.org/officeDocument/2006/relationships/hyperlink" Target="https://ptbillingservices.com/about-us/" TargetMode="External"/><Relationship Id="rId8" Type="http://schemas.openxmlformats.org/officeDocument/2006/relationships/hyperlink" Target="https://ptbillingservices.com/" TargetMode="External"/><Relationship Id="rId9" Type="http://schemas.openxmlformats.org/officeDocument/2006/relationships/hyperlink" Target="https://www.ptbillingservices.net/" TargetMode="External"/><Relationship Id="rId10" Type="http://schemas.openxmlformats.org/officeDocument/2006/relationships/hyperlink" Target="https://www.4mbc.com/" TargetMode="External"/><Relationship Id="rId11" Type="http://schemas.openxmlformats.org/officeDocument/2006/relationships/hyperlink" Target="https://www.4mbc.com/leadership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tpilotbilling.com/about/" TargetMode="External"/><Relationship Id="rId3" Type="http://schemas.openxmlformats.org/officeDocument/2006/relationships/hyperlink" Target="https://www.ptoutsourcesolutions.com/" TargetMode="External"/><Relationship Id="rId4" Type="http://schemas.openxmlformats.org/officeDocument/2006/relationships/hyperlink" Target="https://www.webpt.com/products/rcm-service" TargetMode="External"/><Relationship Id="rId5" Type="http://schemas.openxmlformats.org/officeDocument/2006/relationships/hyperlink" Target="https://www.webpt.com/about/press/webpt-announces-significant-investment-from-warburg-pincus" TargetMode="External"/><Relationship Id="rId6" Type="http://schemas.openxmlformats.org/officeDocument/2006/relationships/hyperlink" Target="https://www.bls.gov/ooh/healthcare/physical-therapists.htm" TargetMode="External"/><Relationship Id="rId7" Type="http://schemas.openxmlformats.org/officeDocument/2006/relationships/hyperlink" Target="https://mail.google.com/mail/u/0/#all/1a0344b1f5883c2c" TargetMode="External"/><Relationship Id="rId8" Type="http://schemas.openxmlformats.org/officeDocument/2006/relationships/hyperlink" Target="https://mail.google.com/mail/u/0/#all/1a03f2e9df864a43" TargetMode="External"/><Relationship Id="rId9" Type="http://schemas.openxmlformats.org/officeDocument/2006/relationships/hyperlink" Target="https://docs.google.com/spreadsheets/d/1vHx4E1tRTR6V3k7NQeHdCrUjDITJVtZA5YPSIFeSins/edit" TargetMode="External"/><Relationship Id="rId10" Type="http://schemas.openxmlformats.org/officeDocument/2006/relationships/hyperlink" Target="https://drive.google.com/file/d/1HfhQkl1-0iAZKIb7pIdIGEjw_o90DkaZ/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228600" y="749808"/>
            <a:ext cx="64008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228600" y="8577072"/>
            <a:ext cx="64008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228600" y="795528"/>
          <a:ext cx="6400800" cy="758952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00400"/>
                <a:gridCol w="3200400"/>
              </a:tblGrid>
              <a:tr h="393192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Outpatient Rehab Revenue-Cycle Services</a:t>
                      </a:r>
                      <a:endParaRPr sz="14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10896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Assessment: Pending Scoring</a:t>
                      </a:r>
                      <a:r>
                        <a:rPr b="1" lang="en-US" sz="10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0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0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Status: Research | September 2026</a:t>
                      </a:r>
                      <a:endParaRPr sz="14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722376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Outsourced billing, denials and authorization services for independent outpatient PT, OT and speech therapy practices. Five specialist provider brands verified; one self-describes family ownership. US service-only TAM and scaled independent target count remain unknown.</a:t>
                      </a:r>
                      <a:endParaRPr sz="1000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46888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676656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Specialist billers embed in repeated collections workflows. Payer-specific knowledge and claim histories may support customer durability; repeat service demand is evidenced, while retention and sustainable delivery margins remain unverified.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46888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Therapy documentation and payer complexity recur with treatment.
BLS: PT employment +12% over 2025–35; labor forecast, not billing revenue CAGR.
Clinic expansion adds administrative work.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Payer pressure; customer concentration.
PHI/security and delivery quality.
EMR bundling and AI commoditization.
Above-GDP niche growth unproven.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52728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Ongoing claims, denials, collections and AR follow-up.
Vendor pricing and normalized EBITDA distributions not verified; do not assume 15%+ margins.
Usage/collections-linked revenue is a model hypothesis; obtain fee schedules, cohort retention and labor productivity.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Specialists: PT Billing Services (.com); Physical Therapy Billing Services (.net); Medical Billing Center; PT Pilot Billing; PT Outsource Solutions.
WebPT bundles software and RCM; majority Warburg investment documented in 2019. Five brands are not five available targets.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/>
                      </a:r>
                      <a:endParaRPr sz="10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Independent PT/OT/speech therapy clinics. Scope is revenue operations, not clinic ownership or credentialing alone.</a:t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/>
                      </a:r>
                      <a:endParaRPr sz="1000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Therapy coding, payer rules, trusted staff, workflow integration and secure patient-data handling. Switching friction requires diligence.</a:t>
                      </a:r>
                      <a:endParaRPr sz="1000"/>
                    </a:p>
                    <a:p>
                      <a:pPr indent="-2730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•"/>
                      </a:pP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0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b="0" sz="10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466344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Clean claims, fast denial resolution, AR transparency and accountable service teams.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4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Retain clinic cohorts; automate routine work without weakening payer follow-through.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endParaRPr sz="1400" u="none" cap="none" strike="noStrike"/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888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512064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Potential buyers: specialist RCM platforms and rehab software/service consolidators such as WebPT. Broad RCM PE activity is exit context; no specific buyer interest established.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292" marB="32004" marR="82296" marL="82296" anchor="t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" y="36576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274320" y="8732520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800">
                <a:solidFill>
                  <a:srgbClr val="464646"/>
                </a:solidFill>
              </a:rPr>
              <a:t>Strictly Confidential | G&amp;B</a:t>
            </a:r>
          </a:p>
        </p:txBody>
      </p:sp>
      <p:sp>
        <p:nvSpPr>
          <p:cNvPr id="94" name="Google Shape;94;p14"/>
          <p:cNvSpPr txBox="1"/>
          <p:nvPr/>
        </p:nvSpPr>
        <p:spPr>
          <a:xfrm>
            <a:off x="274320" y="8394192"/>
            <a:ext cx="6309360" cy="2194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800">
                <a:solidFill>
                  <a:srgbClr val="464646"/>
                </a:solidFill>
              </a:rPr>
              <a:t>Evidence cutoff: 7 Sep 2026 | Screen incomplete; no activation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Outpatient Rehab Revenue-Cycle Services | September 2026</a:t>
            </a:r>
          </a:p>
          <a:p>
            <a:r>
              <a:rPr sz="900"/>
              <a:t>Undated vendor pages are current assertions, not archived operating-date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2"/>
              </a:rPr>
              <a:t>1. RECENT + HISTORICAL gathering chatroom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8600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3"/>
              </a:rPr>
              <a:t>2. RECENT source summary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92608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4"/>
              </a:rPr>
              <a:t>3. HISTORICAL consolidated evidence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6615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5"/>
              </a:rPr>
              <a:t>4. Six-output synthesis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6"/>
              </a:rPr>
              <a:t>5. Identifier evidence and caveats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7"/>
              </a:rPr>
              <a:t>6. PT Billing Services history</a:t>
            </a:r>
          </a:p>
          <a:p>
            <a:r>
              <a:rPr sz="900">
                <a:solidFill>
                  <a:srgbClr val="3C3C3C"/>
                </a:solidFill>
              </a:rPr>
              <a:t>Family company since1996; therapy-specific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48639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8"/>
              </a:rPr>
              <a:t>7. PT Billing Services independent scope</a:t>
            </a:r>
          </a:p>
          <a:p>
            <a:r>
              <a:rPr sz="900">
                <a:solidFill>
                  <a:srgbClr val="3C3C3C"/>
                </a:solidFill>
              </a:rPr>
              <a:t>Independent outsourced PT biller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2647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9"/>
              </a:rPr>
              <a:t>8. Physical Therapy Billing Services</a:t>
            </a:r>
          </a:p>
          <a:p>
            <a:r>
              <a:rPr sz="900">
                <a:solidFill>
                  <a:srgbClr val="3C3C3C"/>
                </a:solidFill>
              </a:rPr>
              <a:t>Long-running specialty RCM with100+client-practice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76655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10"/>
              </a:rPr>
              <a:t>9. Medical Billing Center</a:t>
            </a:r>
          </a:p>
          <a:p>
            <a:r>
              <a:rPr sz="900">
                <a:solidFill>
                  <a:srgbClr val="3C3C3C"/>
                </a:solidFill>
              </a:rPr>
              <a:t>Outpatient therapy billing and collections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740664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11"/>
              </a:rPr>
              <a:t>10. Medical Billing Center leadership</a:t>
            </a:r>
          </a:p>
          <a:p>
            <a:r>
              <a:rPr sz="900">
                <a:solidFill>
                  <a:srgbClr val="3C3C3C"/>
                </a:solidFill>
              </a:rPr>
              <a:t>Founded by physical therapists2001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Sources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Outpatient Rehab Revenue-Cycle Services | September 2026</a:t>
            </a:r>
          </a:p>
          <a:p>
            <a:r>
              <a:rPr sz="900"/>
              <a:t>Undated vendor pages are current assertions, not archived operating-date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2"/>
              </a:rPr>
              <a:t>11. PT Pilot Billing</a:t>
            </a:r>
          </a:p>
          <a:p>
            <a:r>
              <a:rPr sz="900">
                <a:solidFill>
                  <a:srgbClr val="3C3C3C"/>
                </a:solidFill>
              </a:rPr>
              <a:t>Practice-owner origins and dedicated billers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8600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3"/>
              </a:rPr>
              <a:t>12. PT Outsource Solutions</a:t>
            </a:r>
          </a:p>
          <a:p>
            <a:r>
              <a:rPr sz="900">
                <a:solidFill>
                  <a:srgbClr val="3C3C3C"/>
                </a:solidFill>
              </a:rPr>
              <a:t>Therapy coding and payer workflow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92608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4"/>
              </a:rPr>
              <a:t>13. WebPT RCM</a:t>
            </a:r>
          </a:p>
          <a:p>
            <a:r>
              <a:rPr sz="900">
                <a:solidFill>
                  <a:srgbClr val="3C3C3C"/>
                </a:solidFill>
              </a:rPr>
              <a:t>Bundled platform/RCM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56615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5"/>
              </a:rPr>
              <a:t>14. WebPT Warburg announcement</a:t>
            </a:r>
          </a:p>
          <a:p>
            <a:r>
              <a:rPr sz="900">
                <a:solidFill>
                  <a:srgbClr val="3C3C3C"/>
                </a:solidFill>
              </a:rPr>
              <a:t>2019 majority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6"/>
              </a:rPr>
              <a:t>15. BLS Physical Therapists</a:t>
            </a:r>
          </a:p>
          <a:p>
            <a:r>
              <a:rPr sz="900">
                <a:solidFill>
                  <a:srgbClr val="3C3C3C"/>
                </a:solidFill>
              </a:rPr>
              <a:t>Aug27 2026 employment projection; no revenue CAGR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7"/>
              </a:rPr>
              <a:t>16. Historical RCM signal</a:t>
            </a:r>
          </a:p>
          <a:p>
            <a:r>
              <a:rPr sz="900">
                <a:solidFill>
                  <a:srgbClr val="3C3C3C"/>
                </a:solidFill>
              </a:rPr>
              <a:t>Aug24 specialty RCM eight-deal newsletter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48639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8"/>
              </a:rPr>
              <a:t>17. Recent clinic signal</a:t>
            </a:r>
          </a:p>
          <a:p>
            <a:r>
              <a:rPr sz="900">
                <a:solidFill>
                  <a:srgbClr val="3C3C3C"/>
                </a:solidFill>
              </a:rPr>
              <a:t>Clinic growth is context, not vendor financial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2647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9"/>
              </a:rPr>
              <a:t>18. Live Industry Research Tracker / semantic dedup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766559"/>
            <a:ext cx="60350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B5CAB"/>
                </a:solidFill>
                <a:hlinkClick r:id="rId10"/>
              </a:rPr>
              <a:t>19. Original master template</a:t>
            </a:r>
          </a:p>
          <a:p>
            <a:r>
              <a:rPr sz="900">
                <a:solidFill>
                  <a:srgbClr val="3C3C3C"/>
                </a:solidFill>
              </a:rPr>
              <a:t>Source evidence / method; linked title opens original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