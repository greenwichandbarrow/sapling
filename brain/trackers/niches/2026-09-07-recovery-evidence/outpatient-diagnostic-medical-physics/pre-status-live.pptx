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11"/>
    <p:sldId id="258" r:id="rId12"/>
    <p:sldId id="259" r:id="rId13"/>
  </p:sldIdLst>
  <p:sldSz cy="9144000" cx="6858000"/>
  <p:notesSz cx="6858000" cy="9144000"/>
  <p:embeddedFontLst>
    <p:embeddedFont>
      <p:font typeface="Play"/>
      <p:regular r:id="rId8"/>
      <p:bold r:id="rId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r:id="rId10" roundtripDataSignature="AMtx7mhcjH5U044/we/MAG3n+VSwUf8xx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0F6FF0B-5A19-4756-B371-CDEA78D29C38}">
  <a:tblStyle styleId="{60F6FF0B-5A19-4756-B371-CDEA78D29C38}" styleName="Table_0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E9EC"/>
          </a:solidFill>
        </a:fill>
      </a:tcStyle>
    </a:wholeTbl>
    <a:band1H>
      <a:tcTxStyle b="off" i="off"/>
      <a:tcStyle>
        <a:fill>
          <a:solidFill>
            <a:srgbClr val="CAD1D8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AD1D8"/>
          </a:solidFill>
        </a:fill>
      </a:tcStyle>
    </a:band1V>
    <a:band2V>
      <a:tcTxStyle b="off" i="off"/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font" Target="fonts/Play-regular.fntdata"/><Relationship Id="rId9" Type="http://schemas.openxmlformats.org/officeDocument/2006/relationships/font" Target="fonts/Play-bold.fntdata"/><Relationship Id="rId10" Type="http://customschemas.google.com/relationships/presentationmetadata" Target="metadata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271713" y="1143000"/>
            <a:ext cx="23145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4:notes"/>
          <p:cNvSpPr/>
          <p:nvPr>
            <p:ph idx="2" type="sldImg"/>
          </p:nvPr>
        </p:nvSpPr>
        <p:spPr>
          <a:xfrm>
            <a:off x="2271713" y="1143000"/>
            <a:ext cx="23145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33% of people have set up</a:t>
            </a:r>
            <a:endParaRPr/>
          </a:p>
        </p:txBody>
      </p:sp>
      <p:sp>
        <p:nvSpPr>
          <p:cNvPr id="87" name="Google Shape;87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514350" y="1496484"/>
            <a:ext cx="5829300" cy="318346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857250" y="4802717"/>
            <a:ext cx="5143500" cy="22076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467916" y="2279653"/>
            <a:ext cx="5915025" cy="380364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467916" y="6119286"/>
            <a:ext cx="5915025" cy="20002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500"/>
              <a:buNone/>
              <a:defRPr sz="15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350"/>
              <a:buNone/>
              <a:defRPr sz="135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71488" y="2434167"/>
            <a:ext cx="2914650" cy="58017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3471863" y="2434167"/>
            <a:ext cx="2914650" cy="58017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72381" y="486836"/>
            <a:ext cx="5915025" cy="1767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72381" y="2241551"/>
            <a:ext cx="2901255" cy="109854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72381" y="3340100"/>
            <a:ext cx="2901255" cy="49127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3471863" y="2241551"/>
            <a:ext cx="2915543" cy="109854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3471863" y="3340100"/>
            <a:ext cx="2915543" cy="49127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9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"/>
          <p:cNvSpPr txBox="1"/>
          <p:nvPr>
            <p:ph type="title"/>
          </p:nvPr>
        </p:nvSpPr>
        <p:spPr>
          <a:xfrm>
            <a:off x="472381" y="609600"/>
            <a:ext cx="2211884" cy="2133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" type="body"/>
          </p:nvPr>
        </p:nvSpPr>
        <p:spPr>
          <a:xfrm>
            <a:off x="2915543" y="1316569"/>
            <a:ext cx="3471863" cy="64981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61" name="Google Shape;61;p10"/>
          <p:cNvSpPr txBox="1"/>
          <p:nvPr>
            <p:ph idx="2" type="body"/>
          </p:nvPr>
        </p:nvSpPr>
        <p:spPr>
          <a:xfrm>
            <a:off x="472381" y="2743200"/>
            <a:ext cx="2211884" cy="50821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2" name="Google Shape;62;p10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0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 txBox="1"/>
          <p:nvPr>
            <p:ph type="title"/>
          </p:nvPr>
        </p:nvSpPr>
        <p:spPr>
          <a:xfrm>
            <a:off x="472381" y="609600"/>
            <a:ext cx="2211884" cy="2133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/>
          <p:nvPr>
            <p:ph idx="2" type="pic"/>
          </p:nvPr>
        </p:nvSpPr>
        <p:spPr>
          <a:xfrm>
            <a:off x="2915543" y="1316569"/>
            <a:ext cx="3471863" cy="6498167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1"/>
          <p:cNvSpPr txBox="1"/>
          <p:nvPr>
            <p:ph idx="1" type="body"/>
          </p:nvPr>
        </p:nvSpPr>
        <p:spPr>
          <a:xfrm>
            <a:off x="472381" y="2743200"/>
            <a:ext cx="2211884" cy="50821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9" name="Google Shape;69;p11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2"/>
          <p:cNvSpPr txBox="1"/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2"/>
          <p:cNvSpPr txBox="1"/>
          <p:nvPr>
            <p:ph idx="1" type="body"/>
          </p:nvPr>
        </p:nvSpPr>
        <p:spPr>
          <a:xfrm rot="5400000">
            <a:off x="528108" y="2377546"/>
            <a:ext cx="5801784" cy="5915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2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3"/>
          <p:cNvSpPr txBox="1"/>
          <p:nvPr>
            <p:ph type="title"/>
          </p:nvPr>
        </p:nvSpPr>
        <p:spPr>
          <a:xfrm rot="5400000">
            <a:off x="1772577" y="3622015"/>
            <a:ext cx="7749117" cy="1478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3"/>
          <p:cNvSpPr txBox="1"/>
          <p:nvPr>
            <p:ph idx="1" type="body"/>
          </p:nvPr>
        </p:nvSpPr>
        <p:spPr>
          <a:xfrm rot="5400000">
            <a:off x="-1227798" y="2186121"/>
            <a:ext cx="7749117" cy="4350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3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3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3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  <a:defRPr b="0" i="0" sz="33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brain/traces/agents/2026-09-07-niche-intelligence.md" TargetMode="External"/><Relationship Id="rId3" Type="http://schemas.openxmlformats.org/officeDocument/2006/relationships/hyperlink" Target="/tmp/niche-intel-2026-09-07-identified.md" TargetMode="External"/><Relationship Id="rId4" Type="http://schemas.openxmlformats.org/officeDocument/2006/relationships/hyperlink" Target="https://accreditationsupport.acr.org/support/solutions/articles/11000056188-quality-control-ct" TargetMode="External"/><Relationship Id="rId5" Type="http://schemas.openxmlformats.org/officeDocument/2006/relationships/hyperlink" Target="https://www.uniconmedicalphysics.com/" TargetMode="External"/><Relationship Id="rId6" Type="http://schemas.openxmlformats.org/officeDocument/2006/relationships/hyperlink" Target="https://www.rps.nyc/" TargetMode="External"/><Relationship Id="rId7" Type="http://schemas.openxmlformats.org/officeDocument/2006/relationships/hyperlink" Target="https://www.rps.nyc/post/hedge-fund-buyouts-medical-physics-prices-ny-nj" TargetMode="External"/><Relationship Id="rId8" Type="http://schemas.openxmlformats.org/officeDocument/2006/relationships/hyperlink" Target="https://intermountainmedicalphysics.com/" TargetMode="External"/><Relationship Id="rId9" Type="http://schemas.openxmlformats.org/officeDocument/2006/relationships/hyperlink" Target="https://ventmedicalphysics.com/" TargetMode="External"/><Relationship Id="rId10" Type="http://schemas.openxmlformats.org/officeDocument/2006/relationships/hyperlink" Target="https://www.diagnosticradphys.com/locations/medical-physicist-new-jersey/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estphysics.com/west-physics-announces-acquisition-of-radiographic-testing-services-inc/" TargetMode="External"/><Relationship Id="rId3" Type="http://schemas.openxmlformats.org/officeDocument/2006/relationships/hyperlink" Target="https://w3.aapm.org/corporate_affiliates/" TargetMode="External"/><Relationship Id="rId4" Type="http://schemas.openxmlformats.org/officeDocument/2006/relationships/hyperlink" Target="https://www.kslab.com/wp-content/uploads/2018/10/KS-Capabilities-Statement.pdf" TargetMode="External"/><Relationship Id="rId5" Type="http://schemas.openxmlformats.org/officeDocument/2006/relationships/hyperlink" Target="/tmp/niche-intel-2026-09-07-synthesis.md" TargetMode="External"/><Relationship Id="rId6" Type="http://schemas.openxmlformats.org/officeDocument/2006/relationships/hyperlink" Target="https://www.census.gov/naics/reference_files_tools/2022_NAICS_Manual.pdf" TargetMode="External"/><Relationship Id="rId7" Type="http://schemas.openxmlformats.org/officeDocument/2006/relationships/hyperlink" Target="https://docs.google.com/spreadsheets/d/1vHx4E1tRTR6V3k7NQeHdCrUjDITJVtZA5YPSIFeSins/edit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drive.google.com/file/d/10G33YObal28mUqA5mTOX-THINT3n2c5z/view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9" name="Google Shape;89;p14"/>
          <p:cNvCxnSpPr/>
          <p:nvPr/>
        </p:nvCxnSpPr>
        <p:spPr>
          <a:xfrm>
            <a:off x="164592" y="694944"/>
            <a:ext cx="6528816" cy="0"/>
          </a:xfrm>
          <a:prstGeom prst="straightConnector1">
            <a:avLst/>
          </a:prstGeom>
          <a:noFill/>
          <a:ln cap="flat" cmpd="sng" w="9525">
            <a:solidFill>
              <a:srgbClr val="C49B77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0" name="Google Shape;90;p14"/>
          <p:cNvCxnSpPr/>
          <p:nvPr/>
        </p:nvCxnSpPr>
        <p:spPr>
          <a:xfrm>
            <a:off x="164592" y="8723376"/>
            <a:ext cx="6528816" cy="0"/>
          </a:xfrm>
          <a:prstGeom prst="straightConnector1">
            <a:avLst/>
          </a:prstGeom>
          <a:noFill/>
          <a:ln cap="flat" cmpd="sng" w="9525">
            <a:solidFill>
              <a:srgbClr val="C49B77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91" name="Google Shape;91;p14"/>
          <p:cNvGraphicFramePr/>
          <p:nvPr/>
        </p:nvGraphicFramePr>
        <p:xfrm>
          <a:off x="164592" y="749808"/>
          <a:ext cx="6528816" cy="6291072"/>
        </p:xfrm>
        <a:graphic>
          <a:graphicData uri="http://schemas.openxmlformats.org/drawingml/2006/table">
            <a:tbl>
              <a:tblPr bandRow="1" firstRow="1">
                <a:noFill/>
                <a:tableStyleId>{60F6FF0B-5A19-4756-B371-CDEA78D29C38}</a:tableStyleId>
              </a:tblPr>
              <a:tblGrid>
                <a:gridCol w="3264408"/>
                <a:gridCol w="3264408"/>
              </a:tblGrid>
              <a:tr h="384048">
                <a:tc gridSpan="2">
                  <a:txBody>
                    <a:bodyPr wrap="square"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rgbClr val="000000"/>
                          </a:solidFill>
                        </a:rPr>
                        <a:t>Diagnostic Medical Physics QA | Sep 2026</a:t>
                      </a:r>
                      <a:endParaRPr sz="1400" u="none" cap="none" strike="noStrike"/>
                    </a:p>
                  </a:txBody>
                  <a:tcPr marT="27432" marB="18288" marR="64008" marL="64008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  <a:tr h="32004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</a:rPr>
                        <a:t>Assessment: 1.83 / 3.0 (61%)</a:t>
                      </a:r>
                    </a:p>
                    <a:p>
                      <a:r>
                        <a:rPr sz="1000">
                          <a:solidFill>
                            <a:srgbClr val="000000"/>
                          </a:solidFill>
                        </a:rPr>
                        <a:t>Initial screen incomplete; analyst review.</a:t>
                      </a:r>
                    </a:p>
                  </a:txBody>
                  <a:tcPr marT="27432" marB="18288" marR="64008" marL="64008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00000"/>
                          </a:solidFill>
                        </a:rPr>
                        <a:t>Status: Pending Scoring</a:t>
                      </a:r>
                      <a:endParaRPr sz="1400" u="none" cap="none" strike="noStrike"/>
                    </a:p>
                  </a:txBody>
                  <a:tcPr marT="27432" marB="18288" marR="64008" marL="64008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1168">
                <a:tc gridSpan="2">
                  <a:txBody>
                    <a:bodyPr wrap="square"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00000"/>
                          </a:solidFill>
                        </a:rPr>
                        <a:t>Industry Overview</a:t>
                      </a:r>
                      <a:endParaRPr sz="1400" u="none" cap="none" strike="noStrike"/>
                    </a:p>
                  </a:txBody>
                  <a:tcPr marT="27432" marB="18288" marR="64008" marL="64008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  <a:tr h="612648">
                <a:tc gridSpan="2">
                  <a:txBody>
                    <a:bodyPr wrap="square"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Outsourced diagnostic imaging QA, equipment-performance testing and radiation-safety support for outpatient facilities. Five US service providers verified; independent scaled pool unknown. US service-only TAM and CAGR remain unverified.</a:t>
                      </a:r>
                      <a:endParaRPr sz="1000"/>
                    </a:p>
                  </a:txBody>
                  <a:tcPr marT="27432" marB="18288" marR="64008" marL="64008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  <a:tr h="201168">
                <a:tc gridSpan="2">
                  <a:txBody>
                    <a:bodyPr wrap="square"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00000"/>
                          </a:solidFill>
                        </a:rPr>
                        <a:t>Industry Thesis</a:t>
                      </a:r>
                      <a:endParaRPr sz="1400" u="none" cap="none" strike="noStrike"/>
                    </a:p>
                  </a:txBody>
                  <a:tcPr marT="27432" marB="18288" marR="64008" marL="64008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  <a:tr h="612648">
                <a:tc gridSpan="2">
                  <a:txBody>
                    <a:bodyPr wrap="square"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5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Specialist firms occupy the compliance layer between imaging equipment and facility operators. Periodic testing, qualified personnel and equipment-history continuity can support repeat demand and switching friction. Multi-physicist teams may scale local coverage; that operating model still needs validation.</a:t>
                      </a:r>
                      <a:r>
                        <a:rPr lang="en-US" sz="1000" u="none" cap="none" strike="noStrike">
                          <a:highlight>
                            <a:srgbClr val="FFFF00"/>
                          </a:highlight>
                        </a:rPr>
                        <a:t/>
                      </a:r>
                      <a:r>
                        <a:rPr lang="en-US" sz="1000" u="none" cap="none" strike="noStrike"/>
                        <a:t/>
                      </a:r>
                      <a:r>
                        <a:rPr lang="en-US" sz="1000"/>
                        <a:t/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  <a:extLst>
                            <a:ext uri="http://customooxmlschemas.google.com/">
                              <go:slidesCustomData xmlns:go="http://customooxmlschemas.google.com/" textRoundtripDataId="0"/>
                            </a:ext>
                          </a:extLst>
                        </a:rPr>
                        <a:t/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  <a:extLst>
                            <a:ext uri="http://customooxmlschemas.google.com/">
                              <go:slidesCustomData xmlns:go="http://customooxmlschemas.google.com/" textRoundtripDataId="1"/>
                            </a:ext>
                          </a:extLst>
                        </a:rPr>
                        <a:t/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  <a:extLst>
                            <a:ext uri="http://customooxmlschemas.google.com/">
                              <go:slidesCustomData xmlns:go="http://customooxmlschemas.google.com/" textRoundtripDataId="2"/>
                            </a:ext>
                          </a:extLst>
                        </a:rPr>
                        <a:t/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endParaRPr sz="10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32" marB="18288" marR="64008" marL="64008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  <a:tr h="201168">
                <a:tc>
                  <a:txBody>
                    <a:bodyPr wrap="square"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00000"/>
                          </a:solidFill>
                        </a:rPr>
                        <a:t>Macro Trends &amp; Growth Drivers</a:t>
                      </a:r>
                      <a:endParaRPr sz="1400" u="none" cap="none" strike="noStrike"/>
                    </a:p>
                  </a:txBody>
                  <a:tcPr marT="27432" marB="18288" marR="64008" marL="64008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00000"/>
                          </a:solidFill>
                        </a:rPr>
                        <a:t>Risks &amp; Concerns</a:t>
                      </a:r>
                      <a:endParaRPr sz="1400" u="none" cap="none" strike="noStrike"/>
                    </a:p>
                  </a:txBody>
                  <a:tcPr marT="27432" marB="18288" marR="64008" marL="64008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indent="-3048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ACR CT accreditation requires annual physicist surveys.
• Equipment changes create acceptance/QA work.
• Safety documentation supports repeat service.
• Above-GDP niche growth is not established.</a:t>
                      </a: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32" marB="18288" marR="64008" marL="64008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indent="-3048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Credentialed talent and founder dependence.
• Liability and travel-density economics.
• Consolidation and hospital buyer power.
• Narrow TAM and margins unverified.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32" marB="18288" marR="64008" marL="64008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1168">
                <a:tc>
                  <a:txBody>
                    <a:bodyPr wrap="square"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00000"/>
                          </a:solidFill>
                        </a:rPr>
                        <a:t>Economics &amp; Pricing</a:t>
                      </a:r>
                      <a:endParaRPr sz="1400" u="none" cap="none" strike="noStrike"/>
                    </a:p>
                  </a:txBody>
                  <a:tcPr marT="27432" marB="18288" marR="64008" marL="64008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00000"/>
                          </a:solidFill>
                        </a:rPr>
                        <a:t>Competitive Landscape</a:t>
                      </a:r>
                      <a:endParaRPr sz="1400" u="none" cap="none" strike="noStrike"/>
                    </a:p>
                  </a:txBody>
                  <a:tcPr marT="27432" marB="18288" marR="64008" marL="64008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Revenue: repeat surveys plus project acceptance, shielding and ongoing safety support. Contracted share and retention unknown.
Typical EBITDA/gross margin: unknown. No 15%+ margin claim.
Price varies by modality and scope; no representative rate validated.</a:t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32" marB="18288" marR="64008" marL="64008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Regional examples: Unicon (OH), RPS (NY), Intermountain (West), Vent (PA/NJ), DRPS (NJ service area). Ownership/scale need verification.
West Physics acquired Albany RTS in Sep 2026; RTS is a comp, not an independent target.</a:t>
                      </a:r>
                      <a:r>
                        <a:rPr lang="en-US" sz="1000"/>
                        <a:t/>
                      </a:r>
                      <a:endParaRPr sz="1000" u="none" cap="none" strike="noStrike"/>
                    </a:p>
                  </a:txBody>
                  <a:tcPr marT="27432" marB="18288" marR="64008" marL="64008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1168">
                <a:tc>
                  <a:txBody>
                    <a:bodyPr wrap="square"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Customers</a:t>
                      </a:r>
                      <a:endParaRPr sz="1400" u="none" cap="none" strike="noStrike"/>
                    </a:p>
                  </a:txBody>
                  <a:tcPr marT="27432" marB="18288" marR="64008" marL="64008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Barriers to Entry</a:t>
                      </a:r>
                      <a:endParaRPr sz="1400" u="none" cap="none" strike="noStrike"/>
                    </a:p>
                  </a:txBody>
                  <a:tcPr marT="27432" marB="18288" marR="64008" marL="64008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Outpatient imaging centers, ambulatory facilities and other diagnostic equipment operators. Focus excludes clinic ownership, treatment delivery and equipment resale.</a:t>
                      </a:r>
                      <a:r>
                        <a:rPr lang="en-US" sz="1000"/>
                        <a:t/>
                      </a:r>
                      <a:r>
                        <a:rPr lang="en-US" sz="1000"/>
                        <a:t/>
                      </a:r>
                      <a:endParaRPr sz="1000"/>
                    </a:p>
                  </a:txBody>
                  <a:tcPr marT="27432" marB="18288" marR="64008" marL="64008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Qualified physicists; accreditation/regulatory knowledge; calibrated tools; site-specific history. Scarce talent is also a supplier constraint.</a:t>
                      </a:r>
                      <a:endParaRPr sz="1000"/>
                    </a:p>
                  </a:txBody>
                  <a:tcPr marT="27432" marB="18288" marR="64008" marL="64008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1168">
                <a:tc gridSpan="2">
                  <a:txBody>
                    <a:bodyPr wrap="square"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Key Success Factors</a:t>
                      </a:r>
                      <a:endParaRPr sz="1400" u="none" cap="none" strike="noStrike"/>
                    </a:p>
                  </a:txBody>
                  <a:tcPr marT="27432" marB="18288" marR="64008" marL="64008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  <a:tr h="475488">
                <a:tc>
                  <a:txBody>
                    <a:bodyPr wrap="square"/>
                    <a:lstStyle/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Retain qualified staff; standardize QA reports; cluster routes; maintain equipment histories and service cadence; track retention and margin by modality.</a:t>
                      </a:r>
                      <a:endParaRPr sz="1000"/>
                    </a:p>
                  </a:txBody>
                  <a:tcPr marT="27432" marB="18288" marR="64008" marL="64008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J-curve hypothesis: periodic compliance demand and team continuity support transition. Verify contracts and key-person exposure.</a:t>
                      </a:r>
                      <a:endParaRPr sz="1000"/>
                    </a:p>
                  </a:txBody>
                  <a:tcPr marT="27432" marB="18288" marR="64008" marL="64008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1168">
                <a:tc gridSpan="2">
                  <a:txBody>
                    <a:bodyPr wrap="square"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Exit</a:t>
                      </a:r>
                      <a:endParaRPr sz="1400" u="none" cap="none" strike="noStrike"/>
                    </a:p>
                  </a:txBody>
                  <a:tcPr marT="27432" marB="18288" marR="64008" marL="64008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  <a:tr h="393192">
                <a:tc gridSpan="2">
                  <a:txBody>
                    <a:bodyPr wrap="square"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5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West Physics is a demonstrated strategic acquirer. Other buyers are not validated. Consolidation signals an exit route and competition for independent firms.</a:t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endParaRPr sz="10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32" marB="18288" marR="64008" marL="64008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</a:tbl>
          </a:graphicData>
        </a:graphic>
      </p:graphicFrame>
      <p:pic>
        <p:nvPicPr>
          <p:cNvPr descr="A black background with a black square&#10;&#10;AI-generated content may be incorrect.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4592" y="45720"/>
            <a:ext cx="678789" cy="678789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 rot="-5400000">
            <a:off x="4800600" y="8759952"/>
            <a:ext cx="1874519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Strictly Confidential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182880" y="8046720"/>
            <a:ext cx="6492240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sz="900">
                <a:solidFill>
                  <a:srgbClr val="323232"/>
                </a:solidFill>
              </a:rPr>
              <a:t>Research status: initial screen incomplete. Exact niche TAM, typical EBITDA and scaled independent target count remain unverified. Sources follow.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74320"/>
            <a:ext cx="6217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/>
              <a:t>Sources | Diagnostic Medical Physics QA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914400"/>
            <a:ext cx="6217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Outsourced Diagnostic Medical Physics QA and Radiation-Safety Services for Outpatient Imaging Facilities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691640"/>
            <a:ext cx="6217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0B5CAB"/>
                </a:solidFill>
                <a:hlinkClick r:id="rId2"/>
              </a:rPr>
              <a:t>Gathering and synthesis chatroom — RECENT / HISTORICAL / synthesis coordination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2423160"/>
            <a:ext cx="6217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0B5CAB"/>
                </a:solidFill>
                <a:hlinkClick r:id="rId3"/>
              </a:rPr>
              <a:t>Identifier evidence and caveats — Full screen, TAM and provider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3154680"/>
            <a:ext cx="6217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0B5CAB"/>
                </a:solidFill>
                <a:hlinkClick r:id="rId4"/>
              </a:rPr>
              <a:t>ACR CT QA requirements — Revised Mar21 2025 annual physicist survey requirements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3886200"/>
            <a:ext cx="6217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0B5CAB"/>
                </a:solidFill>
                <a:hlinkClick r:id="rId5"/>
              </a:rPr>
              <a:t>Unicon — Independent regional diagnostic service provider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4617720"/>
            <a:ext cx="6217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0B5CAB"/>
                </a:solidFill>
                <a:hlinkClick r:id="rId6"/>
              </a:rPr>
              <a:t>RPS — NY-area medical physics services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5349240"/>
            <a:ext cx="6217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0B5CAB"/>
                </a:solidFill>
                <a:hlinkClick r:id="rId7"/>
              </a:rPr>
              <a:t>RPS independence — Self-described independent non-PE provider; competing firms price statements not independently adopted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6080760"/>
            <a:ext cx="6217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0B5CAB"/>
                </a:solidFill>
                <a:hlinkClick r:id="rId8"/>
              </a:rPr>
              <a:t>Intermountain — Independent annual QA/RSO, since2019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6812280"/>
            <a:ext cx="6217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0B5CAB"/>
                </a:solidFill>
                <a:hlinkClick r:id="rId9"/>
              </a:rPr>
              <a:t>Vent — Qualified diagnostic consulting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7543800"/>
            <a:ext cx="6217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0B5CAB"/>
                </a:solidFill>
                <a:hlinkClick r:id="rId10"/>
              </a:rPr>
              <a:t>DRPS — NJ diagnostic QA/RSO services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74320"/>
            <a:ext cx="6217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/>
              <a:t>Sources | Diagnostic Medical Physics QA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914400"/>
            <a:ext cx="6217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Outsourced Diagnostic Medical Physics QA and Radiation-Safety Services for Outpatient Imaging Facilities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691640"/>
            <a:ext cx="6217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0B5CAB"/>
                </a:solidFill>
                <a:hlinkClick r:id="rId2"/>
              </a:rPr>
              <a:t>West Physics RTS acquisition — Sept2 announcement; acquired comp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2423160"/>
            <a:ext cx="6217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0B5CAB"/>
                </a:solidFill>
                <a:hlinkClick r:id="rId3"/>
              </a:rPr>
              <a:t>AAPM directory — Corporate directory includes equipment vendors; not independent-firm count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3154680"/>
            <a:ext cx="6217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0B5CAB"/>
                </a:solidFill>
                <a:hlinkClick r:id="rId4"/>
              </a:rPr>
              <a:t>K&amp;S capabilities — Taxonomy/capabilities only; historical ownership not current validation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3886200"/>
            <a:ext cx="6217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0B5CAB"/>
                </a:solidFill>
                <a:hlinkClick r:id="rId5"/>
              </a:rPr>
              <a:t>Synthesis — Six outputs and workflow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4617720"/>
            <a:ext cx="6217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0B5CAB"/>
                </a:solidFill>
                <a:hlinkClick r:id="rId6"/>
              </a:rPr>
              <a:t>Census2022 NAICS — Broad classification definitions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5349240"/>
            <a:ext cx="6217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0B5CAB"/>
                </a:solidFill>
                <a:hlinkClick r:id="rId7"/>
              </a:rPr>
              <a:t>Live tracker — Four tabs re-read for semantic dedup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58521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400"/>
              <a:t>Sources: Industry Scoring</a:t>
            </a:r>
          </a:p>
          <a:p>
            <a:r>
              <a:rPr sz="1400"/>
              <a:t>Industry score 1.83 / 3.0 (61%). Initial screen remains incomplete.</a:t>
            </a:r>
          </a:p>
          <a:p>
            <a:r>
              <a:rPr sz="1400"/>
              <a:t>Actual eight-group G&amp;B INDUSTRY template; ratings +=3, +/-=2, -=1. Unknown empirical metrics assigned conservative 1 uncertainty penalty, not asserted adverse facts; unknown qualitative judgments generally 2. Target TAM excluded. Weighted average /3. Original category/total formulas retained; numeric rating inputs replace SWITCH and deterministic XML caches verified with openpyxl data_only. No initial-screen certification.</a:t>
            </a:r>
          </a:p>
          <a:p>
            <a:r>
              <a:rPr sz="1400">
                <a:hlinkClick r:id="rId2"/>
              </a:rPr>
              <a:t>Workbook: https://drive.google.com/file/d/10G33YObal28mUqA5mTOX-THINT3n2c5z/view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2025-07-18T20:10:07Z</dcterms:created>
  <dc:creator>Jonathan Zylberberg</dc:creator>
</cp:coreProperties>
</file>