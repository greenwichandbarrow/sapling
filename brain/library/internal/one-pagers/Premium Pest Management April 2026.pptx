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</p:sldIdLst>
  <p:sldSz cy="9144000" cx="6858000"/>
  <p:notesSz cx="6858000" cy="9144000"/>
  <p:embeddedFontLst>
    <p:embeddedFont>
      <p:font typeface="Play"/>
      <p:regular r:id="rId8"/>
      <p:bold r:id="rId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10" roundtripDataSignature="AMtx7mhcjH5U044/we/MAG3n+VSwUf8xx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0F6FF0B-5A19-4756-B371-CDEA78D29C38}">
  <a:tblStyle styleId="{60F6FF0B-5A19-4756-B371-CDEA78D29C38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9EC"/>
          </a:solidFill>
        </a:fill>
      </a:tcStyle>
    </a:wholeTbl>
    <a:band1H>
      <a:tcTxStyle b="off" i="off"/>
      <a:tcStyle>
        <a:fill>
          <a:solidFill>
            <a:srgbClr val="CAD1D8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AD1D8"/>
          </a:solidFill>
        </a:fill>
      </a:tcStyle>
    </a:band1V>
    <a:band2V>
      <a:tcTxStyle b="off" i="off"/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font" Target="fonts/Play-regular.fntdata"/><Relationship Id="rId9" Type="http://schemas.openxmlformats.org/officeDocument/2006/relationships/font" Target="fonts/Play-bold.fntdata"/><Relationship Id="rId10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271713" y="1143000"/>
            <a:ext cx="23145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4:notes"/>
          <p:cNvSpPr/>
          <p:nvPr>
            <p:ph idx="2" type="sldImg"/>
          </p:nvPr>
        </p:nvSpPr>
        <p:spPr>
          <a:xfrm>
            <a:off x="2271713" y="1143000"/>
            <a:ext cx="23145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33% of people have set up</a:t>
            </a:r>
            <a:endParaRPr/>
          </a:p>
        </p:txBody>
      </p:sp>
      <p:sp>
        <p:nvSpPr>
          <p:cNvPr id="87" name="Google Shape;87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514350" y="1496484"/>
            <a:ext cx="5829300" cy="318346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857250" y="4802717"/>
            <a:ext cx="5143500" cy="22076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467916" y="2279653"/>
            <a:ext cx="5915025" cy="38036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467916" y="6119286"/>
            <a:ext cx="5915025" cy="20002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350"/>
              <a:buNone/>
              <a:defRPr sz="135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71488" y="2434167"/>
            <a:ext cx="2914650" cy="5801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3471863" y="2434167"/>
            <a:ext cx="2914650" cy="5801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72381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72381" y="2241551"/>
            <a:ext cx="2901255" cy="10985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72381" y="3340100"/>
            <a:ext cx="2901255" cy="4912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3471863" y="2241551"/>
            <a:ext cx="2915543" cy="10985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3471863" y="3340100"/>
            <a:ext cx="2915543" cy="4912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9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/>
          <p:nvPr>
            <p:ph type="title"/>
          </p:nvPr>
        </p:nvSpPr>
        <p:spPr>
          <a:xfrm>
            <a:off x="472381" y="609600"/>
            <a:ext cx="2211884" cy="21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" type="body"/>
          </p:nvPr>
        </p:nvSpPr>
        <p:spPr>
          <a:xfrm>
            <a:off x="2915543" y="1316569"/>
            <a:ext cx="3471863" cy="64981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1" name="Google Shape;61;p10"/>
          <p:cNvSpPr txBox="1"/>
          <p:nvPr>
            <p:ph idx="2" type="body"/>
          </p:nvPr>
        </p:nvSpPr>
        <p:spPr>
          <a:xfrm>
            <a:off x="472381" y="2743200"/>
            <a:ext cx="2211884" cy="5082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2" name="Google Shape;62;p10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0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/>
          <p:nvPr>
            <p:ph type="title"/>
          </p:nvPr>
        </p:nvSpPr>
        <p:spPr>
          <a:xfrm>
            <a:off x="472381" y="609600"/>
            <a:ext cx="2211884" cy="21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/>
          <p:nvPr>
            <p:ph idx="2" type="pic"/>
          </p:nvPr>
        </p:nvSpPr>
        <p:spPr>
          <a:xfrm>
            <a:off x="2915543" y="1316569"/>
            <a:ext cx="3471863" cy="6498167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1"/>
          <p:cNvSpPr txBox="1"/>
          <p:nvPr>
            <p:ph idx="1" type="body"/>
          </p:nvPr>
        </p:nvSpPr>
        <p:spPr>
          <a:xfrm>
            <a:off x="472381" y="2743200"/>
            <a:ext cx="2211884" cy="5082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9" name="Google Shape;69;p11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/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2"/>
          <p:cNvSpPr txBox="1"/>
          <p:nvPr>
            <p:ph idx="1" type="body"/>
          </p:nvPr>
        </p:nvSpPr>
        <p:spPr>
          <a:xfrm rot="5400000">
            <a:off x="528108" y="2377546"/>
            <a:ext cx="5801784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2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 txBox="1"/>
          <p:nvPr>
            <p:ph type="title"/>
          </p:nvPr>
        </p:nvSpPr>
        <p:spPr>
          <a:xfrm rot="5400000">
            <a:off x="1772577" y="3622015"/>
            <a:ext cx="7749117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3"/>
          <p:cNvSpPr txBox="1"/>
          <p:nvPr>
            <p:ph idx="1" type="body"/>
          </p:nvPr>
        </p:nvSpPr>
        <p:spPr>
          <a:xfrm rot="5400000">
            <a:off x="-1227798" y="2186121"/>
            <a:ext cx="7749117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3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  <a:defRPr b="0" i="0" sz="33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9" name="Google Shape;89;p14"/>
          <p:cNvCxnSpPr/>
          <p:nvPr/>
        </p:nvCxnSpPr>
        <p:spPr>
          <a:xfrm>
            <a:off x="1187927" y="1227990"/>
            <a:ext cx="5359400" cy="0"/>
          </a:xfrm>
          <a:prstGeom prst="straightConnector1">
            <a:avLst/>
          </a:prstGeom>
          <a:noFill/>
          <a:ln cap="flat" cmpd="sng" w="9525">
            <a:solidFill>
              <a:srgbClr val="C49B77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0" name="Google Shape;90;p14"/>
          <p:cNvCxnSpPr/>
          <p:nvPr/>
        </p:nvCxnSpPr>
        <p:spPr>
          <a:xfrm>
            <a:off x="0" y="1841725"/>
            <a:ext cx="6858000" cy="0"/>
          </a:xfrm>
          <a:prstGeom prst="straightConnector1">
            <a:avLst/>
          </a:prstGeom>
          <a:noFill/>
          <a:ln cap="flat" cmpd="sng" w="9525">
            <a:solidFill>
              <a:srgbClr val="C49B77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91" name="Google Shape;91;p14"/>
          <p:cNvGraphicFramePr/>
          <p:nvPr/>
        </p:nvGraphicFramePr>
        <p:xfrm>
          <a:off x="107880" y="14924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{60F6FF0B-5A19-4756-B371-CDEA78D29C38}</a:tableStyleId>
              </a:tblPr>
              <a:tblGrid>
                <a:gridCol w="3298375"/>
                <a:gridCol w="3298375"/>
              </a:tblGrid>
              <a:tr h="34775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 b="1">
                          <a:solidFill>
                            <a:srgbClr val="000000"/>
                          </a:solidFill>
                        </a:rPr>
                        <a:t>Premium Pest Management for Luxury Hospitality &amp; Food Service | April 2026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299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0000"/>
                          </a:solidFill>
                        </a:rPr>
                        <a:t>2.73 / 3.0 (91%) — New</a:t>
                      </a:r>
                      <a:r>
                        <a:rPr b="1" lang="en-US">
                          <a:highlight>
                            <a:srgbClr val="FFFF00"/>
                          </a:highlight>
                        </a:rPr>
                        <a:t/>
                      </a:r>
                      <a:r>
                        <a:rPr b="1" lang="en-US" sz="1400" u="none" cap="none" strike="noStrike">
                          <a:highlight>
                            <a:srgbClr val="FFFF00"/>
                          </a:highlight>
                        </a:rPr>
                        <a:t/>
                      </a:r>
                      <a:r>
                        <a:rPr b="1" lang="en-US">
                          <a:highlight>
                            <a:srgbClr val="FFFF00"/>
                          </a:highlight>
                        </a:rPr>
                        <a:t/>
                      </a:r>
                      <a:r>
                        <a:rPr b="1" lang="en-US" sz="1400" u="none" cap="none" strike="noStrike">
                          <a:highlight>
                            <a:srgbClr val="FFFF00"/>
                          </a:highlight>
                        </a:rPr>
                        <a:t/>
                      </a:r>
                      <a:r>
                        <a:rPr b="1" lang="en-US">
                          <a:highlight>
                            <a:srgbClr val="FFFF00"/>
                          </a:highlight>
                        </a:rPr>
                        <a:t/>
                      </a:r>
                      <a:r>
                        <a:rPr b="1" lang="en-US" sz="1400" u="none" cap="none" strike="noStrike">
                          <a:highlight>
                            <a:srgbClr val="FFFF00"/>
                          </a:highlight>
                        </a:rPr>
                        <a:t/>
                      </a:r>
                      <a:endParaRPr sz="1400" u="none" cap="none" strike="noStrike">
                        <a:highlight>
                          <a:srgbClr val="FFFF00"/>
                        </a:highlight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Status: Early research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9912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000000"/>
                          </a:solidFill>
                        </a:rPr>
                        <a:t>Commercial pest management for food-regulated and luxury environments: food processing plants, restaurants, hotels, luxury retail, and distribution centers. The U.S. pest control market is $26B (2025), growing at 5-6% CAGR. ~19,000+ firms, with ~21,800 independently owned. The sub-niche of food safety/HACCP pest management serves 37,000 food processing plants, ~1M restaurants, and 600+ major distribution centers. Pest management is classified as a "prerequisite program" under HACCP — facilities cannot pass GFSI-recognized audits (SQF, BRC, FSSC 22000) without documented pest management.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277125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800">
                          <a:solidFill>
                            <a:srgbClr val="000000"/>
                          </a:solidFill>
                        </a:rPr>
                        <a:t>Pest management for food-regulated facilities sits at a genuine regulatory chokepoint. FDA Food Safety Modernization Act mandates documented pest management as a prerequisite program for all registered food facilities. The compliance documentation layer — audit-ready reporting, trend analysis, corrective action logs — creates switching costs absent in general pest control. The industry is highly fragmented (no single firm controls &gt;15% market share) with 19,000+ operators, yet PE consolidation is mid-stage, leaving thousands of sub-$5M family-owned operators as acquisition candidates. The premium positioning toward luxury hospitality and high-end food service adds a differentiation layer that commodity roll-ups do not pursue.</a:t>
                      </a:r>
                      <a:endParaRPr sz="10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17780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000000"/>
                          </a:solidFill>
                        </a:rPr>
                        <a:t>FDA/FSMA enforcement intensifying; GAO calling for stronger inspections. Third-party audit proliferation (GFSI certification requirements deepening into supply chain). Climate change increasing pest pressure and season length. IoT/digital monitoring emerging as margin-expanding tech layer. Commercial pest control grew 9% in 2024. $84T wealth transfer driving luxury hospitality expansion.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385575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5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000000"/>
                          </a:solidFill>
                        </a:rPr>
                        <a:t>PE consolidation active (60% of M&amp;A is PE-backed) — acquisition competition real. Seasonality: 40-60% winter revenue drop north of 35th parallel. Chemical handling liability. National players (Rentokil, Rollins) could target food safety sub-niche. Licensed technician market competitive. Rentokil Terminix integration creates market uncertainty.</a:t>
                      </a:r>
                      <a:r>
                        <a:rPr lang="en-US" sz="1000" u="none" cap="none" strike="noStrike">
                          <a:highlight>
                            <a:srgbClr val="FFFF00"/>
                          </a:highlight>
                        </a:rPr>
                        <a:t/>
                      </a:r>
                      <a:r>
                        <a:rPr lang="en-US" sz="1000" u="none" cap="none" strike="noStrike"/>
                        <a:t/>
                      </a:r>
                      <a:r>
                        <a:rPr lang="en-US" sz="1000"/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0"/>
                            </a:ext>
                          </a:extLst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1"/>
                            </a:ext>
                          </a:extLst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2"/>
                            </a:ext>
                          </a:extLst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endParaRPr sz="1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000000"/>
                          </a:solidFill>
                        </a:rPr>
                        <a:t>EBITDA margins: 25-35%. Gross margins: 60-70%. Revenue per commercial customer: $1,200-6,000/yr. Food safety contracts: $800-2,000+/mo. Valuation: 3-4x EBITDA (acquisition); 6-8x at exit. Route economics: 8-12 stops/day, $150-500+/stop commercial.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Risks &amp; Concerns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18400">
                <a:tc>
                  <a:txBody>
                    <a:bodyPr/>
                    <a:lstStyle/>
                    <a:p>
                      <a:pPr indent="-3048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Rentokil-Terminix: largest globally, integration troubled. Rollins/Orkin: ~$3B, 35% commercial. Ecolab: food safety/hygiene platform. Sprague Pest Solutions: $60.7M, family-owned, food specialist. Copesan: national cooperative of independents. Thousands of $1-5M family operators remain unconsolidated.</a:t>
                      </a: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3048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3048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3048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29845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Font typeface="Arial"/>
                        <a:buChar char="•"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3048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Regulatory compliance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3048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Credit risk (if importer goes bankrupt and owes the government duties, broker may be liable)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3048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Carrier Liability limits &amp; educating the "uninsured" mid-market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3048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Geopolitical volatility (trade wars, industry-specific </a:t>
                      </a: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tariffs</a:t>
                      </a: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)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000000"/>
                          </a:solidFill>
                        </a:rPr>
                        <a:t>Food processing/manufacturing (FDA/FSMA/SQF). Fine dining and restaurants (health department mandates). Luxury hotels and hospitality (brand protection, discretion). Luxury retail (basements in metro areas). Healthcare facilities (sterile environments). Property management (multi-unit residential).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Competitive Landscape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33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State pesticide applicator licensing (separate categories). HACCP/food safety audit expertise takes years. Documentation requirements create switching costs. Route density creates geographic moats. Customer trust relationships (discretion in luxury). IPM certification and training requirements.</a:t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u="none" cap="none" strike="noStrike"/>
                        <a:t>There are several established top players in the industry, </a:t>
                      </a:r>
                      <a:r>
                        <a:rPr lang="en-US" sz="1000"/>
                        <a:t>like UPS, FedEx, DHL who bundle bonds with shipping but often provide poor service for complex compliance issues.Specialized Brokers are the gold standard but can be expensive.New tech-enabled disruptors are emerging, using AI to automate the filing process.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4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Route density in 10-15 mile radius. 50%+ commercial revenue mix. Food safety documentation capability (SQF, BRC, FSMA). Licensed technician retention pipeline. Technology layer: digital monitoring, automated compliance reporting. Luxury service positioning: discretion, reliability, white-glove.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Barriers to Entry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800">
                          <a:solidFill>
                            <a:srgbClr val="000000"/>
                          </a:solidFill>
                        </a:rPr>
                        <a:t>PE roll-up platforms (Certus, Rockit, PestCo, Action Termite). Strategic buyers (Rentokil, Rollins, ABC). Insurance-linked buyers (Anticimex sensor model). SBA financing available under $5M. Proven search fund exit path: pest control searchers have successfully exited.</a:t>
                      </a:r>
                      <a:r>
                        <a:rPr lang="en-US" sz="1000"/>
                        <a:t/>
                      </a:r>
                      <a:r>
                        <a:rPr lang="en-US" sz="1000"/>
                        <a:t/>
                      </a:r>
                      <a:endParaRPr sz="10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000"/>
                        <a:t>CBP licensing</a:t>
                      </a:r>
                      <a:endParaRPr sz="1000"/>
                    </a:p>
                    <a:p>
                      <a:pPr indent="-2730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Char char="•"/>
                      </a:pPr>
                      <a:r>
                        <a:rPr lang="en-US" sz="1000"/>
                        <a:t>Surety relationships</a:t>
                      </a:r>
                      <a:endParaRPr sz="1000"/>
                    </a:p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000"/>
                        <a:t>Data Intergration to CBP ACE portal</a:t>
                      </a:r>
                      <a:endParaRPr sz="1000" u="none" cap="none" strike="noStrike"/>
                    </a:p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b="0" lang="en-US" sz="1000" u="none" cap="none" strike="noStrike"/>
                        <a:t>Customer acquisition costs</a:t>
                      </a:r>
                      <a:endParaRPr b="0" sz="10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4397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Key Success Factors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381225">
                <a:tc>
                  <a:txBody>
                    <a:bodyPr/>
                    <a:lstStyle/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000"/>
                        <a:t>Underwriting discipline (identify quality clients)</a:t>
                      </a:r>
                      <a:endParaRPr sz="1000"/>
                    </a:p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000"/>
                        <a:t>Automation of security filings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000"/>
                        <a:t>Cross-selling beyond bonds to cargo insurance and duty drawback services</a:t>
                      </a:r>
                      <a:endParaRPr sz="1000"/>
                    </a:p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000" u="none" cap="none" strike="noStrike"/>
                        <a:t>Scalable infrastructure</a:t>
                      </a:r>
                      <a:endParaRPr sz="1400" u="none" cap="none" strike="noStrike"/>
                    </a:p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000" u="none" cap="none" strike="noStrike"/>
                        <a:t>Industry-specific customization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7780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Exit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127000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5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Strategic acquisition by </a:t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larger freight forwarders</a:t>
                      </a: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; PE exit given sticky</a:t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recurring revenue, high margins</a:t>
                      </a:r>
                      <a:endParaRPr sz="1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</a:tbl>
          </a:graphicData>
        </a:graphic>
      </p:graphicFrame>
      <p:pic>
        <p:nvPicPr>
          <p:cNvPr descr="A black background with a black square&#10;&#10;AI-generated content may be incorrect.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458" y="-6321"/>
            <a:ext cx="678789" cy="678789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 rot="-5400000">
            <a:off x="5657855" y="7901444"/>
            <a:ext cx="2269666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Strictly Confidential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-4415050" y="3444575"/>
            <a:ext cx="3522600" cy="1473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</a:rPr>
              <a:t>Why is PE not involved yet?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</a:rPr>
              <a:t>Is it hard to roll up?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</a:rPr>
              <a:t>Is it the economics?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</a:rPr>
              <a:t>Is it too customized?</a:t>
            </a:r>
            <a:endParaRPr sz="2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2025-07-18T20:10:07Z</dcterms:created>
  <dc:creator>Jonathan Zylberberg</dc:creator>
</cp:coreProperties>
</file>