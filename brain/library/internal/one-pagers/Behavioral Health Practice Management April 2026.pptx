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Lst>
  <p:sldSz cy="9144000" cx="6858000"/>
  <p:notesSz cx="6858000" cy="9144000"/>
  <p:embeddedFontLst>
    <p:embeddedFont>
      <p:font typeface="Play"/>
      <p:regular r:id="rId8"/>
      <p:bold r:id="rId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10" roundtripDataSignature="AMtx7mhcjH5U044/we/MAG3n+VSwUf8x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0F6FF0B-5A19-4756-B371-CDEA78D29C38}">
  <a:tblStyle styleId="{60F6FF0B-5A19-4756-B371-CDEA78D29C38}" styleName="Table_0">
    <a:wholeTbl>
      <a:tcTxStyle b="off" i="off">
        <a:font>
          <a:latin typeface="Aptos"/>
          <a:ea typeface="Aptos"/>
          <a:cs typeface="Apto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b="off" i="off"/>
      <a:tcStyle>
        <a:fill>
          <a:solidFill>
            <a:srgbClr val="CAD1D8"/>
          </a:solidFill>
        </a:fill>
      </a:tcStyle>
    </a:band1H>
    <a:band2H>
      <a:tcTxStyle b="off" i="off"/>
    </a:band2H>
    <a:band1V>
      <a:tcTxStyle b="off" i="off"/>
      <a:tcStyle>
        <a:fill>
          <a:solidFill>
            <a:srgbClr val="CAD1D8"/>
          </a:solidFill>
        </a:fill>
      </a:tcStyle>
    </a:band1V>
    <a:band2V>
      <a:tcTxStyle b="off" i="off"/>
    </a:band2V>
    <a:lastCol>
      <a:tcTxStyle b="on" i="off">
        <a:font>
          <a:latin typeface="Aptos"/>
          <a:ea typeface="Aptos"/>
          <a:cs typeface="Aptos"/>
        </a:font>
        <a:schemeClr val="lt1"/>
      </a:tcTxStyle>
      <a:tcStyle>
        <a:fill>
          <a:solidFill>
            <a:schemeClr val="accent1"/>
          </a:solidFill>
        </a:fill>
      </a:tcStyle>
    </a:lastCol>
    <a:firstCol>
      <a:tcTxStyle b="on" i="off">
        <a:font>
          <a:latin typeface="Aptos"/>
          <a:ea typeface="Aptos"/>
          <a:cs typeface="Aptos"/>
        </a:font>
        <a:schemeClr val="lt1"/>
      </a:tcTxStyle>
      <a:tcStyle>
        <a:fill>
          <a:solidFill>
            <a:schemeClr val="accent1"/>
          </a:solidFill>
        </a:fill>
      </a:tcStyle>
    </a:firstCol>
    <a:lastRow>
      <a:tcTxStyle b="on" i="off">
        <a:font>
          <a:latin typeface="Aptos"/>
          <a:ea typeface="Aptos"/>
          <a:cs typeface="Apto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ptos"/>
          <a:ea typeface="Aptos"/>
          <a:cs typeface="Apto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Play-regular.fntdata"/><Relationship Id="rId9" Type="http://schemas.openxmlformats.org/officeDocument/2006/relationships/font" Target="fonts/Play-bold.fntdata"/><Relationship Id="rId1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2271713" y="1143000"/>
            <a:ext cx="23145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675"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4:notes"/>
          <p:cNvSpPr/>
          <p:nvPr>
            <p:ph idx="2" type="sldImg"/>
          </p:nvPr>
        </p:nvSpPr>
        <p:spPr>
          <a:xfrm>
            <a:off x="2271713" y="1143000"/>
            <a:ext cx="23145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of people have set up</a:t>
            </a:r>
            <a:endParaRPr/>
          </a:p>
        </p:txBody>
      </p:sp>
      <p:sp>
        <p:nvSpPr>
          <p:cNvPr id="87" name="Google Shape;8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514350" y="1496484"/>
            <a:ext cx="5829300" cy="3183467"/>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Play"/>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 type="subTitle"/>
          </p:nvPr>
        </p:nvSpPr>
        <p:spPr>
          <a:xfrm>
            <a:off x="857250" y="4802717"/>
            <a:ext cx="5143500" cy="2207683"/>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3"/>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71488" y="486836"/>
            <a:ext cx="5915025" cy="176741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471488" y="2434167"/>
            <a:ext cx="5915025" cy="580178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 name="Google Shape;24;p4"/>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467916" y="2279653"/>
            <a:ext cx="5915025" cy="380364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Play"/>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467916" y="6119286"/>
            <a:ext cx="5915025" cy="200024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757575"/>
              </a:buClr>
              <a:buSzPts val="1800"/>
              <a:buNone/>
              <a:defRPr sz="1800">
                <a:solidFill>
                  <a:srgbClr val="757575"/>
                </a:solidFill>
              </a:defRPr>
            </a:lvl1pPr>
            <a:lvl2pPr indent="-228600" lvl="1" marL="914400" algn="l">
              <a:lnSpc>
                <a:spcPct val="90000"/>
              </a:lnSpc>
              <a:spcBef>
                <a:spcPts val="375"/>
              </a:spcBef>
              <a:spcAft>
                <a:spcPts val="0"/>
              </a:spcAft>
              <a:buClr>
                <a:srgbClr val="757575"/>
              </a:buClr>
              <a:buSzPts val="1500"/>
              <a:buNone/>
              <a:defRPr sz="1500">
                <a:solidFill>
                  <a:srgbClr val="757575"/>
                </a:solidFill>
              </a:defRPr>
            </a:lvl2pPr>
            <a:lvl3pPr indent="-228600" lvl="2" marL="1371600" algn="l">
              <a:lnSpc>
                <a:spcPct val="90000"/>
              </a:lnSpc>
              <a:spcBef>
                <a:spcPts val="375"/>
              </a:spcBef>
              <a:spcAft>
                <a:spcPts val="0"/>
              </a:spcAft>
              <a:buClr>
                <a:srgbClr val="757575"/>
              </a:buClr>
              <a:buSzPts val="1350"/>
              <a:buNone/>
              <a:defRPr sz="1350">
                <a:solidFill>
                  <a:srgbClr val="757575"/>
                </a:solidFill>
              </a:defRPr>
            </a:lvl3pPr>
            <a:lvl4pPr indent="-228600" lvl="3" marL="1828800" algn="l">
              <a:lnSpc>
                <a:spcPct val="90000"/>
              </a:lnSpc>
              <a:spcBef>
                <a:spcPts val="375"/>
              </a:spcBef>
              <a:spcAft>
                <a:spcPts val="0"/>
              </a:spcAft>
              <a:buClr>
                <a:srgbClr val="757575"/>
              </a:buClr>
              <a:buSzPts val="1200"/>
              <a:buNone/>
              <a:defRPr sz="1200">
                <a:solidFill>
                  <a:srgbClr val="757575"/>
                </a:solidFill>
              </a:defRPr>
            </a:lvl4pPr>
            <a:lvl5pPr indent="-228600" lvl="4" marL="2286000" algn="l">
              <a:lnSpc>
                <a:spcPct val="90000"/>
              </a:lnSpc>
              <a:spcBef>
                <a:spcPts val="375"/>
              </a:spcBef>
              <a:spcAft>
                <a:spcPts val="0"/>
              </a:spcAft>
              <a:buClr>
                <a:srgbClr val="757575"/>
              </a:buClr>
              <a:buSzPts val="1200"/>
              <a:buNone/>
              <a:defRPr sz="1200">
                <a:solidFill>
                  <a:srgbClr val="757575"/>
                </a:solidFill>
              </a:defRPr>
            </a:lvl5pPr>
            <a:lvl6pPr indent="-228600" lvl="5" marL="2743200" algn="l">
              <a:lnSpc>
                <a:spcPct val="90000"/>
              </a:lnSpc>
              <a:spcBef>
                <a:spcPts val="375"/>
              </a:spcBef>
              <a:spcAft>
                <a:spcPts val="0"/>
              </a:spcAft>
              <a:buClr>
                <a:srgbClr val="757575"/>
              </a:buClr>
              <a:buSzPts val="1200"/>
              <a:buNone/>
              <a:defRPr sz="1200">
                <a:solidFill>
                  <a:srgbClr val="757575"/>
                </a:solidFill>
              </a:defRPr>
            </a:lvl6pPr>
            <a:lvl7pPr indent="-228600" lvl="6" marL="3200400" algn="l">
              <a:lnSpc>
                <a:spcPct val="90000"/>
              </a:lnSpc>
              <a:spcBef>
                <a:spcPts val="375"/>
              </a:spcBef>
              <a:spcAft>
                <a:spcPts val="0"/>
              </a:spcAft>
              <a:buClr>
                <a:srgbClr val="757575"/>
              </a:buClr>
              <a:buSzPts val="1200"/>
              <a:buNone/>
              <a:defRPr sz="1200">
                <a:solidFill>
                  <a:srgbClr val="757575"/>
                </a:solidFill>
              </a:defRPr>
            </a:lvl7pPr>
            <a:lvl8pPr indent="-228600" lvl="7" marL="3657600" algn="l">
              <a:lnSpc>
                <a:spcPct val="90000"/>
              </a:lnSpc>
              <a:spcBef>
                <a:spcPts val="375"/>
              </a:spcBef>
              <a:spcAft>
                <a:spcPts val="0"/>
              </a:spcAft>
              <a:buClr>
                <a:srgbClr val="757575"/>
              </a:buClr>
              <a:buSzPts val="1200"/>
              <a:buNone/>
              <a:defRPr sz="1200">
                <a:solidFill>
                  <a:srgbClr val="757575"/>
                </a:solidFill>
              </a:defRPr>
            </a:lvl8pPr>
            <a:lvl9pPr indent="-228600" lvl="8" marL="4114800" algn="l">
              <a:lnSpc>
                <a:spcPct val="90000"/>
              </a:lnSpc>
              <a:spcBef>
                <a:spcPts val="375"/>
              </a:spcBef>
              <a:spcAft>
                <a:spcPts val="0"/>
              </a:spcAft>
              <a:buClr>
                <a:srgbClr val="757575"/>
              </a:buClr>
              <a:buSzPts val="1200"/>
              <a:buNone/>
              <a:defRPr sz="1200">
                <a:solidFill>
                  <a:srgbClr val="757575"/>
                </a:solidFill>
              </a:defRPr>
            </a:lvl9pPr>
          </a:lstStyle>
          <a:p/>
        </p:txBody>
      </p:sp>
      <p:sp>
        <p:nvSpPr>
          <p:cNvPr id="30" name="Google Shape;30;p5"/>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71488" y="486836"/>
            <a:ext cx="5915025" cy="176741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471488" y="2434167"/>
            <a:ext cx="2914650" cy="580178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 name="Google Shape;36;p6"/>
          <p:cNvSpPr txBox="1"/>
          <p:nvPr>
            <p:ph idx="2" type="body"/>
          </p:nvPr>
        </p:nvSpPr>
        <p:spPr>
          <a:xfrm>
            <a:off x="3471863" y="2434167"/>
            <a:ext cx="2914650" cy="580178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7" name="Google Shape;37;p6"/>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72381" y="486836"/>
            <a:ext cx="5915025" cy="176741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472381" y="2241551"/>
            <a:ext cx="2901255" cy="109854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3" name="Google Shape;43;p7"/>
          <p:cNvSpPr txBox="1"/>
          <p:nvPr>
            <p:ph idx="2" type="body"/>
          </p:nvPr>
        </p:nvSpPr>
        <p:spPr>
          <a:xfrm>
            <a:off x="472381" y="3340100"/>
            <a:ext cx="2901255" cy="491278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4" name="Google Shape;44;p7"/>
          <p:cNvSpPr txBox="1"/>
          <p:nvPr>
            <p:ph idx="3" type="body"/>
          </p:nvPr>
        </p:nvSpPr>
        <p:spPr>
          <a:xfrm>
            <a:off x="3471863" y="2241551"/>
            <a:ext cx="2915543" cy="109854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5" name="Google Shape;45;p7"/>
          <p:cNvSpPr txBox="1"/>
          <p:nvPr>
            <p:ph idx="4" type="body"/>
          </p:nvPr>
        </p:nvSpPr>
        <p:spPr>
          <a:xfrm>
            <a:off x="3471863" y="3340100"/>
            <a:ext cx="2915543" cy="491278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6" name="Google Shape;46;p7"/>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71488" y="486836"/>
            <a:ext cx="5915025" cy="176741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9"/>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0"/>
          <p:cNvSpPr txBox="1"/>
          <p:nvPr>
            <p:ph type="title"/>
          </p:nvPr>
        </p:nvSpPr>
        <p:spPr>
          <a:xfrm>
            <a:off x="472381" y="609600"/>
            <a:ext cx="2211884" cy="2133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Play"/>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0"/>
          <p:cNvSpPr txBox="1"/>
          <p:nvPr>
            <p:ph idx="1" type="body"/>
          </p:nvPr>
        </p:nvSpPr>
        <p:spPr>
          <a:xfrm>
            <a:off x="2915543" y="1316569"/>
            <a:ext cx="3471863" cy="6498167"/>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1" name="Google Shape;61;p10"/>
          <p:cNvSpPr txBox="1"/>
          <p:nvPr>
            <p:ph idx="2" type="body"/>
          </p:nvPr>
        </p:nvSpPr>
        <p:spPr>
          <a:xfrm>
            <a:off x="472381" y="2743200"/>
            <a:ext cx="2211884" cy="50821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2" name="Google Shape;62;p10"/>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0"/>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1"/>
          <p:cNvSpPr txBox="1"/>
          <p:nvPr>
            <p:ph type="title"/>
          </p:nvPr>
        </p:nvSpPr>
        <p:spPr>
          <a:xfrm>
            <a:off x="472381" y="609600"/>
            <a:ext cx="2211884" cy="2133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Play"/>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1"/>
          <p:cNvSpPr/>
          <p:nvPr>
            <p:ph idx="2" type="pic"/>
          </p:nvPr>
        </p:nvSpPr>
        <p:spPr>
          <a:xfrm>
            <a:off x="2915543" y="1316569"/>
            <a:ext cx="3471863" cy="6498167"/>
          </a:xfrm>
          <a:prstGeom prst="rect">
            <a:avLst/>
          </a:prstGeom>
          <a:noFill/>
          <a:ln>
            <a:noFill/>
          </a:ln>
        </p:spPr>
      </p:sp>
      <p:sp>
        <p:nvSpPr>
          <p:cNvPr id="68" name="Google Shape;68;p11"/>
          <p:cNvSpPr txBox="1"/>
          <p:nvPr>
            <p:ph idx="1" type="body"/>
          </p:nvPr>
        </p:nvSpPr>
        <p:spPr>
          <a:xfrm>
            <a:off x="472381" y="2743200"/>
            <a:ext cx="2211884" cy="50821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9" name="Google Shape;69;p11"/>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1"/>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2"/>
          <p:cNvSpPr txBox="1"/>
          <p:nvPr>
            <p:ph type="title"/>
          </p:nvPr>
        </p:nvSpPr>
        <p:spPr>
          <a:xfrm>
            <a:off x="471488" y="486836"/>
            <a:ext cx="5915025" cy="176741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2"/>
          <p:cNvSpPr txBox="1"/>
          <p:nvPr>
            <p:ph idx="1" type="body"/>
          </p:nvPr>
        </p:nvSpPr>
        <p:spPr>
          <a:xfrm rot="5400000">
            <a:off x="528108" y="2377546"/>
            <a:ext cx="5801784" cy="59150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12"/>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2"/>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3"/>
          <p:cNvSpPr txBox="1"/>
          <p:nvPr>
            <p:ph type="title"/>
          </p:nvPr>
        </p:nvSpPr>
        <p:spPr>
          <a:xfrm rot="5400000">
            <a:off x="1772577" y="3622015"/>
            <a:ext cx="7749117" cy="14787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3"/>
          <p:cNvSpPr txBox="1"/>
          <p:nvPr>
            <p:ph idx="1" type="body"/>
          </p:nvPr>
        </p:nvSpPr>
        <p:spPr>
          <a:xfrm rot="5400000">
            <a:off x="-1227798" y="2186121"/>
            <a:ext cx="7749117" cy="43505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13"/>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3"/>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3"/>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471488" y="486836"/>
            <a:ext cx="5915025" cy="1767417"/>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
          <p:cNvSpPr txBox="1"/>
          <p:nvPr>
            <p:ph idx="1" type="body"/>
          </p:nvPr>
        </p:nvSpPr>
        <p:spPr>
          <a:xfrm>
            <a:off x="471488" y="2434167"/>
            <a:ext cx="5915025" cy="5801784"/>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2" name="Google Shape;12;p2"/>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cxnSp>
        <p:nvCxnSpPr>
          <p:cNvPr id="89" name="Google Shape;89;p14"/>
          <p:cNvCxnSpPr/>
          <p:nvPr/>
        </p:nvCxnSpPr>
        <p:spPr>
          <a:xfrm>
            <a:off x="1187927" y="1227990"/>
            <a:ext cx="5359400" cy="0"/>
          </a:xfrm>
          <a:prstGeom prst="straightConnector1">
            <a:avLst/>
          </a:prstGeom>
          <a:noFill/>
          <a:ln cap="flat" cmpd="sng" w="9525">
            <a:solidFill>
              <a:srgbClr val="C49B77"/>
            </a:solidFill>
            <a:prstDash val="solid"/>
            <a:miter lim="800000"/>
            <a:headEnd len="sm" w="sm" type="none"/>
            <a:tailEnd len="sm" w="sm" type="none"/>
          </a:ln>
        </p:spPr>
      </p:cxnSp>
      <p:cxnSp>
        <p:nvCxnSpPr>
          <p:cNvPr id="90" name="Google Shape;90;p14"/>
          <p:cNvCxnSpPr/>
          <p:nvPr/>
        </p:nvCxnSpPr>
        <p:spPr>
          <a:xfrm>
            <a:off x="0" y="1841725"/>
            <a:ext cx="6858000" cy="0"/>
          </a:xfrm>
          <a:prstGeom prst="straightConnector1">
            <a:avLst/>
          </a:prstGeom>
          <a:noFill/>
          <a:ln cap="flat" cmpd="sng" w="9525">
            <a:solidFill>
              <a:srgbClr val="C49B77"/>
            </a:solidFill>
            <a:prstDash val="solid"/>
            <a:miter lim="800000"/>
            <a:headEnd len="sm" w="sm" type="none"/>
            <a:tailEnd len="sm" w="sm" type="none"/>
          </a:ln>
        </p:spPr>
      </p:cxnSp>
      <p:graphicFrame>
        <p:nvGraphicFramePr>
          <p:cNvPr id="91" name="Google Shape;91;p14"/>
          <p:cNvGraphicFramePr/>
          <p:nvPr/>
        </p:nvGraphicFramePr>
        <p:xfrm>
          <a:off x="107880" y="149244"/>
          <a:ext cx="3000000" cy="3000000"/>
        </p:xfrm>
        <a:graphic>
          <a:graphicData uri="http://schemas.openxmlformats.org/drawingml/2006/table">
            <a:tbl>
              <a:tblPr bandRow="1" firstRow="1">
                <a:noFill/>
                <a:tableStyleId>{60F6FF0B-5A19-4756-B371-CDEA78D29C38}</a:tableStyleId>
              </a:tblPr>
              <a:tblGrid>
                <a:gridCol w="3298375"/>
                <a:gridCol w="3298375"/>
              </a:tblGrid>
              <a:tr h="347750">
                <a:tc gridSpan="2">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rgbClr val="000000"/>
                          </a:solidFill>
                        </a:rPr>
                        <a:t>Behavioral Health Practice Management | April 2026</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hMerge="1"/>
              </a:tr>
              <a:tr h="299125">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t>Assessment: 2.48 / 3.0 (83%)</a:t>
                      </a:r>
                      <a:endParaRPr sz="1400" u="none" cap="none" strike="noStrike">
                        <a:highlight>
                          <a:srgbClr val="FFFF00"/>
                        </a:highlight>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t>Status: Under Review</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99125">
                <a:tc gridSpan="2">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t>Industry Overview</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hMerge="1"/>
              </a:tr>
              <a:tr h="277125">
                <a:tc gridSpan="2">
                  <a:txBody>
                    <a:bodyPr/>
                    <a:lstStyle/>
                    <a:p>
                      <a:pPr indent="0" lvl="0" marL="0" marR="0" rtl="0" algn="l">
                        <a:lnSpc>
                          <a:spcPct val="100000"/>
                        </a:lnSpc>
                        <a:spcBef>
                          <a:spcPts val="0"/>
                        </a:spcBef>
                        <a:spcAft>
                          <a:spcPts val="0"/>
                        </a:spcAft>
                        <a:buClr>
                          <a:schemeClr val="dk1"/>
                        </a:buClr>
                        <a:buSzPts val="1200"/>
                        <a:buFont typeface="Arial"/>
                        <a:buNone/>
                      </a:pPr>
                      <a:r>
                        <a:rPr lang="en-US" sz="1000"/>
                        <a:t>The Behavioral Health Practice Management and EHR industry serves outpatient mental health, therapy, and substance-use group practices with HIPAA-compliant clinical documentation, scheduling, telehealth, insurance billing, and payer connectivity. The US market was $2.35B in 2025, projected to $7.84B by 2035 (12.8% CAGR). Key players: SimplePractice (225K+ clinicians, ~$250-500M revenue, EQT-owned), TherapyNotes (insurance-billing specialist), Valant (mid and large group practices, Resurgens Technology Partners), TheraNest, Netsmart, and Qualifacts (Warburg Pincus, 2,700+ organizations via three merged platforms).</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hMerge="1"/>
              </a:tr>
              <a:tr h="177800">
                <a:tc gridSpan="2">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t>Industry Thesis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hMerge="1"/>
              </a:tr>
              <a:tr h="385575">
                <a:tc gridSpan="2">
                  <a:txBody>
                    <a:bodyPr/>
                    <a:lstStyle/>
                    <a:p>
                      <a:pPr indent="0" lvl="0" marL="0" marR="0" rtl="0" algn="l">
                        <a:lnSpc>
                          <a:spcPct val="100000"/>
                        </a:lnSpc>
                        <a:spcBef>
                          <a:spcPts val="0"/>
                        </a:spcBef>
                        <a:spcAft>
                          <a:spcPts val="0"/>
                        </a:spcAft>
                        <a:buClr>
                          <a:schemeClr val="dk1"/>
                        </a:buClr>
                        <a:buSzPts val="1150"/>
                        <a:buFont typeface="Arial"/>
                        <a:buNone/>
                      </a:pPr>
                      <a:r>
                        <a:rPr lang="en-US" sz="1000" u="none" cap="none" strike="noStrike"/>
                        <a:t>Behavioral health PM/EHR is a fragmented, compliance-heavy system-of-record category sitting between clinicians and payers. Switching costs are high because the software holds every clinical note, claim, and patient record, and the cost of failure (HIPAA breach, denied claim, compliance violation) is acute. Long sales cycles, state-by-state licensing variation, and reference-driven buying create durable moats. Recurring SaaS per-seat pricing ($29 to $99 per provider per month) produces predictable revenue with strong retention. Specialty sub-segments (eating-disorder programs, perinatal mental health, child and adolescent therapy, women clinical specialties) remain underserved by generalist incumbents.</a:t>
                      </a:r>
                      <a:endParaRPr sz="1000">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hMerge="1"/>
              </a:tr>
              <a:tr h="177800">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t>Macro Trends &amp; Growth Drivers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400"/>
                        <a:buFont typeface="Arial"/>
                        <a:buNone/>
                      </a:pPr>
                      <a:r>
                        <a:rPr b="1" lang="en-US" sz="1400" u="none" cap="none" strike="noStrike"/>
                        <a:t>Risks &amp; Concerns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18400">
                <a:tc>
                  <a:txBody>
                    <a:bodyPr/>
                    <a:lstStyle/>
                    <a:p>
                      <a:pPr indent="-304800" lvl="0" marL="457200" marR="0" rtl="0" algn="l">
                        <a:lnSpc>
                          <a:spcPct val="100000"/>
                        </a:lnSpc>
                        <a:spcBef>
                          <a:spcPts val="0"/>
                        </a:spcBef>
                        <a:spcAft>
                          <a:spcPts val="0"/>
                        </a:spcAft>
                        <a:buClr>
                          <a:schemeClr val="dk1"/>
                        </a:buClr>
                        <a:buSzPts val="1200"/>
                        <a:buFont typeface="Arial"/>
                        <a:buChar char="•"/>
                      </a:pPr>
                      <a:r>
                        <a:rPr lang="en-US" sz="1100">
                          <a:latin typeface="Arial"/>
                          <a:ea typeface="Arial"/>
                          <a:cs typeface="Arial"/>
                          <a:sym typeface="Arial"/>
                        </a:rPr>
                        <a:t>Telehealth normalization post-COVID (40%+ visits remain virtual). Mental health parity enforcement expanding insurance coverage. Measurement-based care and payer outcome-reporting mandates. Value-based care pilots in behavioral health. Female-dominated clinician workforce (70%+ therapists are women) growing faster than EHR seat capacity. State licensing compacts (PSYPACT, Counseling Compact) driving multi-state practice expansion. AI-assisted clinical documentation reducing therapist burnout.</a:t>
                      </a:r>
                      <a:endParaRPr sz="1100" u="none" cap="none" strike="noStrike">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304800" lvl="0" marL="457200" marR="0" rtl="0" algn="l">
                        <a:lnSpc>
                          <a:spcPct val="100000"/>
                        </a:lnSpc>
                        <a:spcBef>
                          <a:spcPts val="0"/>
                        </a:spcBef>
                        <a:spcAft>
                          <a:spcPts val="0"/>
                        </a:spcAft>
                        <a:buClr>
                          <a:schemeClr val="dk1"/>
                        </a:buClr>
                        <a:buSzPts val="1200"/>
                        <a:buFont typeface="Arial"/>
                        <a:buChar char="•"/>
                      </a:pPr>
                      <a:r>
                        <a:rPr lang="en-US" sz="1100" u="none" cap="none" strike="noStrike">
                          <a:latin typeface="Arial"/>
                          <a:ea typeface="Arial"/>
                          <a:cs typeface="Arial"/>
                          <a:sym typeface="Arial"/>
                        </a:rPr>
                        <a:t>PE saturation: nearly every major incumbent is PE-owned (Warburg, EQT, Resurgens, Gemspring, BVP Forge), limiting independent platform availability. AI-native entrants (Mentalyc, Upheal) pressuring documentation pricing. Medicaid reimbursement volatility for community behavioral health. HIPAA and 42 CFR Part 2 compliance risk. State-by-state licensing variation raises implementation complexity. Payer credentialing bottlenecks slow new-customer revenue recognition.</a:t>
                      </a:r>
                      <a:endParaRPr sz="1100" u="none" cap="none" strike="noStrike">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77800">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t>Economics &amp; Pricing</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t>Competitive Landscape</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033250">
                <a:tc>
                  <a:txBody>
                    <a:bodyPr/>
                    <a:lstStyle/>
                    <a:p>
                      <a:pPr indent="0" lvl="0" marL="0" marR="0" rtl="0" algn="l">
                        <a:lnSpc>
                          <a:spcPct val="100000"/>
                        </a:lnSpc>
                        <a:spcBef>
                          <a:spcPts val="0"/>
                        </a:spcBef>
                        <a:spcAft>
                          <a:spcPts val="0"/>
                        </a:spcAft>
                        <a:buClr>
                          <a:schemeClr val="dk1"/>
                        </a:buClr>
                        <a:buSzPts val="1100"/>
                        <a:buFont typeface="Arial"/>
                        <a:buNone/>
                      </a:pPr>
                      <a:r>
                        <a:rPr lang="en-US" sz="1000" u="none" cap="none" strike="noStrike">
                          <a:latin typeface="Arial"/>
                          <a:ea typeface="Arial"/>
                          <a:cs typeface="Arial"/>
                          <a:sym typeface="Arial"/>
                        </a:rPr>
                        <a:t>SaaS per-provider pricing: solo tier $29-$49/mo, standard $59-$69/mo, premium $99/mo, with add-ons for telehealth, e-prescribing, and measurement tools. Group practices pay $30-$49 per additional clinician. Gross margins 70-80% typical for vertical SaaS. Net revenue retention 105-115% in healthy operators. Revenue tiers: micro tools $1-5M ARR, sub-scale niche platforms $10-30M ARR, mid-market $50-150M ARR, category leaders $250M+ ARR. Payment-processing and clearinghouse fees add 10-20% of core subscription revenue.</a:t>
                      </a:r>
                      <a:endParaRPr sz="1000" u="none" cap="none" strike="noStrike">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Arial"/>
                        <a:buNone/>
                      </a:pPr>
                      <a:r>
                        <a:rPr lang="en-US" sz="1000" u="none" cap="none" strike="noStrike"/>
                        <a:t>Generalist leaders: SimplePractice (solo and small group dominant), TherapyNotes (insurance-heavy solo and small group). Mid-market and enterprise: Valant, Qualifacts/Credible, Netsmart, Sunwave/Lightning Step (BVP Forge, 2025 merger), Cantata Health (TT Capital Partners, 2025). Specialty entrants: Alma, Headway (network plus software hybrids). AI-first documentation: Mentalyc, Upheal, Blueprint. Most incumbents are generalist; specialty verticals (women health, eating disorders, perinatal, addiction medicine niche workflows) remain under-served.</a:t>
                      </a:r>
                      <a:endParaRPr sz="10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24275">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Arial"/>
                          <a:ea typeface="Arial"/>
                          <a:cs typeface="Arial"/>
                          <a:sym typeface="Arial"/>
                        </a:rPr>
                        <a:t>Customers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Arial"/>
                          <a:ea typeface="Arial"/>
                          <a:cs typeface="Arial"/>
                          <a:sym typeface="Arial"/>
                        </a:rPr>
                        <a:t>Barriers to Entry</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27000">
                <a:tc>
                  <a:txBody>
                    <a:bodyPr/>
                    <a:lstStyle/>
                    <a:p>
                      <a:pPr indent="-171450" lvl="0" marL="171450" marR="0" rtl="0" algn="l">
                        <a:lnSpc>
                          <a:spcPct val="100000"/>
                        </a:lnSpc>
                        <a:spcBef>
                          <a:spcPts val="0"/>
                        </a:spcBef>
                        <a:spcAft>
                          <a:spcPts val="0"/>
                        </a:spcAft>
                        <a:buClr>
                          <a:schemeClr val="dk1"/>
                        </a:buClr>
                        <a:buSzPts val="1200"/>
                        <a:buFont typeface="Arial"/>
                        <a:buChar char="•"/>
                      </a:pPr>
                      <a:r>
                        <a:rPr lang="en-US" sz="1000"/>
                        <a:t>Primary buyers: outpatient behavioral health group practices (5-100 clinicians), substance-use treatment centers, community mental health centers, and solo therapists. Female-dominated workforce; owner-operators are frequently clinician-founders, not MBAs. Target profile: 10-50 provider group practices growing through clinician hiring, multi-state via PSYPACT, and payer expansion. Specialty clinical segments (women mental health, eating disorders, perinatal, child and adolescent, trauma-focused) value workflow fit over feature breadth.</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285750" lvl="0" marL="285750" marR="0" rtl="0" algn="l">
                        <a:lnSpc>
                          <a:spcPct val="100000"/>
                        </a:lnSpc>
                        <a:spcBef>
                          <a:spcPts val="0"/>
                        </a:spcBef>
                        <a:spcAft>
                          <a:spcPts val="0"/>
                        </a:spcAft>
                        <a:buClr>
                          <a:schemeClr val="dk1"/>
                        </a:buClr>
                        <a:buSzPts val="1200"/>
                        <a:buFont typeface="Arial"/>
                        <a:buChar char="•"/>
                      </a:pPr>
                      <a:r>
                        <a:rPr lang="en-US" sz="1000"/>
                        <a:t>HIPAA and 42 CFR Part 2 compliance infrastructure. State licensing workflows (50-state variability). Payer clearinghouse integrations (Availity, Change Healthcare). EHR system-of-record switching costs (clinical notes, claim history, patient portals). Reference selling in tight clinician networks. Women-led clinical credibility and women health nonprofit relationships create specialty-segment trust that generalist PE-backed incumbents cannot easily replicate.</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43975">
                <a:tc gridSpan="2">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Arial"/>
                          <a:ea typeface="Arial"/>
                          <a:cs typeface="Arial"/>
                          <a:sym typeface="Arial"/>
                        </a:rPr>
                        <a:t>Key Success Factors</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hMerge="1"/>
              </a:tr>
              <a:tr h="381225">
                <a:tc>
                  <a:txBody>
                    <a:bodyPr/>
                    <a:lstStyle/>
                    <a:p>
                      <a:pPr indent="-285750" lvl="0" marL="285750" marR="0" rtl="0" algn="l">
                        <a:lnSpc>
                          <a:spcPct val="100000"/>
                        </a:lnSpc>
                        <a:spcBef>
                          <a:spcPts val="0"/>
                        </a:spcBef>
                        <a:spcAft>
                          <a:spcPts val="0"/>
                        </a:spcAft>
                        <a:buClr>
                          <a:schemeClr val="dk1"/>
                        </a:buClr>
                        <a:buSzPts val="1200"/>
                        <a:buFont typeface="Arial"/>
                        <a:buChar char="•"/>
                      </a:pPr>
                      <a:r>
                        <a:rPr lang="en-US" sz="1000"/>
                        <a:t>Clinical workflow fit over feature breadth. HIPAA-grade security and audit-trail discipline. Payer integration depth (claim scrubbing, ERA auto-posting, credentialing). Clinician-founder references and specialty association relationships. Implementation and onboarding quality (clinicians churn in first 90 days if onboarding fails). Telehealth reliability. Measurement-based care and outcome-reporting tooling.</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285750" lvl="0" marL="285750" marR="0" rtl="0" algn="l">
                        <a:lnSpc>
                          <a:spcPct val="100000"/>
                        </a:lnSpc>
                        <a:spcBef>
                          <a:spcPts val="0"/>
                        </a:spcBef>
                        <a:spcAft>
                          <a:spcPts val="0"/>
                        </a:spcAft>
                        <a:buClr>
                          <a:schemeClr val="dk1"/>
                        </a:buClr>
                        <a:buSzPts val="1200"/>
                        <a:buFont typeface="Arial"/>
                        <a:buChar char="•"/>
                      </a:pPr>
                      <a:r>
                        <a:rPr lang="en-US" sz="1000"/>
                        <a:t>Specialty vertical positioning (women health, eating disorders, perinatal) as wedge into PE-saturated general market. Clinician-led GTM via specialty associations and nonprofit partnerships. AI-assisted documentation as retention lever, not core pricing. Multi-entity billing for expanding group practices. Credentialing-as-a-service bundle. Reference customers in target specialty before broader market expansion.</a:t>
                      </a:r>
                      <a:endParaRPr sz="10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77800">
                <a:tc gridSpan="2">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Arial"/>
                          <a:ea typeface="Arial"/>
                          <a:cs typeface="Arial"/>
                          <a:sym typeface="Arial"/>
                        </a:rPr>
                        <a:t>Exit</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hMerge="1"/>
              </a:tr>
              <a:tr h="127000">
                <a:tc gridSpan="2">
                  <a:txBody>
                    <a:bodyPr/>
                    <a:lstStyle/>
                    <a:p>
                      <a:pPr indent="0" lvl="0" marL="0" marR="0" rtl="0" algn="l">
                        <a:lnSpc>
                          <a:spcPct val="100000"/>
                        </a:lnSpc>
                        <a:spcBef>
                          <a:spcPts val="0"/>
                        </a:spcBef>
                        <a:spcAft>
                          <a:spcPts val="0"/>
                        </a:spcAft>
                        <a:buClr>
                          <a:schemeClr val="dk1"/>
                        </a:buClr>
                        <a:buSzPts val="1150"/>
                        <a:buFont typeface="Arial"/>
                        <a:buNone/>
                      </a:pPr>
                      <a:r>
                        <a:rPr b="0" i="0" lang="en-US" sz="1000" u="none" cap="none" strike="noStrike">
                          <a:solidFill>
                            <a:schemeClr val="dk1"/>
                          </a:solidFill>
                          <a:latin typeface="Arial"/>
                          <a:ea typeface="Arial"/>
                          <a:cs typeface="Arial"/>
                          <a:sym typeface="Arial"/>
                        </a:rPr>
                        <a:t>Strategic acquirers: Netsmart, Qualifacts, SimplePractice (EQT), larger health-IT platforms. PE roll-up platforms: Warburg Pincus, Resurgens Technology Partners, BVP Forge, TT Capital Partners, Gemspring. Strategic adjacencies: payer-integrated networks (Alma, Headway, Grow Therapy) acquiring software to lock in supply. Exit multiples: 5-8x ARR for sub-scale, 8-12x ARR for specialty-vertical leaders with &gt;110% NRR.</a:t>
                      </a:r>
                      <a:endParaRPr sz="1000">
                        <a:latin typeface="Arial"/>
                        <a:ea typeface="Arial"/>
                        <a:cs typeface="Arial"/>
                        <a:sym typeface="Aria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hMerge="1"/>
              </a:tr>
            </a:tbl>
          </a:graphicData>
        </a:graphic>
      </p:graphicFrame>
      <p:pic>
        <p:nvPicPr>
          <p:cNvPr descr="A black background with a black square&#10;&#10;AI-generated content may be incorrect." id="92" name="Google Shape;92;p14"/>
          <p:cNvPicPr preferRelativeResize="0"/>
          <p:nvPr/>
        </p:nvPicPr>
        <p:blipFill rotWithShape="1">
          <a:blip r:embed="rId3">
            <a:alphaModFix/>
          </a:blip>
          <a:srcRect b="0" l="0" r="0" t="0"/>
          <a:stretch/>
        </p:blipFill>
        <p:spPr>
          <a:xfrm>
            <a:off x="140458" y="-6321"/>
            <a:ext cx="678789" cy="678789"/>
          </a:xfrm>
          <a:prstGeom prst="rect">
            <a:avLst/>
          </a:prstGeom>
          <a:noFill/>
          <a:ln>
            <a:noFill/>
          </a:ln>
        </p:spPr>
      </p:pic>
      <p:sp>
        <p:nvSpPr>
          <p:cNvPr id="93" name="Google Shape;93;p14"/>
          <p:cNvSpPr txBox="1"/>
          <p:nvPr/>
        </p:nvSpPr>
        <p:spPr>
          <a:xfrm rot="-5400000">
            <a:off x="5657855" y="7901444"/>
            <a:ext cx="2269666"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chemeClr val="dk1"/>
                </a:solidFill>
                <a:latin typeface="Arial"/>
                <a:ea typeface="Arial"/>
                <a:cs typeface="Arial"/>
                <a:sym typeface="Arial"/>
              </a:rPr>
              <a:t>Strictly Confidential</a:t>
            </a:r>
            <a:endParaRPr b="0" i="0" sz="800" u="none" cap="none" strike="noStrike">
              <a:solidFill>
                <a:schemeClr val="dk1"/>
              </a:solidFill>
              <a:latin typeface="Arial"/>
              <a:ea typeface="Arial"/>
              <a:cs typeface="Arial"/>
              <a:sym typeface="Arial"/>
            </a:endParaRPr>
          </a:p>
        </p:txBody>
      </p:sp>
      <p:sp>
        <p:nvSpPr>
          <p:cNvPr id="94" name="Google Shape;94;p14"/>
          <p:cNvSpPr txBox="1"/>
          <p:nvPr/>
        </p:nvSpPr>
        <p:spPr>
          <a:xfrm>
            <a:off x="-4415050" y="3444575"/>
            <a:ext cx="3522600" cy="1473600"/>
          </a:xfrm>
          <a:prstGeom prst="rect">
            <a:avLst/>
          </a:prstGeom>
          <a:solidFill>
            <a:schemeClr val="accen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100">
                <a:solidFill>
                  <a:schemeClr val="dk1"/>
                </a:solidFill>
              </a:rPr>
              <a:t>Why is PE not involved yet?</a:t>
            </a:r>
            <a:endParaRPr sz="2100">
              <a:solidFill>
                <a:schemeClr val="dk1"/>
              </a:solidFill>
            </a:endParaRPr>
          </a:p>
          <a:p>
            <a:pPr indent="0" lvl="0" marL="0" rtl="0" algn="l">
              <a:spcBef>
                <a:spcPts val="0"/>
              </a:spcBef>
              <a:spcAft>
                <a:spcPts val="0"/>
              </a:spcAft>
              <a:buNone/>
            </a:pPr>
            <a:r>
              <a:rPr lang="en-US" sz="2100">
                <a:solidFill>
                  <a:schemeClr val="dk1"/>
                </a:solidFill>
              </a:rPr>
              <a:t>Is it hard to roll up?</a:t>
            </a:r>
            <a:endParaRPr sz="2100">
              <a:solidFill>
                <a:schemeClr val="dk1"/>
              </a:solidFill>
            </a:endParaRPr>
          </a:p>
          <a:p>
            <a:pPr indent="0" lvl="0" marL="0" rtl="0" algn="l">
              <a:spcBef>
                <a:spcPts val="0"/>
              </a:spcBef>
              <a:spcAft>
                <a:spcPts val="0"/>
              </a:spcAft>
              <a:buNone/>
            </a:pPr>
            <a:r>
              <a:rPr lang="en-US" sz="2100">
                <a:solidFill>
                  <a:schemeClr val="dk1"/>
                </a:solidFill>
              </a:rPr>
              <a:t>Is it the economics?</a:t>
            </a:r>
            <a:endParaRPr sz="2100">
              <a:solidFill>
                <a:schemeClr val="dk1"/>
              </a:solidFill>
            </a:endParaRPr>
          </a:p>
          <a:p>
            <a:pPr indent="0" lvl="0" marL="0" rtl="0" algn="l">
              <a:spcBef>
                <a:spcPts val="0"/>
              </a:spcBef>
              <a:spcAft>
                <a:spcPts val="0"/>
              </a:spcAft>
              <a:buNone/>
            </a:pPr>
            <a:r>
              <a:rPr lang="en-US" sz="2100">
                <a:solidFill>
                  <a:schemeClr val="dk1"/>
                </a:solidFill>
              </a:rPr>
              <a:t>Is it too customized?</a:t>
            </a:r>
            <a:endParaRPr sz="2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2025-07-18T20:10:07Z</dcterms:created>
  <dc:creator>Jonathan Zylberberg</dc:creator>
</cp:coreProperties>
</file>