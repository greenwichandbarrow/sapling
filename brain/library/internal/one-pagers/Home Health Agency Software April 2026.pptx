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</p:sldIdLst>
  <p:sldSz cy="9144000" cx="6858000"/>
  <p:notesSz cx="6858000" cy="9144000"/>
  <p:embeddedFontLst>
    <p:embeddedFont>
      <p:font typeface="Play"/>
      <p:regular r:id="rId8"/>
      <p:bold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10" roundtripDataSignature="AMtx7mhcjH5U044/we/MAG3n+VSwUf8xx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F6FF0B-5A19-4756-B371-CDEA78D29C38}">
  <a:tblStyle styleId="{60F6FF0B-5A19-4756-B371-CDEA78D29C38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font" Target="fonts/Play-regular.fntdata"/><Relationship Id="rId9" Type="http://schemas.openxmlformats.org/officeDocument/2006/relationships/font" Target="fonts/Play-bold.fntdata"/><Relationship Id="rId1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271713" y="1143000"/>
            <a:ext cx="2314575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:notes"/>
          <p:cNvSpPr/>
          <p:nvPr>
            <p:ph idx="2" type="sldImg"/>
          </p:nvPr>
        </p:nvSpPr>
        <p:spPr>
          <a:xfrm>
            <a:off x="2271713" y="1143000"/>
            <a:ext cx="2314575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33% of people have set up</a:t>
            </a:r>
            <a:endParaRPr/>
          </a:p>
        </p:txBody>
      </p:sp>
      <p:sp>
        <p:nvSpPr>
          <p:cNvPr id="87" name="Google Shape;87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514350" y="1496484"/>
            <a:ext cx="5829300" cy="318346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857250" y="4802717"/>
            <a:ext cx="5143500" cy="22076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61" name="Google Shape;61;p10"/>
          <p:cNvSpPr txBox="1"/>
          <p:nvPr>
            <p:ph idx="2" type="body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2" name="Google Shape;62;p10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/>
          <p:nvPr>
            <p:ph idx="2" type="pic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9" name="Google Shape;69;p11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 rot="5400000">
            <a:off x="528108" y="2377546"/>
            <a:ext cx="5801784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/>
          <p:nvPr>
            <p:ph type="title"/>
          </p:nvPr>
        </p:nvSpPr>
        <p:spPr>
          <a:xfrm rot="5400000">
            <a:off x="1772577" y="3622015"/>
            <a:ext cx="774911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body"/>
          </p:nvPr>
        </p:nvSpPr>
        <p:spPr>
          <a:xfrm rot="5400000">
            <a:off x="-1227798" y="2186121"/>
            <a:ext cx="774911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Google Shape;89;p14"/>
          <p:cNvCxnSpPr/>
          <p:nvPr/>
        </p:nvCxnSpPr>
        <p:spPr>
          <a:xfrm>
            <a:off x="1187927" y="1227990"/>
            <a:ext cx="5359400" cy="0"/>
          </a:xfrm>
          <a:prstGeom prst="straightConnector1">
            <a:avLst/>
          </a:prstGeom>
          <a:noFill/>
          <a:ln cap="flat" cmpd="sng" w="9525">
            <a:solidFill>
              <a:srgbClr val="C49B77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0" name="Google Shape;90;p14"/>
          <p:cNvCxnSpPr/>
          <p:nvPr/>
        </p:nvCxnSpPr>
        <p:spPr>
          <a:xfrm>
            <a:off x="0" y="1841725"/>
            <a:ext cx="6858000" cy="0"/>
          </a:xfrm>
          <a:prstGeom prst="straightConnector1">
            <a:avLst/>
          </a:prstGeom>
          <a:noFill/>
          <a:ln cap="flat" cmpd="sng" w="9525">
            <a:solidFill>
              <a:srgbClr val="C49B77"/>
            </a:solidFill>
            <a:prstDash val="solid"/>
            <a:miter lim="800000"/>
            <a:headEnd len="sm" w="sm" type="none"/>
            <a:tailEnd len="sm" w="sm" type="none"/>
          </a:ln>
        </p:spPr>
      </p:cxnSp>
      <p:graphicFrame>
        <p:nvGraphicFramePr>
          <p:cNvPr id="91" name="Google Shape;91;p14"/>
          <p:cNvGraphicFramePr/>
          <p:nvPr/>
        </p:nvGraphicFramePr>
        <p:xfrm>
          <a:off x="107880" y="14924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{60F6FF0B-5A19-4756-B371-CDEA78D29C38}</a:tableStyleId>
              </a:tblPr>
              <a:tblGrid>
                <a:gridCol w="3298375"/>
                <a:gridCol w="3298375"/>
              </a:tblGrid>
              <a:tr h="34775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u="none" cap="none" strike="noStrike">
                          <a:solidFill>
                            <a:srgbClr val="000000"/>
                          </a:solidFill>
                        </a:rPr>
                        <a:t>Home Health Agency Software | April 2026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>
                      <a:r>
                        <a:t>2.51 / 3.0 (84%)</a:t>
                      </a:r>
                    </a:p>
                  </a:txBody>
                </a:tc>
              </a:tr>
              <a:tr h="299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Industry Overview</a:t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endParaRPr sz="1400" u="none" cap="none" strike="noStrike">
                        <a:highlight>
                          <a:srgbClr val="FFFF00"/>
                        </a:highlight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Cloud-based EHR/PM platforms for Medicare-certified home health agencies delivering skilled nursing, therapy, and aide visits. Core functions: OASIS-E clinical documentation, PDGM-compliant billing, visit scheduling, clinician mobile apps, EVV, payroll, patient intake. US home healthcare software TAM ~$4.5B (2025), growing to ~$8.2B by 2030 at 13% CAGR. Top 5 vendors hold ~45% of annual sales; long tail of regional players serves 11,000+ Medicare-certified agencies.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9125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Industry Thesis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>
                      <a:r>
                        <a:t>Mission-critical vertical SaaS sitting at the Medicare billing chokepoint: PDGM and OASIS-E requirements make switching cost prohibitive once an agency builds workflows, trains clinicians, and integrates payroll. Top five vendors capture ~45% share, leaving a long tail of regional and sub-scale platforms serving 11,000+ Medicare-certified agencies. Revenue is recurring per-user/per-visit, contracts run 3-5 years with 90%+ gross retention, and regulatory complexity (50-state EVV rules, quarterly CMS updates) creates a durable moat. Fragmentation below the top tier enables platform consolidation at 6-10x EBITDA entry multiples, exit to PE rollups or strategics at 12-18x.</a:t>
                      </a:r>
                    </a:p>
                  </a:txBody>
                </a:tc>
              </a:tr>
              <a:tr h="27712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/>
                        <a:t>Macro Trends &amp; Growth Drivers</a:t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>
                      <a:r>
                        <a:t>Aging demographics: 65+ population growing 3% annually, driving home health visit volume. CMS Home Health Value-Based Purchasing expanding nationally, forcing agencies to adopt outcomes-tracking software. EVV federal mandate (21st Century Cures Act) fully in force, all Medicaid visits require electronic verification. Interoperability push (TEFCA, QHIN) driving API integration demand. Labor shortage drives automation: scheduling optimization and clinician mobile tools are hard-ROI purchases. PDGM complexity favors larger, better-capitalized software platforms over homegrown tools.</a:t>
                      </a:r>
                    </a:p>
                  </a:txBody>
                </a:tc>
              </a:tr>
              <a:tr h="17780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Economics &amp; Pricing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>
                      <a:r>
                        <a:t>SaaS gross margins: 70-85%. EBITDA margins (mature): 20-35%; sub-scale platforms 10-20%. Pricing: per clinician/user ($40-150/mo), per visit ($0.50-2.00), or per active census ($10-30/patient/mo). Enterprise ACV: $100K-$2M. Implementation fees: $10K-100K. Gross revenue retention: 90-95%; net retention: 100-110% via visit volume growth and module attach (EVV, payroll, analytics). 3-5 year contracts standard. Rule of 40 for healthy sub-scale platforms: 25-40%.</a:t>
                      </a:r>
                    </a:p>
                  </a:txBody>
                </a:tc>
              </a:tr>
              <a:tr h="38557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000" u="none" cap="none" strike="noStrike"/>
                        <a:t>Customers</a:t>
                      </a:r>
                      <a:r>
                        <a:rPr lang="en-US" sz="10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lang="en-US" sz="1000" u="none" cap="none" strike="noStrike"/>
                        <a:t/>
                      </a:r>
                      <a:r>
                        <a:rPr lang="en-US" sz="1000"/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0"/>
                            </a:ext>
                          </a:extLst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1"/>
                            </a:ext>
                          </a:extLst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2"/>
                            </a:ext>
                          </a:extLst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>
                      <a:r>
                        <a:t>Medicare-certified home health agencies (11,000+ in US): skilled nursing visits, PT/OT/ST, home health aide. Agency sizes: 10-500+ daily visits. ~40% independent operators, ~30% hospital-affiliated, ~30% multi-site/chain. Customers: ED, clinical director, billing manager. Buying cycle: 3-9 months. Adjacent verticals: hospice, home care (non-medical), pediatric home health, private duty nursing. Women-led clinical care is common buyer profile. G&amp;B right-to-win via women's health nonprofit credibility and clinical specialty operator narrative.</a:t>
                      </a:r>
                    </a:p>
                  </a:txBody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Key Success Factors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Depth of PDGM billing engine: accurate claim generation on first submission. OASIS-E clinical documentation with built-in scrubbers to prevent rejection. Mobile clinician experience: offline-capable, fast visit documentation, e-signature. EVV compliance across all 50 states. Payroll integration for clinician pay-per-visit complexity. Reliable customer success: quarterly regulatory training for agency staff. Reporting and analytics: Star Ratings, HHVBP outcomes, utilization. Vertical focus over horizontal platforms. Women-led clinical credibility aligns with agency buyer persona.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18400">
                <a:tc>
                  <a:txBody>
                    <a:bodyPr/>
                    <a:lstStyle/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>Exit</a:t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2984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Strategic acquirers: WellSky (TPG), Homecare Homebase (Hearst), MatrixCare (ResMed), Netsmart (TPG/GI), HHAeXchange (Point12). PE rollups active in post-acute software: TA Associates, Vista, Thoma Bravo. Vertical SaaS acquirers: Roper, Constellation Software, Valsoft. Expected exit multiples: 12-18x EBITDA or 5-8x revenue for sub-scale platforms with strong retention and Medicare-certified customer base. Post-acute consolidation thesis mirrors dental/veterinary/physical therapy software rollups.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Economics &amp; Pricing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Competitive Landscape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033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Customs Bonds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have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nnual premiums for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ontinuous Bonds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(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$500 – $2,000+) or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transactional fees for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s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ingle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e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ntry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onds. The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y are auto-renewing and the broker has power of attorney. 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Cargo Insurance is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ommission-based (10% – 20% of premium)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Extremely high (90%+)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retention, with importers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rarely switch unless there is a service failure.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Low cap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ital intensity f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or brokers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, although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high for th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e </a:t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underwriters.</a:t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 u="none" cap="none" strike="noStrike"/>
                        <a:t>There are several established top players in the industry, </a:t>
                      </a:r>
                      <a:r>
                        <a:rPr lang="en-US" sz="1000"/>
                        <a:t>like UPS, FedEx, DHL who bundle bonds with shipping but often provide poor service for complex compliance issues.Specialized Brokers are the gold standard but can be expensive.New tech-enabled disruptors are emerging, using AI to automate the filing process.</a:t>
                      </a:r>
                      <a:endParaRPr sz="10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24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Customers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Barriers to Entry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Importers of Record: any business bringing goods into the US (target: mid-sized manufacturers or wholesalers with $10M – $200M in annual import </a:t>
                      </a:r>
                      <a:r>
                        <a:rPr lang="en-US" sz="1000"/>
                        <a:t>value</a:t>
                      </a:r>
                      <a:r>
                        <a:rPr lang="en-US" sz="1000"/>
                        <a:t>, too big for "self-service" but too small for the dedicated attention of a global logistics giant)</a:t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CBP licensing</a:t>
                      </a:r>
                      <a:endParaRPr sz="1000"/>
                    </a:p>
                    <a:p>
                      <a:pPr indent="-2730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•"/>
                      </a:pPr>
                      <a:r>
                        <a:rPr lang="en-US" sz="1000"/>
                        <a:t>Surety relationships</a:t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Data Intergration to CBP ACE portal</a:t>
                      </a:r>
                      <a:endParaRPr sz="1000" u="none" cap="none" strike="noStrike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b="0" lang="en-US" sz="1000" u="none" cap="none" strike="noStrike"/>
                        <a:t>Customer acquisition costs</a:t>
                      </a:r>
                      <a:endParaRPr b="0" sz="10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43975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Key Success Factors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381225"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Underwriting discipline (identify quality clients)</a:t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Automation of security filings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>Cross-selling beyond bonds to cargo insurance and duty drawback services</a:t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 u="none" cap="none" strike="noStrike"/>
                        <a:t>Scalable infrastructure</a:t>
                      </a:r>
                      <a:endParaRPr sz="1400" u="none" cap="none" strike="noStrike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 u="none" cap="none" strike="noStrike"/>
                        <a:t>Industry-specific customization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7780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Exit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  <a:tr h="127000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50"/>
                        <a:buFont typeface="Arial"/>
                        <a:buNone/>
                      </a:pP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Strategic acquisition by 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larger freight forwarders</a:t>
                      </a: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; PE exit given sticky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recurring revenue, high margins</a:t>
                      </a:r>
                      <a:endParaRPr sz="1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p/>
                  </a:txBody>
                </a:tc>
              </a:tr>
            </a:tbl>
          </a:graphicData>
        </a:graphic>
      </p:graphicFrame>
      <p:pic>
        <p:nvPicPr>
          <p:cNvPr descr="A black background with a black square&#10;&#10;AI-generated content may be incorrect.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0458" y="-6321"/>
            <a:ext cx="678789" cy="67878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 rot="-5400000">
            <a:off x="5657855" y="7901444"/>
            <a:ext cx="2269666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Strictly Confidential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-4415050" y="3444575"/>
            <a:ext cx="3522600" cy="147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Why is PE not involved yet?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hard to roll up?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the economics?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too customized?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2025-07-18T20:10:07Z</dcterms:created>
  <dc:creator>Jonathan Zylberberg</dc:creator>
</cp:coreProperties>
</file>