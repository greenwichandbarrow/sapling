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Home Health Agency Software | April 2026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>
                      <a:r>
                        <a:t>Pending Scoring</a:t>
                      </a:r>
                    </a:p>
                  </a:txBody>
                </a:tc>
              </a:tr>
              <a:tr h="29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Overview</a:t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Cloud-based EHR/PM platforms for Medicare-certified home health agencies delivering skilled nursing, therapy, and aide visits. Core functions: OASIS-E clinical documentation, PDGM-compliant billing, visit scheduling, clinician mobile apps, EVV, payroll, patient intake. US home healthcare software TAM ~$4.5B (2025), growing to ~$8.2B by 2030 at 13% CAGR. Top 5 vendors hold ~45% of annual sales; long tail of regional players serves 11,000+ Medicare-certified agencies.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>
                      <a:r>
                        <a:t>Mission-critical vertical SaaS sitting at the Medicare billing chokepoint: PDGM and OASIS-E requirements make switching cost prohibitive once an agency builds workflows, trains clinicians, and integrates payroll. Top five vendors capture ~45% share, leaving a long tail of regional and sub-scale platforms serving 11,000+ Medicare-certified agencies. Revenue is recurring per-user/per-visit, contracts run 3-5 years with 90%+ gross retention, and regulatory complexity (50-state EVV rules, quarterly CMS updates) creates a durable moat. Fragmentation below the top tier enables platform consolidation at 6-10x EBITDA entry multiples, exit to PE rollups or strategics at 12-18x.</a:t>
                      </a:r>
                    </a:p>
                  </a:txBody>
                </a:tc>
              </a:tr>
              <a:tr h="2771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>Macro Trends &amp; Growth Drivers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>
                      <a:r>
                        <a:t>Aging demographics: 65+ population growing 3% annually, driving home health visit volume. CMS Home Health Value-Based Purchasing expanding nationally, forcing agencies to adopt outcomes-tracking software. EVV federal mandate (21st Century Cures Act) fully in force, all Medicaid visits require electronic verification. Interoperability push (TEFCA, QHIN) driving API integration demand. Labor shortage drives automation: scheduling optimization and clinician mobile tools are hard-ROI purchases. PDGM complexity favors larger, better-capitalized software platforms over homegrown tools.</a:t>
                      </a:r>
                    </a:p>
                  </a:txBody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>
                      <a:r>
                        <a:t>SaaS gross margins: 70-85%. EBITDA margins (mature): 20-35%; sub-scale platforms 10-20%. Pricing: per clinician/user ($40-150/mo), per visit ($0.50-2.00), or per active census ($10-30/patient/mo). Enterprise ACV: $100K-$2M. Implementation fees: $10K-100K. Gross revenue retention: 90-95%; net retention: 100-110% via visit volume growth and module attach (EVV, payroll, analytics). 3-5 year contracts standard. Rule of 40 for healthy sub-scale platforms: 25-40%.</a:t>
                      </a:r>
                    </a:p>
                  </a:txBody>
                </a:tc>
              </a:tr>
              <a:tr h="3855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/>
                        <a:t>Customers</a:t>
                      </a:r>
                      <a:r>
                        <a:rPr lang="en-US" sz="10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/>
                        <a:t/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>
                      <a:r>
                        <a:t>Medicare-certified home health agencies (11,000+ in US): skilled nursing visits, PT/OT/ST, home health aide. Agency sizes: 10-500+ daily visits. ~40% independent operators, ~30% hospital-affiliated, ~30% multi-site/chain. Customers: ED, clinical director, billing manager. Buying cycle: 3-9 months. Adjacent verticals: hospice, home care (non-medical), pediatric home health, private duty nursing. Women-led clinical care is common buyer profile. G&amp;B right-to-win via women's health nonprofit credibility and clinical specialty operator narrative.</a:t>
                      </a:r>
                    </a:p>
                  </a:txBody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Depth of PDGM billing engine: accurate claim generation on first submission. OASIS-E clinical documentation with built-in scrubbers to prevent rejection. Mobile clinician experience: offline-capable, fast visit documentation, e-signature. EVV compliance across all 50 states. Payroll integration for clinician pay-per-visit complexity. Reliable customer success: quarterly regulatory training for agency staff. Reporting and analytics: Star Ratings, HHVBP outcomes, utilization. Vertical focus over horizontal platforms. Women-led clinical credibility aligns with agency buyer persona.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Strategic acquirers: WellSky (TPG), Homecare Homebase (Hearst), MatrixCare (ResMed), Netsmart (TPG/GI), HHAeXchange (Point12). PE rollups active in post-acute software: TA Associates, Vista, Thoma Bravo. Vertical SaaS acquirers: Roper, Constellation Software, Valsoft. Expected exit multiples: 12-18x EBITDA or 5-8x revenue for sub-scale platforms with strong retention and Medicare-certified customer base. Post-acute consolidation thesis mirrors dental/veterinary/physical therapy software rollups.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Customs Bonds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have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nnual premiums for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ontinuous Bonds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$500 – $2,000+) or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transactional fees for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ingle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e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ntry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onds. The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y are auto-renewing and the broker has power of attorney.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Cargo Insurance is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ommission-based (10% – 20% of premium)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Extremely high (90%+)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retention, with importers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rarely switch unless there is a service failure.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 cap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ital intensity f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 brokers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, although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high for th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e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underwriters.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/>
                        <a:t>There are several established top players in the industry, </a:t>
                      </a:r>
                      <a:r>
                        <a:rPr lang="en-US" sz="1000"/>
                        <a:t>like UPS, FedEx, DHL who bundle bonds with shipping but often provide poor service for complex compliance issues.Specialized Brokers are the gold standard but can be expensive.New tech-enabled disruptors are emerging, using AI to automate the filing process.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Importers of Record: any business bringing goods into the US (target: mid-sized manufacturers or wholesalers with $10M – $200M in annual import </a:t>
                      </a:r>
                      <a:r>
                        <a:rPr lang="en-US" sz="1000"/>
                        <a:t>value</a:t>
                      </a:r>
                      <a:r>
                        <a:rPr lang="en-US" sz="1000"/>
                        <a:t>, too big for "self-service" but too small for the dedicated attention of a global logistics giant)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CBP licensing</a:t>
                      </a:r>
                      <a:endParaRPr sz="1000"/>
                    </a:p>
                    <a:p>
                      <a:pPr indent="-2730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•"/>
                      </a:pPr>
                      <a:r>
                        <a:rPr lang="en-US" sz="1000"/>
                        <a:t>Surety relationships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Data Intergration to CBP ACE portal</a:t>
                      </a:r>
                      <a:endParaRPr sz="10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000" u="none" cap="none" strike="noStrike"/>
                        <a:t>Customer acquisition costs</a:t>
                      </a:r>
                      <a:endParaRPr b="0"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3812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Underwriting discipline (identify quality clients)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Automation of security filings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Cross-selling beyond bonds to cargo insurance and duty drawback services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/>
                        <a:t>Scalable infrastructure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/>
                        <a:t>Industry-specific customization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127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Strategic acquisition by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larger freight forwarders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 PE exit given sticky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recurring revenue, high margins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