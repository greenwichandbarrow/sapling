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</p:sldIdLst>
  <p:sldSz cy="9144000" cx="6858000"/>
  <p:notesSz cx="6858000" cy="9144000"/>
  <p:embeddedFontLst>
    <p:embeddedFont>
      <p:font typeface="Play"/>
      <p:regular r:id="rId8"/>
      <p:bold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0" roundtripDataSignature="AMtx7mhcjH5U044/we/MAG3n+VSwUf8x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F6FF0B-5A19-4756-B371-CDEA78D29C38}">
  <a:tblStyle styleId="{60F6FF0B-5A19-4756-B371-CDEA78D29C38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Play-regular.fntdata"/><Relationship Id="rId9" Type="http://schemas.openxmlformats.org/officeDocument/2006/relationships/font" Target="fonts/Play-bold.fntdata"/><Relationship Id="rId10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33% of people have set up</a:t>
            </a:r>
            <a:endParaRPr/>
          </a:p>
        </p:txBody>
      </p:sp>
      <p:sp>
        <p:nvSpPr>
          <p:cNvPr id="87" name="Google Shape;8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514350" y="1496484"/>
            <a:ext cx="5829300" cy="3183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857250" y="4802717"/>
            <a:ext cx="5143500" cy="22076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467916" y="2279653"/>
            <a:ext cx="5915025" cy="38036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467916" y="6119286"/>
            <a:ext cx="5915025" cy="2000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71488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3471863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72381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72381" y="2241551"/>
            <a:ext cx="2901255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72381" y="3340100"/>
            <a:ext cx="2901255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3471863" y="2241551"/>
            <a:ext cx="2915543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3471863" y="3340100"/>
            <a:ext cx="2915543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528108" y="2377546"/>
            <a:ext cx="5801784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1772577" y="3622015"/>
            <a:ext cx="774911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-1227798" y="2186121"/>
            <a:ext cx="774911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Google Shape;89;p14"/>
          <p:cNvCxnSpPr/>
          <p:nvPr/>
        </p:nvCxnSpPr>
        <p:spPr>
          <a:xfrm>
            <a:off x="1187927" y="1227990"/>
            <a:ext cx="535940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" name="Google Shape;90;p14"/>
          <p:cNvCxnSpPr/>
          <p:nvPr/>
        </p:nvCxnSpPr>
        <p:spPr>
          <a:xfrm>
            <a:off x="0" y="1841725"/>
            <a:ext cx="685800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91" name="Google Shape;91;p14"/>
          <p:cNvGraphicFramePr/>
          <p:nvPr/>
        </p:nvGraphicFramePr>
        <p:xfrm>
          <a:off x="107880" y="1492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{60F6FF0B-5A19-4756-B371-CDEA78D29C38}</a:tableStyleId>
              </a:tblPr>
              <a:tblGrid>
                <a:gridCol w="3298375"/>
                <a:gridCol w="3298375"/>
              </a:tblGrid>
              <a:tr h="3477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sz="1600" b="1"/>
                        <a:t>Vertical SaaS for Luxury &amp; High-Value Asset Service Industries (Umbrella Thesis)</a:t>
                      </a:r>
                      <a:endParaRPr sz="1400" u="none" cap="none" strike="noStrike"/>
                    </a:p>
                    <a:p>
                      <a:r>
                        <a:rPr sz="1600"/>
                        <a:t>April 2026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p/>
                  </a:txBody>
                </a:tc>
              </a:tr>
              <a:tr h="299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100" b="1"/>
                        <a:t>2.72 / 3.0 (91%) — Umbrella thesis</a:t>
                      </a:r>
                      <a:endParaRPr sz="1400" u="none" cap="none" strike="noStrike">
                        <a:highlight>
                          <a:srgbClr val="FFFF00"/>
                        </a:highlight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Status: Early research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91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800" b="1"/>
                        <a:t>Software platforms that run operations for service businesses whose customers are luxury or high-value-asset owners. Complementary to the primary luxury-services thesis: this is the operational-software layer sitting on top of those services. Umbrella covers ~10 qualifying sub-verticals including yacht/fleet management, private aviation ops, estate/property management, fine-art and collectibles asset-tracking, equine ops, luxury hospitality PMS (boutique/residence clubs), private-club management, luxury transportation dispatch, HNW family-office ops, and specialty luxury retail back-office. Aggregate TAM across qualifying sub-verticals estimated at $8-12B and growing 8-16% CAGR. Individual sub-vertical scoring is required before any activation — this document defines the umbrella, not a target.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771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sz="800"/>
                        <a:t>Thesis: Software serving luxury / HV-asset operators inherits the economics of vertical SaaS (70-85% gross margins, 25-40% EBITDA at scale, sticky recurring revenue) while enjoying the pricing resilience of luxury-adjacent end markets. Operators in these segments are sophisticated buyers who pay for quality, trust references within tight communities, and resist commoditization. Sub-niche qualification rules: (a) end customer is a luxury or HV-asset owner/operator; (b) software is mission-critical to daily operations (not a nice-to-have analytics layer); (c) vendor landscape is fragmented with no dominant player &gt;25%; (d) product has vertical-specific features that generalist SaaS cannot easily replicate. Fails any test → excluded.</a:t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778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800" b="1"/>
                        <a:t>Tailwinds: (1) Vertical SaaS market growing ~16% CAGR 2025-33 per Data Insights Market; qualifying luxury sub-verticals grow 8-13% (Yacht Mgmt SW $923M→$1.9B by 2030 at 13% CAGR; Aviation Mgmt SW $4.7B→$10.1B by 2033 at 9%; Hotel PMS $2.5B+ at 7-8%). (2) Cloud replacement cycle displacing legacy on-prem incumbents across every sub-vertical. (3) AI-layer premium — luxury operators will pay for AI-native ops, concierge, and personalization modules. (4) HNW wealth accumulation (~5% annual) expanding end-market spend. (5) PE roll-up activity validates category — Vista / Thoma Bravo / Insight deployed $12B+ in vertical SaaS roll-ups in 2024.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38557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sz="800"/>
                        <a:t>Sub-Niche Qualification Rules: A candidate sub-niche joins the umbrella only if it satisfies all four gates — (1) luxury or HV-asset end-customer; (2) mission-critical to operator daily workflow; (3) fragmented vendor landscape (top player &lt;25% share); (4) defensible vertical-specific product. Scope includes yacht, private aviation, estate/property mgmt, fine-art/collectibles tracking, equine ops, luxury hospitality PMS, private clubs, luxury transportation dispatch, HNW family-office ops, and specialty luxury retail back-office. Explicitly out of scope: generic vertical SaaS (healthcare, childcare, funeral home — moved to ideation 4/20/26); residential consumer software; enterprise SaaS &gt;$100M ARR; and pure data platforms without vertical depth.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800" b="1"/>
                        <a:t>Generic SaaS economics for sub-$10M-ARR specialty products: Gross margins 70-85%. EBITDA 25-40% at scale; Rule of 40 achievable. NRR target 110%+ (strong vertical SaaS). Valuation multiples (2025 market): 2.5-6x ARR for sub-$10M ARR; premium vertical SaaS with strong retention + Rule of 40 commands 7-9x. Scale discount applies at $5-10M EV band (3-4x). Churn typically 5-10% annual in well-run luxury verticals. Customer ACV varies widely: $2K-$50K for SMB luxury operators; $50K-$500K for enterprise-adjacent (large PMS, family office platforms). CAC payback 12-24 months standard.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sz="1400" b="1"/>
                        <a:t>Risks &amp; Concerns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8400"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sz="800">
                          <a:latin typeface="Arial"/>
                        </a:rPr>
                        <a:t>Highly fragmented across sub-verticals. Hotel PMS: Oracle OPERA and Mews 7-15% each, Cloudbeds, StayNTouch, Guesty as other players; long tail of boutique-focused vendors. Private Clubs: Jonas Club Software, Clubessential, Northstar (1,000+ clubs) — each &lt;20% share. Family Office: Addepar (enterprise), Masttro, Eton Solutions (AtlasFive/EtonAI), Archway — mid-market tier fragmented. Yacht: ~20 vendors, most sub-$10M revenue. Aviation Ops: Leon Software, PPS, ARCOS and long tail. Horizontal enterprise SaaS (Salesforce, HubSpot) do not serve these verticals deeply — leaves space. Strategic acquirers for exit: larger vertical SaaS roll-ups (Jonas Software as parent), Constellation Software, Vista / Thoma Bravo portfolio companies.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sz="1100">
                          <a:latin typeface="Arial"/>
                        </a:rPr>
                        <a:t>PE / VC competition: Vista, Thoma Bravo, Insight actively rolling up vertical SaaS — competition for sub-$10M ARR targets is fierce. VC-backed AI-native challengers launching in most sub-niches. Umbrella diffusion: no single unifying catalyst across sub-verticals — each has distinct buyer dynamics. Luxury cyclicality: top-tier operators are recession-resistant but mid-luxury cuts software fast in downturns. Sub-niche TAMs individually small (sub-$1B), limiting platform scale within any one sub-vertical. AI disruption risk — legacy on-prem incumbents face displacement, but so do sub-scale cloud SaaS players that fail to ship AI features.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800" b="1"/>
                        <a:t>End customers = luxury service operators: boutique/luxury hotel operators (10-150 keys); private club GMs and boards (US has ~4,000 private clubs); yacht fleet managers and brokers; private-aviation charter operators and management companies; estate managers and HNW-focused property firms; fine-art handlers, galleries, collection managers; family-office COOs/CIOs; luxury retail ops leads (small-store fleet). Buyer is typically operator-COO or owner-operator; software ACV is $10-100K/year; decision cycles 2-6 months; references within tight peer networks dominate vendor selection.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400" b="1"/>
                        <a:t>Competitive Landscape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3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800">
                          <a:latin typeface="Arial"/>
                        </a:rPr>
                        <a:t>Vertical-specific product depth built over years (multi-currency for yacht, multi-entity for family office, reservations + POS + billing + membership for private clubs). Community reference networks — luxury operators buy what peers buy. Integration breadth with sub-niche-specific systems (OTAs for hotels, custodian feeds for family offices, CRS for aviation). Brand / trust accumulated with luxury operators who are reference-driven. Switching costs: data migration friction + retraining 3-12 months. Regulatory sub-layers (GDPR, SOC 2, financial-entity reporting for family office).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sz="1000"/>
                        <a:t>Sub-scale vertical SaaS vendors, often founder-owned, serving 50-5,000 customers. Roll-up platforms (Jonas Software, Constellation Software, Volaris) active. PE-backed platforms (Vista, Thoma Bravo, Insight) scaling $10M+ ARR players. Emerging AI-native challengers (2023-2025 vintage VC-funded) pressuring incumbents.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4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800" b="1">
                          <a:latin typeface="Arial"/>
                        </a:rPr>
                        <a:t>Barriers to Entry: Domain expertise in luxury nuance (cannot be bluffed by generalist SaaS). Community references within tight peer networks (luxury operators buy what peers buy). Vertical-specific product depth developed over years. Data migration and integration friction from incumbents. Regulatory/certification sub-layers (SOC 2, PCI, GDPR, custodian feeds). Brand trust with reference-driven buyers. AI-feature depth increasingly required.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400" b="1">
                          <a:latin typeface="Arial"/>
                        </a:rPr>
                        <a:t>Barriers to Entry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sz="800"/>
                        <a:t>Key Success Factors &amp; Acquirer Profile: Cloud-native multi-tenant architecture. &gt;$3M ARR scale. NRR &gt;105% and gross retention &gt;90%. Rule of 40 achievable. Founder transitionable. Community presence within sub-niche (conferences, references). Integration ecosystem (payments, analytics, adjacent SaaS). Active acquirer set: Jonas Software, Constellation Software, Volaris, Banyan Software for roll-up; Vista / Thoma Bravo / Insight portfolio platforms for $10M+ ARR.</a:t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sz="1000"/>
                        <a:t>Domain expertise (luxury nuance cannot be bluffed). Community references (tight peer networks). Vertical-specific product depth (generalist SaaS underperforms). Data migration friction from incumbents. Integration debt (POS, payments, channel managers, custodian feeds vary by sub-niche).</a:t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397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400" b="1">
                          <a:latin typeface="Arial"/>
                        </a:rPr>
                        <a:t>Key Success Factors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p>
                      <a:r>
                        <a:t/>
                      </a:r>
                    </a:p>
                  </a:txBody>
                </a:tc>
              </a:tr>
              <a:tr h="381225"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sz="1000"/>
                        <a:t>(1) Deep vertical product feature set — generalist alternatives clearly underperform. (2) Cloud-native, multi-tenant architecture (legacy on-prem = disqualified). (3) NRR &gt;105% with pricing power and upsell (AI modules, payments attach).</a:t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sz="1000"/>
                        <a:t>(4) Strong community presence in target luxury vertical (conferences, trade bodies). (5) Integration ecosystem — payments, analytics, adjacent SaaS. (6) Founder-operator willing to transition; team depth beyond founder.</a:t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78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400" b="1">
                          <a:latin typeface="Arial"/>
                        </a:rPr>
                        <a:t>Exit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p>
                      <a:r>
                        <a:t/>
                      </a:r>
                    </a:p>
                  </a:txBody>
                </a:tc>
              </a:tr>
              <a:tr h="12700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sz="1000" b="0">
                          <a:latin typeface="Arial"/>
                        </a:rPr>
                        <a:t>Primary: strategic acquisition by vertical SaaS roll-up platforms (Jonas Software, Constellation Software, Volaris, Banyan Software) at 5-8x ARR for scaled sub-$10M ARR players with strong retention. Secondary: sale to PE-backed platform within sub-niche pursuing buy-and-build. Tertiary: adjacent vertical SaaS consolidator expanding into luxury segment. Premium multiples (7-9x) available for Rule-of-40 targets with 120%+ NRR and defensible AI moat. This umbrella is a thesis — individual sub-niches require separate scorecard evaluation before activation.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p>
                      <a:r>
                        <a:t/>
                      </a:r>
                    </a:p>
                  </a:txBody>
                </a:tc>
              </a:tr>
            </a:tbl>
          </a:graphicData>
        </a:graphic>
      </p:graphicFrame>
      <p:pic>
        <p:nvPicPr>
          <p:cNvPr descr="A black background with a black square&#10;&#10;AI-generated content may be incorrect.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458" y="-6321"/>
            <a:ext cx="678789" cy="67878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 rot="-5400000">
            <a:off x="5657855" y="7901444"/>
            <a:ext cx="226966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Strictly Confidential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-4415050" y="3444575"/>
            <a:ext cx="3522600" cy="1473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Why is PE not involved yet?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Is it hard to roll up?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Is it the economics?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Is it too customized?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2025-07-18T20:10:07Z</dcterms:created>
  <dc:creator>Jonathan Zylberberg</dc:creator>
</cp:coreProperties>
</file>