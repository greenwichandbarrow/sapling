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9144000" cx="6858000"/>
  <p:notesSz cx="6858000" cy="9144000"/>
  <p:embeddedFontLst>
    <p:embeddedFont>
      <p:font typeface="Play"/>
      <p:regular r:id="rId8"/>
      <p:bold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cjH5U044/we/MAG3n+VSwUf8x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F6FF0B-5A19-4756-B371-CDEA78D29C38}">
  <a:tblStyle styleId="{60F6FF0B-5A19-4756-B371-CDEA78D29C38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Play-regular.fntdata"/><Relationship Id="rId9" Type="http://schemas.openxmlformats.org/officeDocument/2006/relationships/font" Target="fonts/Play-bold.fntdata"/><Relationship Id="rId10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/>
          <p:nvPr>
            <p:ph idx="2" type="sldImg"/>
          </p:nvPr>
        </p:nvSpPr>
        <p:spPr>
          <a:xfrm>
            <a:off x="2271713" y="1143000"/>
            <a:ext cx="23145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33% of people have set up</a:t>
            </a:r>
            <a:endParaRPr/>
          </a:p>
        </p:txBody>
      </p:sp>
      <p:sp>
        <p:nvSpPr>
          <p:cNvPr id="87" name="Google Shape;8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496484"/>
            <a:ext cx="5829300" cy="318346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857250" y="4802717"/>
            <a:ext cx="5143500" cy="22076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467916" y="2279653"/>
            <a:ext cx="5915025" cy="3803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467916" y="6119286"/>
            <a:ext cx="5915025" cy="2000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71488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71863" y="2434167"/>
            <a:ext cx="2914650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72381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72381" y="2241551"/>
            <a:ext cx="2901255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72381" y="3340100"/>
            <a:ext cx="2901255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71863" y="2241551"/>
            <a:ext cx="2915543" cy="1098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71863" y="3340100"/>
            <a:ext cx="2915543" cy="4912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472381" y="609600"/>
            <a:ext cx="2211884" cy="21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2915543" y="1316569"/>
            <a:ext cx="3471863" cy="649816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472381" y="2743200"/>
            <a:ext cx="2211884" cy="50821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528108" y="2377546"/>
            <a:ext cx="5801784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1772577" y="3622015"/>
            <a:ext cx="774911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-1227798" y="2186121"/>
            <a:ext cx="774911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4"/>
          <p:cNvCxnSpPr/>
          <p:nvPr/>
        </p:nvCxnSpPr>
        <p:spPr>
          <a:xfrm>
            <a:off x="1187927" y="1227990"/>
            <a:ext cx="53594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0" y="1841725"/>
            <a:ext cx="6858000" cy="0"/>
          </a:xfrm>
          <a:prstGeom prst="straightConnector1">
            <a:avLst/>
          </a:prstGeom>
          <a:noFill/>
          <a:ln cap="flat" cmpd="sng" w="9525">
            <a:solidFill>
              <a:srgbClr val="C49B77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91" name="Google Shape;91;p14"/>
          <p:cNvGraphicFramePr/>
          <p:nvPr/>
        </p:nvGraphicFramePr>
        <p:xfrm>
          <a:off x="107880" y="149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{60F6FF0B-5A19-4756-B371-CDEA78D29C38}</a:tableStyleId>
              </a:tblPr>
              <a:tblGrid>
                <a:gridCol w="3298375"/>
                <a:gridCol w="3298375"/>
              </a:tblGrid>
              <a:tr h="34775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sz="1600" b="1">
                          <a:solidFill>
                            <a:srgbClr val="000000"/>
                          </a:solidFill>
                        </a:rPr>
                        <a:t>Private Club Management Software (non-golf) | April 2026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9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2.15 / 3.0 (72%)</a:t>
                      </a:r>
                      <a:endParaRPr sz="1400" u="none" cap="none" strike="noStrike">
                        <a:highlight>
                          <a:srgbClr val="FFFF00"/>
                        </a:highlight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</a:rPr>
                        <a:t>Status: Under Review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9912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Industry Overview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71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Back-office SaaS for private member-based organizations where golf is not the primary amenity: city clubs, yacht clubs, athletic clubs, university/social clubs, and non-golf-dominant country clubs. Core modules: member billing/dues, events, F&amp;B POS, reciprocity, dining/court reservations, compliance (501(c)(7), Lucky 7 testing), and member communications. US non-golf private club universe: ~3,000-4,000 clubs (1,300+ yacht clubs, 400+ city/athletic clubs, 500+ social clubs, plus non-golf country clubs). Named vendors: MembersFirst (Jonas/Constellation-owned), Buz Club Software (founder-owned, Toronto, 120+ clubs), Cobalt Software (family-owned, Boca Raton), Northstar Technologies (Alpharetta GA, private, serial acquirer, 1000+ clubs), ForeTees (golf-tilted), ClubSoft, Clubspot, Join It. Xplor+Clubessential (Advent/Battery/Silver Lake) and Jonas Club Software (Constellation) dominate the top of market. Non-golf slice remains a fragmented mid/long tail of 10-15 founder-owned or small vendors competing for boutique/specialty clubs.</a:t>
                      </a:r>
                      <a:endParaRPr sz="10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Industry Thesis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557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Fragmented long tail of founder-owned vendors serving a high-retention, low-churn customer base. Clubs are 501(c)(7) non-profits with 7-10 year vendor retention, annual member billing cycles, and governance structures that resist rip-and-replace. Top-of-market consolidation by Xplor/Clubessential and Jonas has pushed the next tier of clubs toward boutique specialists, creating a mid-market pocket of $5-30M ARR vendors with 90%+ gross retention. Value chain position is infrastructure/billing — mission critical to dues collection and member statements — not discretionary software.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Macro Trends &amp; Growth Drivers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Risks &amp; Concerns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18400"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Xplor+Clubessential merger (Sep 2025) creates a monolith that alienates boutique clubs.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Post-COVID membership rebound: 82% of yacht clubs report stable/growing rolls.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Digitization laggard vertical — many clubs still on paper or on-prem legacy.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Member expectations for modern mobile/reservation UX (driven by Equinox, Soho House).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Compliance complexity (501(c)(7) non-member revenue testing) rising.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Embedded payments monetization adds $1-3M ARR to any vendor with 100+ clubs.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304800" lvl="0" marL="4572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TAM gate: US non-golf slice estimated $200-400M, BELOW the $500M investor floor.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Constellation Software (Jonas) is a patient, permanent-capital acquirer of exactly this kind of founder-owned vendor — will outbid search funds for quality targets.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Xplor/Clubessential merger accelerates consolidation; proprietary targets are shrinking.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Golf dominates club software spend; non-golf pure-plays are small and thinly capitalized.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Switching costs cut both ways — locked customers, but also locked share.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AI enables faster greenfield builds — new entrants more credible than 5 years ago.</a:t>
                      </a:r>
                    </a:p>
                    <a:p>
                      <a:r>
                        <a:rPr sz="1100">
                          <a:solidFill>
                            <a:srgbClr val="000000"/>
                          </a:solidFill>
                          <a:latin typeface="Arial"/>
                        </a:rPr>
                        <a:t>• Market reports vary 5x ($1.6B to $7.9B) — TAM data quality is poor.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Economics &amp; Pricing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Competitive Landscape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3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SaaS gross margins 70-85%. EBITDA margins: mature platforms 20-35%, sub-scale vendors 10-20%. Pricing: $5-15K implementation + $15-50K/yr per club (tiered by member count); large clubs pay $50-100K+/yr. Payments attach: 25-50bps additional margin. ARR distribution: top vendors $30-200M (PE/CSI owned); mid-tier founder-owned $5-30M; long tail &lt;$5M. Target ARR band ($5-15M) exists but candidate pool is thin (likely 5-10 true candidates US).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PE/Strategic-owned (top tier): Jonas Club Software (Constellation/CSU.TO), MembersFirst (Jonas), Clubessential + ForeUP + ClubReady (Xplor/Advent/Battery/Silver Lake, $900M combined ARR), Club Caddie (Jonas).</a:t>
                      </a:r>
                      <a:endParaRPr sz="1000" u="none" cap="none" strike="noStrike"/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Founder/family-owned (target pool): Buz Club Software (Toronto, bootstrapped, 120+ clubs), Cobalt Software (Boca Raton, family-owned), Northstar Technologies (Alpharetta, private but active acquirer), ClubSoft, Clubspot, SailingClubManager.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Adjacent/encroaching: Join It (association SaaS), Molo (marina), generic hospitality POS (Toast, Square).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4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Customers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Barriers to Entry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27000">
                <a:tc>
                  <a:txBody>
                    <a:bodyPr/>
                    <a:lstStyle/>
                    <a:p>
                      <a:pPr indent="-171450" lvl="0" marL="1714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• ~1,300 US yacht clubs (NCA + YCA networks).</a:t>
                      </a:r>
                      <a:endParaRPr sz="1000"/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~400-600 city/athletic clubs (Union League, Harvard Club, University Clubs, etc.).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~500-1,000 non-golf-dominant country/social clubs.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Boards of directors and GMs buy; member experience drives retention; CFOs care about dues/billing.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Decision cycle 6-18 months; board approval required; high-touch sales.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• Non-profit accounting requirements (501(c)(7) reporting, Lucky 7 testing).</a:t>
                      </a:r>
                      <a:endParaRPr sz="1000"/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Complex member billing (initiation fees, transfers, food minimums, spouse/junior tiers).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Reciprocity networks (Platinum Clubs, YCA) require interop.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Board/GM reference relationships — trust sells, not features.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• Data migration from legacy systems (CMI, Jonas v3) is painful — entrenchment is real.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439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Key Success Factors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381225"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sz="1000">
                          <a:solidFill>
                            <a:srgbClr val="000000"/>
                          </a:solidFill>
                        </a:rPr>
                        <a:t>Board/GM relationships and CMAA World Conference presence.</a:t>
                      </a:r>
                      <a:endParaRPr sz="1000"/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Depth of non-profit accounting + 501(c)(7) reporting.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Reciprocity network integrations.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Embedded payments + ACH attach for margin expansion.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Implementation services quality (migrations are the moat).</a:t>
                      </a:r>
                    </a:p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Member-facing mobile UX parity with Equinox/Soho House.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/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Integration with state regulatory databases for automated license verification.</a:t>
                      </a:r>
                      <a:endParaRPr sz="1000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  <a:p>
                      <a:pPr indent="-285750" lvl="0" marL="28575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Char char="•"/>
                      </a:pPr>
                      <a:r>
                        <a:rPr lang="en-US" sz="1000" u="none" cap="none" strike="noStrike"/>
                        <a:t/>
                      </a:r>
                      <a:endParaRPr sz="1400" u="none" cap="none" strike="noStrike"/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Content layer: compliance training, regulatory updates, best-practice templates.</a:t>
                      </a:r>
                    </a:p>
                    <a:p>
                      <a:r>
                        <a:rPr sz="800">
                          <a:solidFill>
                            <a:srgbClr val="000000"/>
                          </a:solidFill>
                        </a:rPr>
                        <a:t>Customer success: onboarding, compliance advisory, audit prep support (the 'people' in people + platform).</a:t>
                      </a: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778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/>
                      </a:r>
                      <a:r>
                        <a:rPr sz="800">
                          <a:solidFill>
                            <a:srgbClr val="000000"/>
                          </a:solidFill>
                        </a:rPr>
                        <a:t>Exit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127000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Arial"/>
                        <a:buNone/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Arial"/>
                        </a:rPr>
                        <a:t>Constellation Software / Jonas (patient permanent-hold acquirer, most likely natural buyer). Xplor+Clubessential (scale consolidator). Vertical SaaS PE platforms (Vista, Thoma, Battery). Hospitality/payments strategics (Toast, Square, Stripe — embedded payments thesis). Exit multiples: 4-7x ARR for sub-scale, 7-12x for $20M+ ARR with payments attach.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  <p:pic>
        <p:nvPicPr>
          <p:cNvPr descr="A black background with a black square&#10;&#10;AI-generated content may be incorrect.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458" y="-6321"/>
            <a:ext cx="678789" cy="67878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 rot="-5400000">
            <a:off x="5657855" y="7901444"/>
            <a:ext cx="226966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Confidential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-4415050" y="3444575"/>
            <a:ext cx="3522600" cy="1473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Why is PE not involved yet?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hard to roll up?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the economics?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Is it too customized?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2025-07-18T20:10:07Z</dcterms:created>
  <dc:creator>Jonathan Zylberberg</dc:creator>
</cp:coreProperties>
</file>