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000000"/>
                          </a:solidFill>
                        </a:rPr>
                        <a:t>High-End Commercial Cleaning (Healthcare, Biotech, Data Center, Luxury Hospitality)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p/>
                  </a:txBody>
                </a:tc>
              </a:tr>
              <a:tr h="29912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2.50 / 3.0 (83%) — New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Status: Active-Outreach (delayed start 7/20/26)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Specialty commercial cleaning for regulated and brand-sensitive environments: healthcare facilities (CDC EVS, HAI protocols), biotech/pharma cleanrooms (ISO 14644 Class 5-8), data center contamination control, luxury hotels/retail/hospitality (brand stewardship), museums/archives (preservation-grade), and white-glove residential estates. 10-30% price premium vs generic janitorial.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Generic commercial cleaning is a $112B fragmented market with 12-18% EBITDA industry margins — below specialty-services thresholds. The high-end sub-niche (healthcare, biotech, data center, luxury, museum) inverts the economics: mission-critical specs, regulatory-driven demand, 75%+ retention, 20-28% EBITDA for top operators, and 2-3 year client-approval cycles that produce durable switching costs. Same fragmentation tailwind as generic, concentrated in the highest-margin operator tier.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Post-COVID hygiene elevation durable. CDC HAI reduction targets tightening (HAI cost US hospitals $28.4B/yr). Data center buildout 15% CAGR driving cleanroom-adjacent demand. Biotech facility count +40% since 2020 per CBRE. TSCA PFAS reporting (Apr 2026), EPA Safer Choice, EU Digital Product Passport (Jul 2026) all favor compliance-native specialists.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Industry EBITDA 12-18% is below premium-services margin levels — the margin thesis only holds for operators with &gt;50% revenue from high-end verticals (healthcare, biotech, data center, luxury). Labor crisis structural: 75-200% turnover, 351K unfilled openings. Five active PE consolidators (4M, Kleen-Tech, Kept, KBS, Solid Surface) but focused on generic janitorial. Top-of-market robotics (Avidbots, Brain Corp) long-runway disruption. Healthcare/biotech liability exposure requires $5-15M umbrella coverage.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Industry EBITDA: 12-18% / top quartile 20%+. High-end operators: 20-28% EBITDA with healthcare-biotech mix. Gross margin: healthcare 22-30%, specialty floor care 30-40%, green 25-35%, post-construction 20-28%. Valuation: $1.5-3M revenue at 2.3-2.9x SDE; $3-5M at 2.5-3.1x SDE; $5M+ platforms at 3.4-4.5x EBITDA. Recurring threshold: 40%+ commercial recurring = valuation floor; 60%+ with 75%+ renewal = premium.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Risks &amp; Concerns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rial"/>
                        </a:rPr>
                        <a:t>National generalists: ABM Industries, ISS A/S, Aramark, Jan-Pro (each &lt;10% share). High-end specialists: Crothall Healthcare (Compass Group), HHS (healthcare EVS), Servicon (biotech/aerospace cleanrooms), PuroClean (specialty restoration). PE platforms: 4M (O2), Kleen-Tech (Rainier, 9 brands/30+ states), KBS/Kellermeyer (Cerberus), Kept Companies (DFW/ACON, 120+ tuck-ins), Solid Surface Care (Angeles).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Margin compression: industry EBITDA below premium-services levels</a:t>
                      </a:r>
                    </a:p>
                    <a:p>
                      <a:r>
                        <a:rPr sz="1100">
                          <a:latin typeface="Arial"/>
                        </a:rPr>
                        <a:t>Labor crisis: 75-200% turnover, 351K unfilled openings</a:t>
                      </a:r>
                    </a:p>
                    <a:p>
                      <a:r>
                        <a:rPr sz="1100">
                          <a:latin typeface="Arial"/>
                        </a:rPr>
                        <a:t>PE competition: 5 active platforms, 138 deals in 2024 (+32% YoY)</a:t>
                      </a:r>
                    </a:p>
                    <a:p>
                      <a:r>
                        <a:rPr sz="1100">
                          <a:latin typeface="Arial"/>
                        </a:rPr>
                        <a:t>Healthcare/biotech liability exposure</a:t>
                      </a:r>
                    </a:p>
                    <a:p>
                      <a:r>
                        <a:rPr sz="1100">
                          <a:latin typeface="Arial"/>
                        </a:rPr>
                        <a:t>Long-runway robotics disruption (Avidbots, Brain Corp)</a:t>
                      </a:r>
                    </a:p>
                    <a:p>
                      <a:r>
                        <a:rPr sz="1100">
                          <a:latin typeface="Arial"/>
                        </a:rPr>
                        <a:t>Customer power: healthcare systems demand tight SLAs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</a:rPr>
                        <a:t>Healthcare (acute-care hospitals, ASCs, long-term care): CDC EVS, Joint Commission, HAI metrics. Biotech/pharma (manufacturing, R&amp;D): ISO 14644 cleanroom, GMP compliance. Data centers (hyperscale, colo, edge): particulate control, ESD protocols. Luxury hospitality (five-star hotels, private clubs): brand standards, white-glove turnover. Luxury retail (flagship stores, jewelry): after-hours, low-visibility crews. Museums/archives (institutions, private collections): preservation-grade, specialty substrates. UHNW residential: vetted, bonded, NDA-signed.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/>
                        <a:t>Competitive Landscape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Arial"/>
                        </a:rPr>
                        <a:t>Certifications: CIMS (ISSA), GBAC STAR (infection control), CDC EVS training, ISO 14644 cleanroom competency. Client trust curve: 2-3 years to earn healthcare/biotech approval; museum/UHNW requires references. Bonded/background-checked labor (federal facilities, UHNW homes). Insurance minimums: $5-15M umbrella for healthcare and biotech. Route density economics: 10-15 mile radius for high-frequency commercial accounts. Documentation systems (audit trails, HAI reporting, ISO certification records).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Market dominated by regional and mid-market players. Top 50 operators capture only ~30% of revenue. Five PE-backed platforms consolidating generic janitorial; high-end sub-niche remains fragmented with healthcare/biotech specialists typically owner-operated at $3-15M revenue scale. No dominant national player in high-end segment.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000000"/>
                          </a:solidFill>
                          <a:latin typeface="Arial"/>
                        </a:rPr>
                        <a:t>60%+ revenue from high-end verticals (healthcare, biotech, data center, luxury). 40%+ recurring contract revenue with 75%+ renewal. Tenured technician retention program (turnover &lt;50% vs 75-200% industry). Digital documentation stack: RFID cleaning verification, IoT audits, HAI/ISO compliance reporting. Route density within metro. Certifications: CIMS, GBAC STAR, CDC EVS, ISO 14644. No single customer &gt;15% of revenue.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Barriers to Entry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Strategic acquisition by national generalists seeking healthcare/biotech margin mix (ABM, ISS, Aramark). PE platform roll-up (Kleen-Tech, Kept Companies acquiring 120+ tuck-ins since 2021). Healthcare system insourcing as vertical integration alternative. Typical exit multiples: 3.4-4.5x EBITDA for $5M+ platforms with specialty mix; 5-6x for healthcare-pure with ISO/CIMS certifications and recurring base.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CIMS / GBAC STAR / CDC EVS / ISO 14644 certifications</a:t>
                      </a:r>
                    </a:p>
                    <a:p>
                      <a:r>
                        <a:rPr sz="1000"/>
                        <a:t>2-3 year client trust curve for healthcare and biotech</a:t>
                      </a:r>
                    </a:p>
                    <a:p>
                      <a:r>
                        <a:rPr sz="1000"/>
                        <a:t>Bonded and background-checked labor</a:t>
                      </a:r>
                    </a:p>
                    <a:p>
                      <a:r>
                        <a:rPr sz="1000"/>
                        <a:t>$5-15M umbrella insurance minimum</a:t>
                      </a:r>
                    </a:p>
                    <a:p>
                      <a:r>
                        <a:rPr sz="1000"/>
                        <a:t>Route density economics (10-15 mile radius)</a:t>
                      </a:r>
                    </a:p>
                    <a:p>
                      <a:r>
                        <a:rPr sz="1000"/>
                        <a:t>Documentation and compliance systems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Key Success Factors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r>
                        <a:rPr sz="1000"/>
                        <a:t>High-end vertical mix &gt;50% of revenue</a:t>
                      </a:r>
                    </a:p>
                    <a:p>
                      <a:r>
                        <a:rPr sz="1000"/>
                        <a:t>40%+ recurring contract revenue, 75%+ renewal</a:t>
                      </a:r>
                    </a:p>
                    <a:p>
                      <a:r>
                        <a:rPr sz="1000"/>
                        <a:t>Technician retention: turnover &lt;50% vs industry 75-200%</a:t>
                      </a:r>
                    </a:p>
                    <a:p>
                      <a:r>
                        <a:rPr sz="1000"/>
                        <a:t>Certification stack: CIMS, GBAC STAR, CDC EVS, ISO 14644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Digital documentation: RFID verification, IoT audits, HAI/ISO reporting</a:t>
                      </a:r>
                    </a:p>
                    <a:p>
                      <a:r>
                        <a:rPr sz="1000"/>
                        <a:t>Route density in 10-15 mile metro radius</a:t>
                      </a:r>
                    </a:p>
                    <a:p>
                      <a:r>
                        <a:rPr sz="1000"/>
                        <a:t>No customer &gt;15% of revenue (diversified healthcare/biotech/data center mix)</a:t>
                      </a:r>
                    </a:p>
                    <a:p>
                      <a:r>
                        <a:rPr sz="1000"/>
                        <a:t>Green-cleaning certifications (10-20% price premium)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r>
                        <a:rPr sz="1400" b="1">
                          <a:latin typeface="Arial"/>
                        </a:rPr>
                        <a:t>Exit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r>
                        <a:rPr sz="1000" b="0">
                          <a:latin typeface="Arial"/>
                        </a:rPr>
                        <a:t>Strategic acquisition by national generalists (ABM, ISS, Aramark) seeking healthcare/biotech margin mix. PE platform roll-up (Kleen-Tech, Kept Companies, KBS, Solid Surface Care). Healthcare system insourcing as vertical-integration exit. Exit multiples: 3.4-4.5x EBITDA for $5M+ platforms; 5-6x for healthcare-pure with ISO/CIMS certifications and 60%+ recurring base.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