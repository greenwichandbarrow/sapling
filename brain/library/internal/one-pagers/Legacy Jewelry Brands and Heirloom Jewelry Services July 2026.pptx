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" cy="6858000"/>
          </a:xfrm>
          <a:prstGeom prst="rect">
            <a:avLst/>
          </a:prstGeom>
          <a:solidFill>
            <a:srgbClr val="F6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Legacy Jewelry Brands &amp; Heirloom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41248"/>
            <a:ext cx="9966960" cy="18288"/>
          </a:xfrm>
          <a:prstGeom prst="rect">
            <a:avLst/>
          </a:prstGeom>
          <a:solidFill>
            <a:srgbClr val="C4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latin typeface="Arial"/>
              </a:defRPr>
            </a:pPr>
            <a:r>
              <a:t>Assessment: Conditional WATCH 2.15/3.0 (72%)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93268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latin typeface="Arial"/>
              </a:defRPr>
            </a:pPr>
            <a:r>
              <a:t>Status: New / Under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1615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latin typeface="Arial"/>
              </a:defRPr>
            </a:pPr>
            <a:r>
              <a:t>A branded fine-jewelry platform can fit G&amp;B only if legacy brand equity, management depth, repeat client behavior, and inventory downside protection convert a retail asset into a durable luxury HoldCo anchor.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2697480" cy="3657600"/>
          </a:xfrm>
          <a:prstGeom prst="rect">
            <a:avLst/>
          </a:prstGeom>
          <a:solidFill>
            <a:srgbClr val="EFEFE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7510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08080"/>
                </a:solidFill>
                <a:latin typeface="Arial"/>
              </a:defRPr>
            </a:pPr>
            <a:r>
              <a:t>WHY THIS CAN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951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>
                <a:latin typeface="Arial"/>
              </a:defRPr>
            </a:pPr>
            <a:r>
              <a:t>Hard luxury is a large, enduring category with repeat, trust-based purchase behavior. A legacy brand can compound taste, permanence, community, philanthropy, and customer intimacy better than generic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98348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08080"/>
                </a:solidFill>
                <a:latin typeface="Arial"/>
              </a:defRPr>
            </a:pPr>
            <a:r>
              <a:t>LUXURY HOLDCO 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828800"/>
            <a:ext cx="2697480" cy="3657600"/>
          </a:xfrm>
          <a:prstGeom prst="rect">
            <a:avLst/>
          </a:prstGeom>
          <a:solidFill>
            <a:srgbClr val="EFEFE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7510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08080"/>
                </a:solidFill>
                <a:latin typeface="Arial"/>
              </a:defRPr>
            </a:pPr>
            <a:r>
              <a:t>WHERE IT 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651760"/>
            <a:ext cx="22951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>
                <a:latin typeface="Arial"/>
              </a:defRPr>
            </a:pPr>
            <a:r>
              <a:t>The generic jewelry-store model is retail and inventory-heavy. Revenue is repeat, not contractual; poor turns, markdowns, founder dependence, and slow-moving inventory can erase cash flow quality.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98348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08080"/>
                </a:solidFill>
                <a:latin typeface="Arial"/>
              </a:defRPr>
            </a:pPr>
            <a:r>
              <a:t>INVENTORY / RETAIL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1828800"/>
            <a:ext cx="2697480" cy="3657600"/>
          </a:xfrm>
          <a:prstGeom prst="rect">
            <a:avLst/>
          </a:prstGeom>
          <a:solidFill>
            <a:srgbClr val="EFEFE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97510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08080"/>
                </a:solidFill>
                <a:latin typeface="Arial"/>
              </a:defRPr>
            </a:pPr>
            <a:r>
              <a:t>WHAT MUST BE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651760"/>
            <a:ext cx="22951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>
                <a:latin typeface="Arial"/>
              </a:defRPr>
            </a:pPr>
            <a:r>
              <a:t>Target must have $1.5M+ EBITDA, retained management, durable client book, brand equity beyond the seller, clean inventory aging, and structure that protects downside.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498348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08080"/>
                </a:solidFill>
                <a:latin typeface="Arial"/>
              </a:defRPr>
            </a:pPr>
            <a:r>
              <a:t>FIRST-ASSET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9176" y="1828800"/>
            <a:ext cx="2240280" cy="3657600"/>
          </a:xfrm>
          <a:prstGeom prst="rect">
            <a:avLst/>
          </a:prstGeom>
          <a:solidFill>
            <a:srgbClr val="EFEFE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1975104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08080"/>
                </a:solidFill>
                <a:latin typeface="Arial"/>
              </a:defRPr>
            </a:pPr>
            <a:r>
              <a:t>SIDNEY GARBER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2651760"/>
            <a:ext cx="18379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>
                <a:latin typeface="Arial"/>
              </a:defRPr>
            </a:pPr>
            <a:r>
              <a:t>Company financials show ~$18.6M revenue, ~$3.36M EBITDA, and ~$3.27M FCF before distributions/taxes in 2025. Advance only to structure-led diligence.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4983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08080"/>
                </a:solidFill>
                <a:latin typeface="Arial"/>
              </a:defRPr>
            </a:pPr>
            <a:r>
              <a:t>ASSET-SPECIFIC UPSIDE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latin typeface="Arial"/>
              </a:defRPr>
            </a:pPr>
            <a:r>
              <a:t>Bottom line: this is not a generic jewelry thesis. It is a conditional luxury-HoldCo first-asset thesis where the asset must prove management depth, repeat customer economics, and inventory downside protection before LOI.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364224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latin typeface="Arial"/>
              </a:defRPr>
            </a:pPr>
            <a:r>
              <a:t>Source: Bain/Altagamma; McKinsey; US Census NAICS; JBT; broker listings; Sidney Garber financial workbook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1109960" y="5989320"/>
            <a:ext cx="228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latin typeface="Arial"/>
              </a:defRPr>
            </a:pPr>
            <a:r>
              <a:t>Strictly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