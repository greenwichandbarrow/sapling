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/home/ubuntu/projects/Sapling/brain/traces/agents/2026-09-01-niche-intelligence.md" TargetMode="External"/><Relationship Id="rId3" Type="http://schemas.openxmlformats.org/officeDocument/2006/relationships/hyperlink" Target="https://mail.google.com/mail/?authuser=kay.s%40greenwichandbarrow.com#all/1a048fefa5e1152d" TargetMode="External"/><Relationship Id="rId4" Type="http://schemas.openxmlformats.org/officeDocument/2006/relationships/hyperlink" Target="https://www.futuremarketinsights.com/reports/electrical-testing-services-market" TargetMode="External"/><Relationship Id="rId5" Type="http://schemas.openxmlformats.org/officeDocument/2006/relationships/hyperlink" Target="https://www.marketdataforecast.com/market-reports/north-america-electrical-testing-services-market" TargetMode="External"/><Relationship Id="rId6" Type="http://schemas.openxmlformats.org/officeDocument/2006/relationships/hyperlink" Target="https://www.iea.org/reports/energy-and-ai/energy-demand-from-ai" TargetMode="External"/><Relationship Id="rId7" Type="http://schemas.openxmlformats.org/officeDocument/2006/relationships/hyperlink" Target="https://www.nfpa.org/codes-and-standards/nfpa-70b-standard-development/70b" TargetMode="External"/><Relationship Id="rId8" Type="http://schemas.openxmlformats.org/officeDocument/2006/relationships/hyperlink" Target="https://www.netaworld.org/accreditation/overview" TargetMode="External"/><Relationship Id="rId9" Type="http://schemas.openxmlformats.org/officeDocument/2006/relationships/hyperlink" Target="https://neta.netaworld.org/" TargetMode="External"/><Relationship Id="rId10" Type="http://schemas.openxmlformats.org/officeDocument/2006/relationships/hyperlink" Target="https://www.blackstone.com/news/press/blackstone-announces-agreement-to-acquire-shermco-for-approximately-1-6-billion/" TargetMode="External"/><Relationship Id="rId11" Type="http://schemas.openxmlformats.org/officeDocument/2006/relationships/hyperlink" Target="https://www.prnewswire.com/news-releases/shermco-industries-acquires-power-test-a-leading-neta-testing-company-302105319.html" TargetMode="External"/><Relationship Id="rId12" Type="http://schemas.openxmlformats.org/officeDocument/2006/relationships/hyperlink" Target="https://www.prnewswire.com/news-releases/shermco-expands-power-systems-engineering-capabilities-with-acquisition-of-r3l-engineering-302459461.html" TargetMode="External"/><Relationship Id="rId13" Type="http://schemas.openxmlformats.org/officeDocument/2006/relationships/hyperlink" Target="https://shermco.com/acquisitions/" TargetMode="External"/><Relationship Id="rId14" Type="http://schemas.openxmlformats.org/officeDocument/2006/relationships/hyperlink" Target="https://www.resapower.com/news/" TargetMode="External"/><Relationship Id="rId15" Type="http://schemas.openxmlformats.org/officeDocument/2006/relationships/hyperlink" Target="https://www.vertiv.com/en-us/products/services/electrical-reliability-services-ers/" TargetMode="External"/><Relationship Id="rId16" Type="http://schemas.openxmlformats.org/officeDocument/2006/relationships/hyperlink" Target="/home/ubuntu/projects/Sapling/.agents/skills/niche-intelligence/references/one-pager-template.md" TargetMode="External"/><Relationship Id="rId17" Type="http://schemas.openxmlformats.org/officeDocument/2006/relationships/hyperlink" Target="/home/ubuntu/projects/Sapling/brain/outputs/2026-06-26-deal-tape-market-signal-scan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 b="1">
                          <a:solidFill>
                            <a:srgbClr val="000000"/>
                          </a:solidFill>
                        </a:rPr>
                        <a:t>Electrical Testing and Power-System Services - September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38100" rIns="38100" tIns="25400" bIns="25400"/>
                    <a:p>
                      <a:r>
                        <a:rPr sz="16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</a:tc>
              </a:tr>
              <a:tr h="299125"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Assessment: Pending Scoring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Status: Pending Scoring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38100" rIns="38100" tIns="25400" bIns="25400"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</a:tc>
              </a:tr>
              <a:tr h="277125">
                <a:tc gridSpan="2">
                  <a:txBody>
                    <a:bodyPr wrap="square" lIns="38100" rIns="38100" tIns="25400" bIns="25400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710" b="0">
                          <a:solidFill>
                            <a:srgbClr val="000000"/>
                          </a:solidFill>
                        </a:rPr>
                        <a:t>B2B testing, maintenance, commissioning, diagnostics, repair support, and audit-ready reporting for electrical power systems in commercial, industrial, utility, healthcare/lab, data center, and institutional facilities. Core work includes transformer and circuit-breaker testing, relay calibration, thermography, dielectric fluid/oil analysis, protection testing, arc-flash studies, power-quality monitoring, system protection upgrades, acceptance testing, and emergency troubleshooting. The global electrical testing services market is estimated at $9.6B in 2026 and projected to reach $19.6B by 2036 at 7.4% CAGR; North America is estimated at $2.98B in 2025.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38100" rIns="38100" tIns="25400" bIns="25400"/>
                    <a:p>
                      <a:r>
                        <a:rPr sz="71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</a:tc>
              </a:tr>
              <a:tr h="177800">
                <a:tc gridSpan="2"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38100" rIns="38100" tIns="25400" bIns="25400"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</a:tc>
              </a:tr>
              <a:tr h="385575">
                <a:tc gridSpan="2">
                  <a:txBody>
                    <a:bodyPr wrap="square" lIns="38100" rIns="38100" tIns="25400" bIns="25400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725" u="none" cap="none" strike="noStrike" b="0">
                          <a:solidFill>
                            <a:srgbClr val="000000"/>
                          </a:solidFill>
                        </a:rPr>
                        <a:t>The attractive structure is a fragmented regional specialist market selling independent verification, uptime protection, and maintenance documentation for expensive installed electrical assets. Buyers face high failure cost, safety exposure, insurance/compliance scrutiny, and operational disruption, which supports repeat testing, maintenance schedules, emergency response, and technical reporting. The acquisition lane is testing/service-led power-system reliability, not electrical construction, OEM field service, or product-only distribution.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38100" rIns="38100" tIns="25400" bIns="25400"/>
                    <a:p>
                      <a:r>
                        <a:rPr sz="725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</a:tc>
              </a:tr>
              <a:tr h="177800"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 wrap="square" lIns="38100" rIns="38100" tIns="25400" bIns="25400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6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Data-center and AI power demand increases uptime pressure; IEA projects data-center electricity use to roughly double to about 945 TWh by 2030.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Aging grid, switchgear, transformers, and behind-the-meter electrical infrastructure require preventive maintenance and diagnostics.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NFPA 70B and NETA standards reinforce routine maintenance, acceptance testing, calibrated equipment, technician credentials, and documentation.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Industrial automation, healthcare/lab uptime, renewables/storage interconnection, and power-quality issues expand testing use cases.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Current deal-flow signal: E&amp;K listing reported $6.1M revenue, $3.5M normalized EBITDA, planned maintenance, and 24/7 emergency support.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675" u="none" cap="none" strike="noStrike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Technician recruiting, certification depth, safety culture, and specialized equipment are hard constraints.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Reported E&amp;K margin is unusually high and should not be treated as a market norm without company diligence.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PE platforms are already active; Blackstone/Shermco and RESA activity indicate a closing window for the best NETA-quality assets.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Some target pools blur into broad electrical contractors, construction projects, OEM service, or product distribution; those should be excluded.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Customer concentration may appear around utilities, data centers, government/institutional work, or large industrial accounts.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675" u="none" cap="none" strike="noStrike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Pricing commonly mixes scheduled maintenance/testing programs, acceptance/commissioning projects, emergency troubleshooting, engineering studies, infrared scans, oil/fluid analysis, relay/protection work, and reporting packages. Revenue is reoccurring where customers maintain annual/semiannual/periodic testing cycles, and less durable where work is construction commissioning only. Well-run specialists can likely reach 15%+ EBITDA, while large platform margins may be lower after corporate overhead; diligence should separate maintenance/testing gross margin from pass-through equipment, construction, and engineering-only revenue.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655" u="none" cap="none" strike="noStrike" b="0">
                          <a:solidFill>
                            <a:srgbClr val="000000"/>
                          </a:solidFill>
                        </a:rPr>
                        <a:t>Landscape includes national platforms and OEMs (Shermco, RESA Power, Vertiv ERS, Schneider, Siemens, Eaton, ABB), regional NETA-accredited firms, relay/protection specialists, arc-flash engineering shops, and testing-heavy electrical maintenance providers. Example regional universe: American Electrical Testing, A&amp;F Electrical Testing, 360 Electrical &amp; Engineering Services, Potomac Testing, Power Solutions Group, Saber Power Field Services, Quad Plus, and U.S. Electrical Testing. PE-backed platforms are buying NETA-accredited and field-service assets.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 wrap="square" lIns="38100" rIns="38100" tIns="25400" bIns="25400"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690" b="0">
                          <a:solidFill>
                            <a:srgbClr val="000000"/>
                          </a:solidFill>
                        </a:rPr>
                        <a:t>Facility owners and operators with costly downtime or compliance exposure: data centers, hospitals, labs, universities, utilities, manufacturers, commercial real estate, refineries, rail, renewable/storage assets, municipal systems, and institutional campuses. Buyers value safety, independent reporting, outage prevention, fast emergency response, and credible documentation for insurers, regulators, owners, and maintenance teams.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675" b="0">
                          <a:solidFill>
                            <a:srgbClr val="000000"/>
                          </a:solidFill>
                        </a:rPr>
                        <a:t>- NETA accreditation and technician certification signal independent, qualified testing capacity.</a:t>
                      </a:r>
                      <a:endParaRPr sz="100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Specialized test equipment, calibration discipline, safety programs, and high-voltage procedures require investment and rigor.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Trust and documentation reputation matter because customers rely on reports for safety, compliance, and uptime decisions.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Dense regional response coverage matters for shutdown windows and emergencies.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5" b="0">
                          <a:solidFill>
                            <a:srgbClr val="000000"/>
                          </a:solidFill>
                        </a:rPr>
                        <a:t>- Institutional customer history, bid qualifications, and maintenance records create switching friction.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38100" rIns="38100" tIns="25400" bIns="25400"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</a:tc>
              </a:tr>
              <a:tr h="381225">
                <a:tc>
                  <a:txBody>
                    <a:bodyPr wrap="square" lIns="38100" rIns="38100" tIns="25400" bIns="25400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680" b="0">
                          <a:solidFill>
                            <a:srgbClr val="000000"/>
                          </a:solidFill>
                        </a:rPr>
                        <a:t>- Keep scope narrow: testing, maintenance, commissioning, diagnostics, protection, documentation, and emergency response.</a:t>
                      </a:r>
                      <a:endParaRPr sz="100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0">
                          <a:solidFill>
                            <a:srgbClr val="000000"/>
                          </a:solidFill>
                        </a:rPr>
                        <a:t>- Recruit, train, and retain certified field technicians; make safety culture non-negotiable.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0">
                          <a:solidFill>
                            <a:srgbClr val="000000"/>
                          </a:solidFill>
                        </a:rPr>
                        <a:t>- Build recurring/reoccurring maintenance schedules instead of relying on construction commissioning cycles.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0">
                          <a:solidFill>
                            <a:srgbClr val="000000"/>
                          </a:solidFill>
                        </a:rPr>
                        <a:t>- Standardize reports, quotes, outage planning, and follow-up work orders.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680" b="0">
                          <a:solidFill>
                            <a:srgbClr val="000000"/>
                          </a:solidFill>
                        </a:rPr>
                        <a:t>- Serve high-criticality end markets where failure cost is obvious.</a:t>
                      </a:r>
                      <a:endParaRPr sz="100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0">
                          <a:solidFill>
                            <a:srgbClr val="000000"/>
                          </a:solidFill>
                        </a:rPr>
                        <a:t>- Maintain equipment calibration, PE review access, and NETA/NFPA standards fluency.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0">
                          <a:solidFill>
                            <a:srgbClr val="000000"/>
                          </a:solidFill>
                        </a:rPr>
                        <a:t>- Avoid OEM/product conflicts that undermine independent testing credibility.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0">
                          <a:solidFill>
                            <a:srgbClr val="000000"/>
                          </a:solidFill>
                        </a:rPr>
                        <a:t>- Use local responsiveness as a wedge against national platforms.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 wrap="square" lIns="38100" rIns="38100" tIns="25400" bIns="25400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38100" rIns="38100" tIns="25400" bIns="25400"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</a:tc>
              </a:tr>
              <a:tr h="127000">
                <a:tc gridSpan="2">
                  <a:txBody>
                    <a:bodyPr wrap="square" lIns="38100" rIns="38100" tIns="25400" bIns="25400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69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Likely buyers include electrical testing platforms, power-services consolidators, facility/industrial services strategics, OEM-adjacent service groups, infrastructure services sponsors, and regional electrical services companies seeking recurring technical maintenance. Shermco/Blackstone validates sponsor-scale exit appetite; Shermco add-ons and RESA Power acquisitions validate tuck-in demand for NETA, field services, transformer, and power-system testing capabilities.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38100" rIns="38100" tIns="25400" bIns="25400"/>
                    <a:p>
                      <a:r>
                        <a:rPr sz="69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6035040" cy="7360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00" b="0">
                <a:solidFill>
                  <a:srgbClr val="000000"/>
                </a:solidFill>
              </a:rPr>
              <a:t/>
            </a:r>
            <a:r>
              <a:rPr sz="850" b="1">
                <a:solidFill>
                  <a:srgbClr val="000000"/>
                </a:solidFill>
              </a:rPr>
              <a:t>Gathering-sub-agent findings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2"/>
              </a:rPr>
              <a:t>2026-09-01 niche-intelligence chatroom - Step 1/1b/2 source trace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3"/>
              </a:rPr>
              <a:t>E&amp;K Gmail thread - electrical testing and power-system services deal-flow signal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</a:rPr>
              <a:t>External research and industry reports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4"/>
              </a:rPr>
              <a:t>Future Market Insights - Electrical Testing Services Market size, CAGR, segments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5"/>
              </a:rPr>
              <a:t>Market Data Forecast - North America Electrical Testing Services Market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6"/>
              </a:rPr>
              <a:t>IEA - Energy and AI data-center electricity demand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7"/>
              </a:rPr>
              <a:t>NFPA 70B - Standard for Electrical Equipment Maintenance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8"/>
              </a:rPr>
              <a:t>NETA accreditation overview - independent testing firms and standards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9"/>
              </a:rPr>
              <a:t>NETA Accredited Company Directory - target-density starting point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10"/>
              </a:rPr>
              <a:t>Blackstone - agreement to acquire Shermco for approximately $1.6B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11"/>
              </a:rPr>
              <a:t>PRNewswire - Shermco acquires Power 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12"/>
              </a:rPr>
              <a:t>PRNewswire - Shermco acquires R3L Engineering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13"/>
              </a:rPr>
              <a:t>Shermco acquisitions program - target profile and recurring client criteria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14"/>
              </a:rPr>
              <a:t>RESA Power news - acquisition activity in power-system field services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15"/>
              </a:rPr>
              <a:t>Vertiv ERS - electrical maintenance testing and compliance support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</a:rPr>
              <a:t>Internal vault references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16"/>
              </a:rPr>
              <a:t>One-pager template reference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30">
                <a:solidFill>
                  <a:srgbClr val="0B5CAB"/>
                </a:solidFill>
                <a:hlinkClick r:id="rId17"/>
              </a:rPr>
              <a:t>Prior deal-tape market signal scan - electrical testing/Shermco signal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