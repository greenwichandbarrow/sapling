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</p:sldIdLst>
  <p:sldSz cy="9144000" cx="6858000"/>
  <p:notesSz cx="6858000" cy="9144000"/>
  <p:embeddedFontLst>
    <p:embeddedFont>
      <p:font typeface="Play"/>
      <p:regular r:id="rId8"/>
      <p:bold r:id="rId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10" roundtripDataSignature="AMtx7mhcjH5U044/we/MAG3n+VSwUf8x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0F6FF0B-5A19-4756-B371-CDEA78D29C38}">
  <a:tblStyle styleId="{60F6FF0B-5A19-4756-B371-CDEA78D29C38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 b="off" i="off"/>
      <a:tcStyle>
        <a:fill>
          <a:solidFill>
            <a:srgbClr val="CAD1D8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AD1D8"/>
          </a:solidFill>
        </a:fill>
      </a:tcStyle>
    </a:band1V>
    <a:band2V>
      <a:tcTxStyle b="off" i="off"/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font" Target="fonts/Play-regular.fntdata"/><Relationship Id="rId9" Type="http://schemas.openxmlformats.org/officeDocument/2006/relationships/font" Target="fonts/Play-bold.fntdata"/><Relationship Id="rId10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271713" y="1143000"/>
            <a:ext cx="23145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:notes"/>
          <p:cNvSpPr/>
          <p:nvPr>
            <p:ph idx="2" type="sldImg"/>
          </p:nvPr>
        </p:nvSpPr>
        <p:spPr>
          <a:xfrm>
            <a:off x="2271713" y="1143000"/>
            <a:ext cx="23145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33% of people have set up</a:t>
            </a:r>
            <a:endParaRPr/>
          </a:p>
        </p:txBody>
      </p:sp>
      <p:sp>
        <p:nvSpPr>
          <p:cNvPr id="87" name="Google Shape;8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514350" y="1496484"/>
            <a:ext cx="5829300" cy="318346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857250" y="4802717"/>
            <a:ext cx="5143500" cy="22076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467916" y="2279653"/>
            <a:ext cx="5915025" cy="38036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467916" y="6119286"/>
            <a:ext cx="5915025" cy="2000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350"/>
              <a:buNone/>
              <a:defRPr sz="135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71488" y="2434167"/>
            <a:ext cx="2914650" cy="5801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3471863" y="2434167"/>
            <a:ext cx="2914650" cy="5801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72381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72381" y="2241551"/>
            <a:ext cx="2901255" cy="10985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72381" y="3340100"/>
            <a:ext cx="2901255" cy="4912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3471863" y="2241551"/>
            <a:ext cx="2915543" cy="10985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3471863" y="3340100"/>
            <a:ext cx="2915543" cy="4912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/>
          <p:nvPr>
            <p:ph type="title"/>
          </p:nvPr>
        </p:nvSpPr>
        <p:spPr>
          <a:xfrm>
            <a:off x="472381" y="609600"/>
            <a:ext cx="2211884" cy="21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2915543" y="1316569"/>
            <a:ext cx="3471863" cy="64981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10"/>
          <p:cNvSpPr txBox="1"/>
          <p:nvPr>
            <p:ph idx="2" type="body"/>
          </p:nvPr>
        </p:nvSpPr>
        <p:spPr>
          <a:xfrm>
            <a:off x="472381" y="2743200"/>
            <a:ext cx="2211884" cy="5082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10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/>
          <p:nvPr>
            <p:ph type="title"/>
          </p:nvPr>
        </p:nvSpPr>
        <p:spPr>
          <a:xfrm>
            <a:off x="472381" y="609600"/>
            <a:ext cx="2211884" cy="21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/>
          <p:nvPr>
            <p:ph idx="2" type="pic"/>
          </p:nvPr>
        </p:nvSpPr>
        <p:spPr>
          <a:xfrm>
            <a:off x="2915543" y="1316569"/>
            <a:ext cx="3471863" cy="6498167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/>
          <p:cNvSpPr txBox="1"/>
          <p:nvPr>
            <p:ph idx="1" type="body"/>
          </p:nvPr>
        </p:nvSpPr>
        <p:spPr>
          <a:xfrm>
            <a:off x="472381" y="2743200"/>
            <a:ext cx="2211884" cy="5082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11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2"/>
          <p:cNvSpPr txBox="1"/>
          <p:nvPr>
            <p:ph idx="1" type="body"/>
          </p:nvPr>
        </p:nvSpPr>
        <p:spPr>
          <a:xfrm rot="5400000">
            <a:off x="528108" y="2377546"/>
            <a:ext cx="5801784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/>
          <p:nvPr>
            <p:ph type="title"/>
          </p:nvPr>
        </p:nvSpPr>
        <p:spPr>
          <a:xfrm rot="5400000">
            <a:off x="1772577" y="3622015"/>
            <a:ext cx="774911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3"/>
          <p:cNvSpPr txBox="1"/>
          <p:nvPr>
            <p:ph idx="1" type="body"/>
          </p:nvPr>
        </p:nvSpPr>
        <p:spPr>
          <a:xfrm rot="5400000">
            <a:off x="-1227798" y="2186121"/>
            <a:ext cx="774911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b="0" i="0" sz="33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9" name="Google Shape;89;p14"/>
          <p:cNvCxnSpPr/>
          <p:nvPr/>
        </p:nvCxnSpPr>
        <p:spPr>
          <a:xfrm>
            <a:off x="1187927" y="1227990"/>
            <a:ext cx="5359400" cy="0"/>
          </a:xfrm>
          <a:prstGeom prst="straightConnector1">
            <a:avLst/>
          </a:prstGeom>
          <a:noFill/>
          <a:ln cap="flat" cmpd="sng" w="9525">
            <a:solidFill>
              <a:srgbClr val="C49B77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0" name="Google Shape;90;p14"/>
          <p:cNvCxnSpPr/>
          <p:nvPr/>
        </p:nvCxnSpPr>
        <p:spPr>
          <a:xfrm>
            <a:off x="0" y="1841725"/>
            <a:ext cx="6858000" cy="0"/>
          </a:xfrm>
          <a:prstGeom prst="straightConnector1">
            <a:avLst/>
          </a:prstGeom>
          <a:noFill/>
          <a:ln cap="flat" cmpd="sng" w="9525">
            <a:solidFill>
              <a:srgbClr val="C49B77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91" name="Google Shape;91;p14"/>
          <p:cNvGraphicFramePr/>
          <p:nvPr/>
        </p:nvGraphicFramePr>
        <p:xfrm>
          <a:off x="107880" y="14924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{60F6FF0B-5A19-4756-B371-CDEA78D29C38}</a:tableStyleId>
              </a:tblPr>
              <a:tblGrid>
                <a:gridCol w="3298375"/>
                <a:gridCol w="3298375"/>
              </a:tblGrid>
              <a:tr h="34775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 b="1">
                          <a:solidFill>
                            <a:srgbClr val="000000"/>
                          </a:solidFill>
                        </a:rPr>
                        <a:t>PT Clinic Software — April 2026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299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Assessment: Pending Scoring</a:t>
                      </a:r>
                      <a:endParaRPr sz="1400" u="none" cap="none" strike="noStrike">
                        <a:highlight>
                          <a:srgbClr val="FFFF00"/>
                        </a:highlight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Status: Under Review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91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Industry Overview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277125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/>
                        <a:t>Outpatient PT/OT clinic software is a vertical SaaS category serving ~50,000 US independent clinics. Top of market is consolidating under WebPT (Warburg Pincus) and Net Health/ReDoc (Carlyle, which acquired Keet from WebPT in Jan 2026). Mid-market vendors (Raintree, Prompt, Clinicient, TheraOffice, PtEverywhere) serve 1-10 clinic independents. US TAM est. $900M-$1.2B, 8-11% CAGR.</a:t>
                      </a:r>
                      <a:endParaRPr sz="10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1778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Industry Thesis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385575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000" u="none" cap="none" strike="noStrike"/>
                        <a:t>PT clinic software is a mission-critical system of record embedded in Medicare billing workflows (8-minute rule, MIPS, therapy caps, KX modifier). Documentation is regulatory, not optional. Switching costs are high because clinician training is long and state-licensure defensible notes are vendor-coupled. G&amp;B wedge: pelvic health, women's health, and pediatric specialty clinics are under-served by horizontal incumbents and align with G&amp;B's nonprofit credibility in women's health.</a:t>
                      </a:r>
                      <a:endParaRPr sz="1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Macro Trends &amp; Growth Drivers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Risks &amp; Concerns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18400">
                <a:tc>
                  <a:txBody>
                    <a:bodyPr/>
                    <a:lstStyle/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Medicare billing complexity deepens (new codes, therapy caps) | MIPS quality reporting drives documentation features | Aging population + surgical recovery demand expansion | Employer musculoskeletal benefits expansion (Hinge Health, Sword) drives referral volume to PT | Private equity roll-ups of PT clinics drive enterprise software demand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WebPT + Net Health duopoly squeezes mid-market vendors | Medicare conversion factor cuts compress clinic margins, pressures software budgets | AI-native documentation tools pressure seat-based pricing | Labor shortage of PT clinicians caps customer growth | Reimbursement moving to value-based, may commoditize clinical docs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Economics &amp; Pricing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Competitive Landscape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33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Typical pricing $59-$149 per clinician per month. Gross margins 75-85%. EBITDA margins 20-35% at scale. 90%+ gross revenue retention. Net revenue retention 105-115% via provider adds and module cross-sell (HEP, scheduling, patient engagement, analytics).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cap="none" strike="noStrike"/>
                        <a:t>Two PE-backed enterprise incumbents (WebPT, Net Health/ReDoc) hold ~40-50% combined share. Mid-market: Raintree (PE-backed), Prompt, Clinicient, TheraOffice. Specialty-fit vendors for women's health / pelvic: smaller universe including Systems4PT, JaneApp, niche pelvic health documentation tools. Long tail of 20+ sub-scale vendors.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4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Customers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Barriers to Entry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/>
                        <a:t>Independent PT/OT clinic owners, 1-10 locations. Typical clinic 2-8 clinicians. Outpatient orthopedic + sports + specialty (pelvic, neuro, pediatric). Multi-site regional groups are a secondary segment, often PE-owned and consolidating.</a:t>
                      </a:r>
                      <a:endParaRPr sz="10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/>
                        <a:t>Medicare billing integration + certified documentation templates | State PT licensure variation | Clinician muscle memory and training cost | HIPAA + HITRUST compliance | Integration with clearinghouses (Availity, Change Healthcare) and outcomes registries | Specialty-workflow depth (pelvic health intake, pediatric ADL tracking) for niche segments</a:t>
                      </a:r>
                      <a:endParaRPr sz="10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4397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Key Success Factors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381225"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/>
                        <a:t>Deep specialty workflow fit (pelvic, pediatric, women's health) | Clinician-led GTM credibility | Billing reliability and reimbursement optimization | Professional services around MIPS and PT-QCDR | Women's health nonprofit credibility opens G&amp;B access to specialty networks not reached by horizontal vendors</a:t>
                      </a:r>
                      <a:endParaRPr sz="10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/>
                        <a:t>Cross-sell: scheduling, patient engagement, telehealth, HEP libraries, outcomes analytics | Ancillary revenue: merchant processing, benefits verification, patient financing | Rollup of sub-scale specialty vendors into a women-led-specialty platform | Data moat from longitudinal PT outcomes for payer negotiation</a:t>
                      </a:r>
                      <a:endParaRPr sz="10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778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Exit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127000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5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Strategic acquirers: WebPT, Net Health, Raintree for platform consolidation; larger healthcare IT strategics (Netsmart, Greenway) for adjacency. PE exits: specialty healthcare IT sponsors (Thoma Bravo, Vista Equity Partners vertical SaaS funds, Serent Capital, Frontier Growth). Typical exit multiples 10-16x EBITDA for sub-scale platforms, 16-22x for specialty-defensible assets with &gt;95% GRR.</a:t>
                      </a:r>
                      <a:endParaRPr sz="1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</a:tbl>
          </a:graphicData>
        </a:graphic>
      </p:graphicFrame>
      <p:pic>
        <p:nvPicPr>
          <p:cNvPr descr="A black background with a black square&#10;&#10;AI-generated content may be incorrect.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458" y="-6321"/>
            <a:ext cx="678789" cy="678789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 rot="-5400000">
            <a:off x="5657855" y="7901444"/>
            <a:ext cx="226966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Strictly Confidential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-4415050" y="3444575"/>
            <a:ext cx="3522600" cy="1473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</a:rPr>
              <a:t>Why is PE not involved yet?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</a:rPr>
              <a:t>Is it hard to roll up?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</a:rPr>
              <a:t>Is it the economics?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</a:rPr>
              <a:t>Is it too customized?</a:t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2025-07-18T20:10:07Z</dcterms:created>
  <dc:creator>Jonathan Zylberberg</dc:creator>
</cp:coreProperties>
</file>