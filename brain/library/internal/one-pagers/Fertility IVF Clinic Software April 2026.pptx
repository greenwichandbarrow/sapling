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</p:sldIdLst>
  <p:sldSz cy="9144000" cx="6858000"/>
  <p:notesSz cx="6858000" cy="9144000"/>
  <p:embeddedFontLst>
    <p:embeddedFont>
      <p:font typeface="Play"/>
      <p:regular r:id="rId8"/>
      <p:bold r:id="rId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GoogleSlidesCustomDataVersion2">
      <go:slidesCustomData xmlns:go="http://customooxmlschemas.google.com/" r:id="rId10" roundtripDataSignature="AMtx7mhcjH5U044/we/MAG3n+VSwUf8xx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0F6FF0B-5A19-4756-B371-CDEA78D29C38}">
  <a:tblStyle styleId="{60F6FF0B-5A19-4756-B371-CDEA78D29C38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fill>
          <a:solidFill>
            <a:srgbClr val="CAD1D8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AD1D8"/>
          </a:solidFill>
        </a:fill>
      </a:tcStyle>
    </a:band1V>
    <a:band2V>
      <a:tcTxStyle b="off" i="off"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font" Target="fonts/Play-regular.fntdata"/><Relationship Id="rId9" Type="http://schemas.openxmlformats.org/officeDocument/2006/relationships/font" Target="fonts/Play-bold.fntdata"/><Relationship Id="rId10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2271713" y="1143000"/>
            <a:ext cx="2314575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4:notes"/>
          <p:cNvSpPr/>
          <p:nvPr>
            <p:ph idx="2" type="sldImg"/>
          </p:nvPr>
        </p:nvSpPr>
        <p:spPr>
          <a:xfrm>
            <a:off x="2271713" y="1143000"/>
            <a:ext cx="2314575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33% of people have set up</a:t>
            </a:r>
            <a:endParaRPr/>
          </a:p>
        </p:txBody>
      </p:sp>
      <p:sp>
        <p:nvSpPr>
          <p:cNvPr id="87" name="Google Shape;87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514350" y="1496484"/>
            <a:ext cx="5829300" cy="318346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857250" y="4802717"/>
            <a:ext cx="5143500" cy="22076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467916" y="2279653"/>
            <a:ext cx="5915025" cy="380364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467916" y="6119286"/>
            <a:ext cx="5915025" cy="20002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71488" y="2434167"/>
            <a:ext cx="2914650" cy="5801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3471863" y="2434167"/>
            <a:ext cx="2914650" cy="5801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72381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72381" y="2241551"/>
            <a:ext cx="2901255" cy="109854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72381" y="3340100"/>
            <a:ext cx="2901255" cy="4912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3471863" y="2241551"/>
            <a:ext cx="2915543" cy="109854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3471863" y="3340100"/>
            <a:ext cx="2915543" cy="4912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9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>
            <p:ph type="title"/>
          </p:nvPr>
        </p:nvSpPr>
        <p:spPr>
          <a:xfrm>
            <a:off x="472381" y="609600"/>
            <a:ext cx="2211884" cy="213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2915543" y="1316569"/>
            <a:ext cx="3471863" cy="64981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61" name="Google Shape;61;p10"/>
          <p:cNvSpPr txBox="1"/>
          <p:nvPr>
            <p:ph idx="2" type="body"/>
          </p:nvPr>
        </p:nvSpPr>
        <p:spPr>
          <a:xfrm>
            <a:off x="472381" y="2743200"/>
            <a:ext cx="2211884" cy="508211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2" name="Google Shape;62;p10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0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/>
          <p:nvPr>
            <p:ph type="title"/>
          </p:nvPr>
        </p:nvSpPr>
        <p:spPr>
          <a:xfrm>
            <a:off x="472381" y="609600"/>
            <a:ext cx="2211884" cy="213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/>
          <p:nvPr>
            <p:ph idx="2" type="pic"/>
          </p:nvPr>
        </p:nvSpPr>
        <p:spPr>
          <a:xfrm>
            <a:off x="2915543" y="1316569"/>
            <a:ext cx="3471863" cy="6498167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/>
          <p:nvPr>
            <p:ph idx="1" type="body"/>
          </p:nvPr>
        </p:nvSpPr>
        <p:spPr>
          <a:xfrm>
            <a:off x="472381" y="2743200"/>
            <a:ext cx="2211884" cy="508211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9" name="Google Shape;69;p11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/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2"/>
          <p:cNvSpPr txBox="1"/>
          <p:nvPr>
            <p:ph idx="1" type="body"/>
          </p:nvPr>
        </p:nvSpPr>
        <p:spPr>
          <a:xfrm rot="5400000">
            <a:off x="528108" y="2377546"/>
            <a:ext cx="5801784" cy="5915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2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/>
          <p:nvPr>
            <p:ph type="title"/>
          </p:nvPr>
        </p:nvSpPr>
        <p:spPr>
          <a:xfrm rot="5400000">
            <a:off x="1772577" y="3622015"/>
            <a:ext cx="7749117" cy="14787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3"/>
          <p:cNvSpPr txBox="1"/>
          <p:nvPr>
            <p:ph idx="1" type="body"/>
          </p:nvPr>
        </p:nvSpPr>
        <p:spPr>
          <a:xfrm rot="5400000">
            <a:off x="-1227798" y="2186121"/>
            <a:ext cx="7749117" cy="43505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3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3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2"/>
          <p:cNvSpPr txBox="1"/>
          <p:nvPr>
            <p:ph idx="1" type="body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" name="Google Shape;89;p14"/>
          <p:cNvCxnSpPr/>
          <p:nvPr/>
        </p:nvCxnSpPr>
        <p:spPr>
          <a:xfrm>
            <a:off x="1187927" y="1227990"/>
            <a:ext cx="5359400" cy="0"/>
          </a:xfrm>
          <a:prstGeom prst="straightConnector1">
            <a:avLst/>
          </a:prstGeom>
          <a:noFill/>
          <a:ln cap="flat" cmpd="sng" w="9525">
            <a:solidFill>
              <a:srgbClr val="C49B77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90" name="Google Shape;90;p14"/>
          <p:cNvCxnSpPr/>
          <p:nvPr/>
        </p:nvCxnSpPr>
        <p:spPr>
          <a:xfrm>
            <a:off x="0" y="1841725"/>
            <a:ext cx="6858000" cy="0"/>
          </a:xfrm>
          <a:prstGeom prst="straightConnector1">
            <a:avLst/>
          </a:prstGeom>
          <a:noFill/>
          <a:ln cap="flat" cmpd="sng" w="9525">
            <a:solidFill>
              <a:srgbClr val="C49B77"/>
            </a:solidFill>
            <a:prstDash val="solid"/>
            <a:miter lim="800000"/>
            <a:headEnd len="sm" w="sm" type="none"/>
            <a:tailEnd len="sm" w="sm" type="none"/>
          </a:ln>
        </p:spPr>
      </p:cxnSp>
      <p:graphicFrame>
        <p:nvGraphicFramePr>
          <p:cNvPr id="91" name="Google Shape;91;p14"/>
          <p:cNvGraphicFramePr/>
          <p:nvPr/>
        </p:nvGraphicFramePr>
        <p:xfrm>
          <a:off x="107880" y="14924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{60F6FF0B-5A19-4756-B371-CDEA78D29C38}</a:tableStyleId>
              </a:tblPr>
              <a:tblGrid>
                <a:gridCol w="3298375"/>
                <a:gridCol w="3298375"/>
              </a:tblGrid>
              <a:tr h="347750"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u="none" cap="none" strike="noStrike">
                          <a:solidFill>
                            <a:srgbClr val="000000"/>
                          </a:solidFill>
                        </a:rPr>
                        <a:t>Fertility / IVF Clinic Software | April 2026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2991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Pending Scoring</a:t>
                      </a:r>
                      <a:r>
                        <a:rPr b="1" lang="en-US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b="1" lang="en-US" sz="1400" u="none" cap="none" strike="noStrike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b="1" lang="en-US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b="1" lang="en-US" sz="1400" u="none" cap="none" strike="noStrike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b="1" lang="en-US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b="1" lang="en-US" sz="1400" u="none" cap="none" strike="noStrike">
                          <a:highlight>
                            <a:srgbClr val="FFFF00"/>
                          </a:highlight>
                        </a:rPr>
                        <a:t/>
                      </a:r>
                      <a:endParaRPr sz="1400" u="none" cap="none" strike="noStrike">
                        <a:highlight>
                          <a:srgbClr val="FFFF00"/>
                        </a:highlight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Status: Under Review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99125"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Industry Overview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277125"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000"/>
                        <a:t>Specialty EHR and practice management software purpose-built for fertility clinics (IVF, IUI, egg freezing, embryo banking). Handles cycle tracking across stimulation, retrieval, and transfer; embryology lab chain-of-custody; andrology specimen tracking; SART/CDC reporting; and mixed payor workflows (cash pay, employer fertility benefits, commercial insurance). Small vendor universe of roughly 10 to 15 meaningful players: eIVF (Practice Highway), Artisan Fertility EMR, BabySentry, MedITEX, Meditab FertilityEHR, EMR Bear, ModMed Fertility, LifeLinkr. US fertility clinic universe is approximately 500 REI practices operating 500 to 550 centers. B2B2C: clinic is buyer; patient and embryologist are end users. Adjacent integrations: EngagedMD (patient education and consent), Salve, Rectangle Health, Tosoh, Fulgent.</a:t>
                      </a:r>
                      <a:endParaRPr sz="1000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177800"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Industry Thesis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385575"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000" u="none" cap="none" strike="noStrike"/>
                        <a:t>Specialty EHR sits inside an embryology lab workflow that general-purpose EHRs cannot safely replicate: cryopreservation chain-of-custody, witness verification, double-ID protocols, and SART reporting are lab-grade software, not physician documentation. That requirement creates a narrow vendor pool and punishing switching costs. Ripping out the EMR mid-cycle risks specimen misidentification, so clinics replatform once a decade. The resulting installed base is sticky, recurring, and sold into a clinic segment that is itself consolidating under PE (IVI RMA, Inception, US Fertility, Kindbody). Multi-site operators want one enterprise-grade platform across acquired clinics, concentrating demand on a shrinking set of qualified vendors.</a:t>
                      </a:r>
                      <a:r>
                        <a:rPr lang="en-US" sz="1000" u="none" cap="none" strike="noStrike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lang="en-US" sz="1000" u="none" cap="none" strike="noStrike"/>
                        <a:t/>
                      </a:r>
                      <a:r>
                        <a:rPr lang="en-US" sz="1000"/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  <a:extLst>
                            <a:ext uri="http://customooxmlschemas.google.com/">
                              <go:slidesCustomData xmlns:go="http://customooxmlschemas.google.com/" textRoundtripDataId="0"/>
                            </a:ext>
                          </a:extLst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  <a:extLst>
                            <a:ext uri="http://customooxmlschemas.google.com/">
                              <go:slidesCustomData xmlns:go="http://customooxmlschemas.google.com/" textRoundtripDataId="1"/>
                            </a:ext>
                          </a:extLst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  <a:extLst>
                            <a:ext uri="http://customooxmlschemas.google.com/">
                              <go:slidesCustomData xmlns:go="http://customooxmlschemas.google.com/" textRoundtripDataId="2"/>
                            </a:ext>
                          </a:extLst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1778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Macro Trends &amp; Growth Drivers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Risks &amp; Concerns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618400">
                <a:tc>
                  <a:txBody>
                    <a:bodyPr/>
                    <a:lstStyle/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US fertility benefits coverage accelerating: IVF coverage among large employers rose from 27% (2020) to 36%+ and over 47% at 5,000+ employee firms. Fertility treatment market projected around $41B by 2026. State mandates expanding (20+ states with some IVF coverage requirement). Progyny, Maven, Carrot, and Kindbody drive employer-funded cycle volume, requiring clinics to handle complex multi-payor billing. PE rollups of clinics (KKR/IVI RMA, L Catterton/US Fertility $1.7B injection 2025, Inception, Pinnacle) create multi-site buyers wanting enterprise EHR. AI lab automation (time-lapse imaging, embryo grading) is driving integrations. SART/CDC reporting rules tightening; automation is table stakes.</a:t>
                      </a: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Progyny, Maven, and Kindbody vertical integration risk: benefits platforms building or acquiring their own clinic tech could disintermediate independent EHR vendors. Clinic-rollup consolidation cuts both ways; acquirers often standardize on one platform, creating winner-take-most dynamic among vendors. Kindbody operates its own clinic stack. Epic and athenahealth encroachment on larger multi-specialty health systems absorbing fertility practices. AI-native entrants (embryo scoring, cycle prediction) could leapfrog legacy vendors. Regulatory overhang post-Alabama embryo personhood ruling; state-level restrictions could shrink addressable clinics. Small TAM (~500 clinics) caps scale.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Economics &amp; Pricing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Competitive Landscape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033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SaaS gross margins: 70 to 85%. Mature EBITDA margins: 25 to 40%. Pricing: per-provider per month ($200 to $500) plus per-cycle fees ($20 to $75/cycle); cycle-based pricing aligns vendor revenue to clinic volume growth. Implementation fees: $25K to $150K depending on clinic size and embryology modules. Revenue per clinic: ~$30K to $200K ARR (single-site REI) up to $500K to $2M+ (multi-site networks). US fertility EHR software market approximately $188M (2025) growing to ~$215M (2030) at 2.7% CAGR; broader IVF software TAM approximately $1.5B (2024) projected to $3.2B (2033) at 9.2% CAGR. Net revenue retention is high (100 to 115%), driven by cycle volume growth and module upsell (embryology, andrology, patient portal, analytics).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000" u="none" cap="none" strike="noStrike"/>
                        <a:t>Specialty leaders: eIVF / Practice Highway (largest US footprint, embedded EngagedMD integration), Artisan Fertility EMR (growing single-platform clinic tool), BabySentry (global, lab-centric, since 2000), MedITEX IVF (European, with US presence). Multi-specialty encroachment: ModMed Fertility (RCM-integrated, targets enterprise networks), Meditab FertilityEHR, Pabau (multi-specialty). Budget tier: EMR Bear (small practices). No single platform dominates. Consolidation underway: FertilityTech acquired EmbryoData; GlobalHealth IT merged with ReproSoft. EngagedMD operates as a patient-engagement layer, not full EMR; partners rather than competes.</a:t>
                      </a:r>
                      <a:r>
                        <a:rPr lang="en-US" sz="1000"/>
                        <a:t/>
                      </a:r>
                      <a:endParaRPr sz="10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242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Customers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Barriers to Entry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-1714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/>
                        <a:t>Primary buyer: REI physician-owner or practice administrator at independent fertility clinic (1 to 5 REIs, 1 to 3 sites); approximately 350 to 400 US practices. Secondary buyer: CIO or COO at multi-site networks (IVI RMA 100+ US centers, US Fertility, Inception, Pinnacle, Kindbody). End users: REIs, OB/GYNs, embryologists, andrologists, IVF nurses, financial counselors, patients (portal). Decision driver at small clinic: physician-founder comfort plus embryology lab director veto. At network level: enterprise IT and clinical leadership committee; contracts run 3 to 5 years. Sales cycle: 6 to 12 months for single site, 12 to 18 months for networks. Switching cost is extreme; embryology data migration is regulated (tank-to-tank specimen chain) and mid-cycle replatform risks patient-specimen mismatches.</a:t>
                      </a:r>
                      <a:r>
                        <a:rPr lang="en-US" sz="1000"/>
                        <a:t/>
                      </a:r>
                      <a:r>
                        <a:rPr lang="en-US" sz="1000"/>
                        <a:t/>
                      </a:r>
                      <a:endParaRPr sz="1000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/>
                        <a:t>Embryology lab integration is the moat: witness verification, barcode/RFID specimen tracking, cryo-storage inventory, double-ID protocols, SART/CDC reporting compliance. Requires domain expertise (embryologist co-design) and multi-year clinical validation. FDA/CLIA/CAP regulatory overhead for lab-integrated modules. SART reporting accreditation required for US market credibility. Reference network effects; the REI community is small, tight, and conference-driven (ASRM, PCRS), and vendor reputation circulates fast. Patient portal and consent workflows must integrate with EngagedMD-style vendors. Switching costs protect incumbents but gate new entrants. Capital required to build multi-site and enterprise-grade infrastructure.</a:t>
                      </a:r>
                      <a:endParaRPr sz="1000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43975"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Key Success Factors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381225">
                <a:tc>
                  <a:txBody>
                    <a:bodyPr/>
                    <a:lstStyle/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/>
                        <a:t>Embryology lab fluency: witness-based workflows, specimen chain-of-custody, cryo-inventory, andrology specimen tracking; the table-stakes differentiator against general EHR. SART/CDC reporting automation out of the box. Mixed-payor billing engine supporting cash, employer fertility benefits (Progyny, Maven, Carrot, Kindbody) and commercial insurance with per-cycle bundling. Patient portal and consent integration with EngagedMD or equivalent. Multi-site and enterprise deployment capability for PE-rollup networks. Clinical advisory board with practicing REIs and senior embryologists. Strong reputation in ASRM, PCRS, and SART community; reference selling dominates. Data interoperability (HL7/FHIR) for lab instruments (Tosoh, Hamilton Thorne, time-lapse imaging) and benefits-platform claims feeds.</a:t>
                      </a:r>
                      <a:endParaRPr sz="1000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/>
                        <a:t>Roadmap credibility on AI: embryo scoring, cycle outcome prediction, protocol optimization. Women-led clinical product leadership resonates with REI buyers (field is over 50% female physicians; patient experience is female). Implementation and training bench; clinics cannot tolerate go-live errors during active cycles.</a:t>
                      </a:r>
                      <a:endParaRPr sz="1000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77800"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Exit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127000"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50"/>
                        <a:buFont typeface="Arial"/>
                        <a:buNone/>
                      </a:pPr>
                      <a:r>
                        <a:rPr b="0" i="0" lang="en-US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Healthtech PE platforms: Thoma Bravo, Vista, Francisco Partners, TA Associates, Insight; specialty EHR is a core thesis (MedTech EHR, Greenway, athenahealth-adjacent plays). Strategic acquirers: ModMed (specialty EHR roll-up), athenahealth, NextGen, Veradigm, WellSky. Adjacent strategics: fertility benefits platforms (Progyny, Maven, Kindbody) could vertically integrate. Lab-instrument strategics: Hamilton Thorne, Cooper Surgical (owns fertility consumables and IVF stimulators). Larger healthtech roll-ups absorbing specialty EHRs at 6 to 12x revenue, 20 to 35x EBITDA at scale. Secondary PE exits common (eIVF-type platforms have changed hands). M&amp;A tailwind from clinic-side PE consolidation; enterprise buyers want one EHR across acquired clinics.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b="0" i="0" lang="en-US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b="0" i="0" lang="en-US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</a:tbl>
          </a:graphicData>
        </a:graphic>
      </p:graphicFrame>
      <p:pic>
        <p:nvPicPr>
          <p:cNvPr descr="A black background with a black square&#10;&#10;AI-generated content may be incorrect." id="92" name="Google Shape;9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0458" y="-6321"/>
            <a:ext cx="678789" cy="678789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/>
          <p:cNvSpPr txBox="1"/>
          <p:nvPr/>
        </p:nvSpPr>
        <p:spPr>
          <a:xfrm rot="-5400000">
            <a:off x="5657855" y="7901444"/>
            <a:ext cx="2269666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Strictly Confidential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-4415050" y="3444575"/>
            <a:ext cx="3522600" cy="1473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chemeClr val="dk1"/>
                </a:solidFill>
              </a:rPr>
              <a:t>Why is PE not involved yet?</a:t>
            </a:r>
            <a:endParaRPr sz="2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chemeClr val="dk1"/>
                </a:solidFill>
              </a:rPr>
              <a:t>Is it hard to roll up?</a:t>
            </a:r>
            <a:endParaRPr sz="2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chemeClr val="dk1"/>
                </a:solidFill>
              </a:rPr>
              <a:t>Is it the economics?</a:t>
            </a:r>
            <a:endParaRPr sz="2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chemeClr val="dk1"/>
                </a:solidFill>
              </a:rPr>
              <a:t>Is it too customized?</a:t>
            </a:r>
            <a:endParaRPr sz="2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2025-07-18T20:10:07Z</dcterms:created>
  <dc:creator>Jonathan Zylberberg</dc:creator>
</cp:coreProperties>
</file>