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</p:sldIdLst>
  <p:sldSz cy="9144000" cx="6858000"/>
  <p:notesSz cx="6858000" cy="9144000"/>
  <p:embeddedFontLst>
    <p:embeddedFont>
      <p:font typeface="Play"/>
      <p:regular r:id="rId8"/>
      <p:bold r:id="rId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GoogleSlidesCustomDataVersion2">
      <go:slidesCustomData xmlns:go="http://customooxmlschemas.google.com/" r:id="rId10" roundtripDataSignature="AMtx7mhcjH5U044/we/MAG3n+VSwUf8xx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0F6FF0B-5A19-4756-B371-CDEA78D29C38}">
  <a:tblStyle styleId="{60F6FF0B-5A19-4756-B371-CDEA78D29C38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font" Target="fonts/Play-regular.fntdata"/><Relationship Id="rId9" Type="http://schemas.openxmlformats.org/officeDocument/2006/relationships/font" Target="fonts/Play-bold.fntdata"/><Relationship Id="rId10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675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:notes"/>
          <p:cNvSpPr/>
          <p:nvPr>
            <p:ph idx="2" type="sldImg"/>
          </p:nvPr>
        </p:nvSpPr>
        <p:spPr>
          <a:xfrm>
            <a:off x="2271713" y="1143000"/>
            <a:ext cx="2314575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33% of people have set up</a:t>
            </a:r>
            <a:endParaRPr/>
          </a:p>
        </p:txBody>
      </p:sp>
      <p:sp>
        <p:nvSpPr>
          <p:cNvPr id="87" name="Google Shape;8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514350" y="1496484"/>
            <a:ext cx="5829300" cy="31834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857250" y="4802717"/>
            <a:ext cx="5143500" cy="22076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9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61" name="Google Shape;61;p10"/>
          <p:cNvSpPr txBox="1"/>
          <p:nvPr>
            <p:ph idx="2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2" name="Google Shape;62;p10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0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/>
          <p:nvPr>
            <p:ph idx="2" type="pic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/>
          <p:nvPr>
            <p:ph idx="1" type="body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9" name="Google Shape;69;p11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 rot="5400000">
            <a:off x="528108" y="2377546"/>
            <a:ext cx="5801784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/>
          <p:nvPr>
            <p:ph type="title"/>
          </p:nvPr>
        </p:nvSpPr>
        <p:spPr>
          <a:xfrm rot="5400000">
            <a:off x="1772577" y="3622015"/>
            <a:ext cx="774911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3"/>
          <p:cNvSpPr txBox="1"/>
          <p:nvPr>
            <p:ph idx="1" type="body"/>
          </p:nvPr>
        </p:nvSpPr>
        <p:spPr>
          <a:xfrm rot="5400000">
            <a:off x="-1227798" y="2186121"/>
            <a:ext cx="774911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3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3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1" type="body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0" type="dt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Google Shape;89;p14"/>
          <p:cNvCxnSpPr/>
          <p:nvPr/>
        </p:nvCxnSpPr>
        <p:spPr>
          <a:xfrm>
            <a:off x="1187927" y="1227990"/>
            <a:ext cx="53594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90" name="Google Shape;90;p14"/>
          <p:cNvCxnSpPr/>
          <p:nvPr/>
        </p:nvCxnSpPr>
        <p:spPr>
          <a:xfrm>
            <a:off x="0" y="1841725"/>
            <a:ext cx="6858000" cy="0"/>
          </a:xfrm>
          <a:prstGeom prst="straightConnector1">
            <a:avLst/>
          </a:prstGeom>
          <a:noFill/>
          <a:ln cap="flat" cmpd="sng" w="9525">
            <a:solidFill>
              <a:srgbClr val="C49B77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91" name="Google Shape;91;p14"/>
          <p:cNvGraphicFramePr/>
          <p:nvPr/>
        </p:nvGraphicFramePr>
        <p:xfrm>
          <a:off x="107880" y="1492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{60F6FF0B-5A19-4756-B371-CDEA78D29C38}</a:tableStyleId>
              </a:tblPr>
              <a:tblGrid>
                <a:gridCol w="3298375"/>
                <a:gridCol w="3298375"/>
              </a:tblGrid>
              <a:tr h="34775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en-US" sz="1600" u="none" cap="none" strike="noStrike">
                          <a:solidFill>
                            <a:srgbClr val="000000"/>
                          </a:solidFill>
                        </a:rPr>
                        <a:t>Senior Living &amp; Home Care Operating Software April 2026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2991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/>
                        </a:rPr>
                        <a:t>Assessment: Pending Scoring</a:t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b="1" lang="en-US" sz="14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endParaRPr sz="1400" u="none" cap="none" strike="noStrike">
                        <a:highlight>
                          <a:srgbClr val="FFFF00"/>
                        </a:highlight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/>
                        </a:rPr>
                        <a:t>Status: Weekly Review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9912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Overview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27712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>
                          <a:solidFill/>
                        </a:rPr>
                        <a:t>Facility- and agency-facing operating software for assisted living, skilled nursing, memory care, and home care agencies. Core systems of record handling EHR, care planning, staffing, eMAR, billing, and CMS/state DOH/MDS 3.0 compliance. U.S. long-term care software TAM estimated at $2.4B (2025) growing to $4.1B by 2033 at ~6.9% CAGR; home health software adds another ~$4.5B growing 13% CAGR. Incumbents: PointClickCare (22-26% share, ~$4B valuation, H&amp;F/Dragoneer backed), MatrixCare (ResMed, $750M), Eldermark, Yardi Senior Living, AL Advantage, WellSky (formerly ClearCare), AxisCare, AlayaCare, Axxess, HHAeXchange, Homecare Homebase, Netsmart, Brightree. Customers: ~30K AL communities, ~15K SNFs, ~30K home care agencies; long tail of 10-500 bed operators underserved by enterprise vendors.</a:t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Industry Thesis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5575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/>
                        </a:rPr>
                        <a:t>Mission-critical system of record for facilities operating under CMS, state DOH, and MDS 3.0 regulation. Regulatory moat creates high switching costs (staff retraining, data migration, survey risk during transition). Non-technical end-users (DONs, administrators, caregivers) favor entrenched vendors; replacement cycles run 7-10 years. Recurring per-bed/per-user SaaS pricing yields 70-80% gross margins at scale. Market is bifurcated: top 3-4 vendors own enterprise segment; fragmented long tail of 30+ point solutions serves SMB operators. Favorable vertical SaaS structure. Regulatory complexity deters horizontal entrants, fragmented buyer base preserves pricing power.</a:t>
                      </a:r>
                      <a:r>
                        <a:rPr lang="en-US" sz="1000" u="none" cap="none" strike="noStrike">
                          <a:highlight>
                            <a:srgbClr val="FFFF00"/>
                          </a:highlight>
                        </a:rPr>
                        <a:t/>
                      </a:r>
                      <a:r>
                        <a:rPr lang="en-US" sz="1000" u="none" cap="none" strike="noStrike"/>
                        <a:t/>
                      </a:r>
                      <a:r>
                        <a:rPr lang="en-US" sz="1000"/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0"/>
                            </a:ext>
                          </a:extLst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1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  <a:extLst>
                            <a:ext uri="http://customooxmlschemas.google.com/">
                              <go:slidesCustomData xmlns:go="http://customooxmlschemas.google.com/" textRoundtripDataId="2"/>
                            </a:ext>
                          </a:extLst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Macro Trends &amp; Growth Drivers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Risks &amp; Concerns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618400"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solidFill/>
                          <a:latin typeface="Arial"/>
                          <a:ea typeface="Arial"/>
                          <a:cs typeface="Arial"/>
                          <a:sym typeface="Arial"/>
                        </a:rPr>
                        <a:t>Aging demographics drive 5-6% annual growth in AL/SNF/home care census. CMS push toward value-based care and interoperability (TEFCA, USCDI) forcing software upgrades. State-level EVV mandates for Medicaid home care. Labor shortage accelerating staffing and scheduling software adoption. AI-enabled documentation, fall prediction, and remote monitoring creating upsell vectors. Cloud migration from on-prem still in progress at smaller operators.</a:t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29845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1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 u="none" cap="none" strike="noStrike">
                          <a:solidFill/>
                          <a:latin typeface="Arial"/>
                          <a:ea typeface="Arial"/>
                          <a:cs typeface="Arial"/>
                          <a:sym typeface="Arial"/>
                        </a:rPr>
                        <a:t>PE roll-up of operator customers compressing vendor pricing power at top end. Reimbursement pressure on SNF/home care operators limits tech spend. Incumbent consolidation (PointClickCare, MatrixCare, WellSky) raises bar for new entrants. Integration risk with state Medicaid systems. Labor-driven agency closures shrink installed base in home care. AI disruption risk moderate. Data gravity and regulatory integrations defend core, but documentation workflows exposed.</a:t>
                      </a:r>
                      <a:endParaRPr sz="11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-3048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1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1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Economics &amp; Pricing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/>
                        <a:t>Competitive Landscape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033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/>
                          <a:latin typeface="Arial"/>
                          <a:ea typeface="Arial"/>
                          <a:cs typeface="Arial"/>
                          <a:sym typeface="Arial"/>
                        </a:rPr>
                        <a:t>SaaS: $50-300 per bed per month (facility) or $15-50 per caregiver per month (home care). Implementation fees $5K-$50K. Gross margins 70-80% at scale; EBITDA margins 20-35% for established players, Rule of 40 benchmark. Revenue retention 110%+ via module upsell (eMAR, therapy, billing, analytics). Typical facility spend: $30K-$200K/year. Small vertical players run $5M-$50M ARR; enterprise incumbents $200M-$1B+ ARR.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 u="none" cap="none" strike="noStrike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000" u="none" cap="none" strike="noStrike">
                          <a:solidFill/>
                        </a:rPr>
                        <a:t>Enterprise: PointClickCare, MatrixCare, WellSky dominate AL/SNF. Mid-market: Eldermark, Yardi Senior Living, AL Advantage, ECP. Home care: AxisCare, AlayaCare, Axxess, HHAeXchange, Homecare Homebase, CareSmartz360, Alora, Smartcare. Adjacent: Netsmart (behavioral), Brightree (hospice), Complia Health. Consumer caregiver apps excluded (different customer). Competition intense at enterprise tier, fragmented at SMB tier where acquisition targets live.</a:t>
                      </a:r>
                      <a:r>
                        <a:rPr lang="en-US" sz="1000"/>
                        <a:t/>
                      </a:r>
                      <a:endParaRPr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42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Customers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Barriers to Entry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27000">
                <a:tc>
                  <a:txBody>
                    <a:bodyPr/>
                    <a:lstStyle/>
                    <a:p>
                      <a:pPr indent="-171450" lvl="0" marL="1714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>
                          <a:solidFill/>
                        </a:rPr>
                        <a:t>Assisted living communities (30-200 beds), skilled nursing facilities (50-250 beds), memory care operators, non-medical home care agencies (10-500 caregivers), hospice and home health agencies. Buyers: owner/operators, DONs, executive directors, administrators. Decision cycles 3-9 months. Sticky once installed, 7-10 year tenure typical. Replacement triggers: survey failure, M&amp;A integration, EHR-billing disconnect, regulatory deadline.</a:t>
                      </a:r>
                      <a:r>
                        <a:rPr lang="en-US" sz="1000"/>
                        <a:t/>
                      </a:r>
                      <a:r>
                        <a:rPr lang="en-US" sz="1000"/>
                        <a:t/>
                      </a:r>
                      <a:endParaRPr sz="1000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>
                          <a:solidFill/>
                        </a:rPr>
                        <a:t>CMS/state DOH compliance depth. MDS 3.0, OASIS, PDPM, PDGM coding logic. Interoperability integrations (pharmacy, labs, Medicaid portals, TEFCA). eMAR workflow nuance. State-by-state EVV certifications. Reference accounts and surveyor familiarity. Regulatory update treadmill (quarterly CMS changes). Data migration defensibility. Long sales cycles and brand trust with risk-averse operators.</a:t>
                      </a:r>
                      <a:endParaRPr sz="1000"/>
                    </a:p>
                    <a:p>
                      <a:pPr indent="-2730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000"/>
                        <a:buChar char="•"/>
                      </a:pPr>
                      <a:r>
                        <a:rPr lang="en-US" sz="1000"/>
                        <a:t/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/>
                      </a:r>
                      <a:endParaRPr sz="10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b="0" lang="en-US" sz="1000" u="none" cap="none" strike="noStrike"/>
                        <a:t/>
                      </a:r>
                      <a:endParaRPr b="0" sz="10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43975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Key Success Factors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381225"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>
                          <a:solidFill/>
                        </a:rPr>
                        <a:t>Regulatory fluency (CMS, state DOH, MDS/OASIS). Clinical domain expertise in staff. Reliable implementation and white-glove onboarding for non-technical users. Uptime and survey-readiness reporting. Module breadth (EHR + eMAR + billing + scheduling). Integration ecosystem with pharmacy, Medicaid, and RCM partners. Responsive regulatory update cadence.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/>
                        <a:t/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>
                          <a:solidFill/>
                        </a:rPr>
                        <a:t>Customer success org that retains risk-averse operators. Inside sales motion for SMB segment. Data defensibility through deep facility integrations. Cross-sell into adjacent modules (analytics, payments, staffing). M&amp;A of point solutions to round out suite. Women-led clinical sector fit for G&amp;B: nursing leadership and women health nonprofit credibility with DON/administrator buyer persona.</a:t>
                      </a:r>
                      <a:endParaRPr sz="1000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/>
                      </a:r>
                      <a:endParaRPr sz="1400" u="none" cap="none" strike="noStrike"/>
                    </a:p>
                    <a:p>
                      <a:pPr indent="-285750" lvl="0" marL="28575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Char char="•"/>
                      </a:pPr>
                      <a:r>
                        <a:rPr lang="en-US" sz="1000" u="none" cap="none" strike="noStrike"/>
                        <a:t/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177800"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US" sz="14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Exit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  <a:tr h="127000"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50"/>
                        <a:buFont typeface="Arial"/>
                        <a:buNone/>
                      </a:pP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Strategic acquirers: PointClickCare, MatrixCare/ResMed, WellSky, Netsmart, Yardi, Brightree, Oracle Health. PE: Hellman &amp; Friedman, Dragoneer, Vista, Thoma Bravo, Francisco Partners, TA Associates, General Atlantic, Serent Capital. Vertical SaaS multiples 4-7x ARR for sub-scale assets, 8-12x+ for category leaders. Precedent: MatrixCare $750M to ResMed; PointClickCare $4B minority round; Collective Medical $650M to PCC.</a:t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lang="en-US" sz="1000"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r>
                        <a:rPr b="0" i="0" lang="en-US" sz="10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/>
                      </a:r>
                      <a:endParaRPr sz="1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 hMerge="1"/>
              </a:tr>
            </a:tbl>
          </a:graphicData>
        </a:graphic>
      </p:graphicFrame>
      <p:pic>
        <p:nvPicPr>
          <p:cNvPr descr="A black background with a black square&#10;&#10;AI-generated content may be incorrect." id="92" name="Google Shape;9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0458" y="-6321"/>
            <a:ext cx="678789" cy="67878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4"/>
          <p:cNvSpPr txBox="1"/>
          <p:nvPr/>
        </p:nvSpPr>
        <p:spPr>
          <a:xfrm rot="-5400000">
            <a:off x="5657855" y="7901444"/>
            <a:ext cx="226966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Strictly Confidential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-4415050" y="3444575"/>
            <a:ext cx="3522600" cy="1473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Why is PE not involved yet?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hard to roll up?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the economics?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chemeClr val="dk1"/>
                </a:solidFill>
              </a:rPr>
              <a:t>Is it too customized?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2025-07-18T20:10:07Z</dcterms:created>
  <dc:creator>Jonathan Zylberberg</dc:creator>
</cp:coreProperties>
</file>