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Senior Living &amp; Home Care Operating Software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/>
                        </a:rPr>
                        <a:t>Assessment: 2.24 / 3.0 (75%)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/>
                        </a:rPr>
                        <a:t>Status: Weekly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/>
                        </a:rPr>
                        <a:t>Facility- and agency-facing operating software for assisted living, skilled nursing, memory care, and home care agencies. Core systems of record handling EHR, care planning, staffing, eMAR, billing, and CMS/state DOH/MDS 3.0 compliance. U.S. long-term care software TAM estimated at $2.4B (2025) growing to $4.1B by 2033 at ~6.9% CAGR; home health software adds another ~$4.5B growing 13% CAGR. Incumbents: PointClickCare (22-26% share, ~$4B valuation, H&amp;F/Dragoneer backed), MatrixCare (ResMed, $750M), Eldermark, Yardi Senior Living, AL Advantage, WellSky (formerly ClearCare), AxisCare, AlayaCare, Axxess, HHAeXchange, Homecare Homebase, Netsmart, Brightree. Customers: ~30K AL communities, ~15K SNFs, ~30K home care agencies; long tail of 10-500 bed operators underserved by enterprise vendors.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/>
                        </a:rPr>
                        <a:t>Mission-critical system of record for facilities operating under CMS, state DOH, and MDS 3.0 regulation. Regulatory moat creates high switching costs (staff retraining, data migration, survey risk during transition). Non-technical end-users (DONs, administrators, caregivers) favor entrenched vendors; replacement cycles run 7-10 years. Recurring per-bed/per-user SaaS pricing yields 70-80% gross margins at scale. Market is bifurcated: top 3-4 vendors own enterprise segment; fragmented long tail of 30+ point solutions serves SMB operators. Favorable vertical SaaS structure. Regulatory complexity deters horizontal entrants, fragmented buyer base preserves pricing power.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solidFill/>
                          <a:latin typeface="Arial"/>
                          <a:ea typeface="Arial"/>
                          <a:cs typeface="Arial"/>
                          <a:sym typeface="Arial"/>
                        </a:rPr>
                        <a:t>Aging demographics drive 5-6% annual growth in AL/SNF/home care census. CMS push toward value-based care and interoperability (TEFCA, USCDI) forcing software upgrades. State-level EVV mandates for Medicaid home care. Labor shortage accelerating staffing and scheduling software adoption. AI-enabled documentation, fall prediction, and remote monitoring creating upsell vectors. Cloud migration from on-prem still in progress at smaller operators.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solidFill/>
                          <a:latin typeface="Arial"/>
                          <a:ea typeface="Arial"/>
                          <a:cs typeface="Arial"/>
                          <a:sym typeface="Arial"/>
                        </a:rPr>
                        <a:t>PE roll-up of operator customers compressing vendor pricing power at top end. Reimbursement pressure on SNF/home care operators limits tech spend. Incumbent consolidation (PointClickCare, MatrixCare, WellSky) raises bar for new entrants. Integration risk with state Medicaid systems. Labor-driven agency closures shrink installed base in home care. AI disruption risk moderate. Data gravity and regulatory integrations defend core, but documentation workflows exposed.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/>
                          <a:latin typeface="Arial"/>
                          <a:ea typeface="Arial"/>
                          <a:cs typeface="Arial"/>
                          <a:sym typeface="Arial"/>
                        </a:rPr>
                        <a:t>SaaS: $50-300 per bed per month (facility) or $15-50 per caregiver per month (home care). Implementation fees $5K-$50K. Gross margins 70-80% at scale; EBITDA margins 20-35% for established players, Rule of 40 benchmark. Revenue retention 110%+ via module upsell (eMAR, therapy, billing, analytics). Typical facility spend: $30K-$200K/year. Small vertical players run $5M-$50M ARR; enterprise incumbents $200M-$1B+ ARR.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/>
                        </a:rPr>
                        <a:t>Enterprise: PointClickCare, MatrixCare, WellSky dominate AL/SNF. Mid-market: Eldermark, Yardi Senior Living, AL Advantage, ECP. Home care: AxisCare, AlayaCare, Axxess, HHAeXchange, Homecare Homebase, CareSmartz360, Alora, Smartcare. Adjacent: Netsmart (behavioral), Brightree (hospice), Complia Health. Consumer caregiver apps excluded (different customer). Competition intense at enterprise tier, fragmented at SMB tier where acquisition targets live.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/>
                        </a:rPr>
                        <a:t>Assisted living communities (30-200 beds), skilled nursing facilities (50-250 beds), memory care operators, non-medical home care agencies (10-500 caregivers), hospice and home health agencies. Buyers: owner/operators, DONs, executive directors, administrators. Decision cycles 3-9 months. Sticky once installed, 7-10 year tenure typical. Replacement triggers: survey failure, M&amp;A integration, EHR-billing disconnect, regulatory deadline.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/>
                        </a:rPr>
                        <a:t>CMS/state DOH compliance depth. MDS 3.0, OASIS, PDPM, PDGM coding logic. Interoperability integrations (pharmacy, labs, Medicaid portals, TEFCA). eMAR workflow nuance. State-by-state EVV certifications. Reference accounts and surveyor familiarity. Regulatory update treadmill (quarterly CMS changes). Data migration defensibility. Long sales cycles and brand trust with risk-averse operators.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000" u="none" cap="none" strike="noStrike"/>
                        <a:t/>
                      </a:r>
                      <a:endParaRPr b="0"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/>
                        </a:rPr>
                        <a:t>Regulatory fluency (CMS, state DOH, MDS/OASIS). Clinical domain expertise in staff. Reliable implementation and white-glove onboarding for non-technical users. Uptime and survey-readiness reporting. Module breadth (EHR + eMAR + billing + scheduling). Integration ecosystem with pharmacy, Medicaid, and RCM partners. Responsive regulatory update cadence.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/>
                        </a:rPr>
                        <a:t>Customer success org that retains risk-averse operators. Inside sales motion for SMB segment. Data defensibility through deep facility integrations. Cross-sell into adjacent modules (analytics, payments, staffing). M&amp;A of point solutions to round out suite. Women-led clinical sector fit for G&amp;B: nursing leadership and women health nonprofit credibility with DON/administrator buyer persona.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/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acquirers: PointClickCare, MatrixCare/ResMed, WellSky, Netsmart, Yardi, Brightree, Oracle Health. PE: Hellman &amp; Friedman, Dragoneer, Vista, Thoma Bravo, Francisco Partners, TA Associates, General Atlantic, Serent Capital. Vertical SaaS multiples 4-7x ARR for sub-scale assets, 8-12x+ for category leaders. Precedent: MatrixCare $750M to ResMed; PointClickCare $4B minority round; Collective Medical $650M to PCC.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