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Lst>
  <p:sldSz cy="9144000" cx="6858000"/>
  <p:notesSz cx="6858000" cy="9144000"/>
  <p:embeddedFontLst>
    <p:embeddedFont>
      <p:font typeface="Play"/>
      <p:regular r:id="rId8"/>
      <p:bold r:id="rId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0" roundtripDataSignature="AMtx7mhcjH5U044/we/MAG3n+VSwUf8x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F6FF0B-5A19-4756-B371-CDEA78D29C38}">
  <a:tblStyle styleId="{60F6FF0B-5A19-4756-B371-CDEA78D29C38}"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b="off" i="off"/>
      <a:tcStyle>
        <a:fill>
          <a:solidFill>
            <a:srgbClr val="CAD1D8"/>
          </a:solidFill>
        </a:fill>
      </a:tcStyle>
    </a:band1H>
    <a:band2H>
      <a:tcTxStyle b="off" i="off"/>
    </a:band2H>
    <a:band1V>
      <a:tcTxStyle b="off" i="off"/>
      <a:tcStyle>
        <a:fill>
          <a:solidFill>
            <a:srgbClr val="CAD1D8"/>
          </a:solidFill>
        </a:fill>
      </a:tcStyle>
    </a:band1V>
    <a:band2V>
      <a:tcTxStyle b="off" i="off"/>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Play-regular.fntdata"/><Relationship Id="rId9" Type="http://schemas.openxmlformats.org/officeDocument/2006/relationships/font" Target="fonts/Play-bold.fntdata"/><Relationship Id="rId1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271713" y="1143000"/>
            <a:ext cx="23145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4:notes"/>
          <p:cNvSpPr/>
          <p:nvPr>
            <p:ph idx="2" type="sldImg"/>
          </p:nvPr>
        </p:nvSpPr>
        <p:spPr>
          <a:xfrm>
            <a:off x="2271713" y="1143000"/>
            <a:ext cx="23145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of people have set up</a:t>
            </a:r>
            <a:endParaRPr/>
          </a:p>
        </p:txBody>
      </p:sp>
      <p:sp>
        <p:nvSpPr>
          <p:cNvPr id="87" name="Google Shape;8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514350" y="1496484"/>
            <a:ext cx="5829300" cy="318346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857250" y="4802717"/>
            <a:ext cx="5143500" cy="220768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3"/>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71488" y="2434167"/>
            <a:ext cx="5915025" cy="5801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4"/>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467916" y="2279653"/>
            <a:ext cx="5915025" cy="380364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467916" y="6119286"/>
            <a:ext cx="5915025" cy="200024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757575"/>
              </a:buClr>
              <a:buSzPts val="1800"/>
              <a:buNone/>
              <a:defRPr sz="1800">
                <a:solidFill>
                  <a:srgbClr val="757575"/>
                </a:solidFill>
              </a:defRPr>
            </a:lvl1pPr>
            <a:lvl2pPr indent="-228600" lvl="1" marL="914400" algn="l">
              <a:lnSpc>
                <a:spcPct val="90000"/>
              </a:lnSpc>
              <a:spcBef>
                <a:spcPts val="375"/>
              </a:spcBef>
              <a:spcAft>
                <a:spcPts val="0"/>
              </a:spcAft>
              <a:buClr>
                <a:srgbClr val="757575"/>
              </a:buClr>
              <a:buSzPts val="1500"/>
              <a:buNone/>
              <a:defRPr sz="1500">
                <a:solidFill>
                  <a:srgbClr val="757575"/>
                </a:solidFill>
              </a:defRPr>
            </a:lvl2pPr>
            <a:lvl3pPr indent="-228600" lvl="2" marL="1371600" algn="l">
              <a:lnSpc>
                <a:spcPct val="90000"/>
              </a:lnSpc>
              <a:spcBef>
                <a:spcPts val="375"/>
              </a:spcBef>
              <a:spcAft>
                <a:spcPts val="0"/>
              </a:spcAft>
              <a:buClr>
                <a:srgbClr val="757575"/>
              </a:buClr>
              <a:buSzPts val="1350"/>
              <a:buNone/>
              <a:defRPr sz="1350">
                <a:solidFill>
                  <a:srgbClr val="757575"/>
                </a:solidFill>
              </a:defRPr>
            </a:lvl3pPr>
            <a:lvl4pPr indent="-228600" lvl="3" marL="1828800" algn="l">
              <a:lnSpc>
                <a:spcPct val="90000"/>
              </a:lnSpc>
              <a:spcBef>
                <a:spcPts val="375"/>
              </a:spcBef>
              <a:spcAft>
                <a:spcPts val="0"/>
              </a:spcAft>
              <a:buClr>
                <a:srgbClr val="757575"/>
              </a:buClr>
              <a:buSzPts val="1200"/>
              <a:buNone/>
              <a:defRPr sz="1200">
                <a:solidFill>
                  <a:srgbClr val="757575"/>
                </a:solidFill>
              </a:defRPr>
            </a:lvl4pPr>
            <a:lvl5pPr indent="-228600" lvl="4" marL="2286000" algn="l">
              <a:lnSpc>
                <a:spcPct val="90000"/>
              </a:lnSpc>
              <a:spcBef>
                <a:spcPts val="375"/>
              </a:spcBef>
              <a:spcAft>
                <a:spcPts val="0"/>
              </a:spcAft>
              <a:buClr>
                <a:srgbClr val="757575"/>
              </a:buClr>
              <a:buSzPts val="1200"/>
              <a:buNone/>
              <a:defRPr sz="1200">
                <a:solidFill>
                  <a:srgbClr val="757575"/>
                </a:solidFill>
              </a:defRPr>
            </a:lvl5pPr>
            <a:lvl6pPr indent="-228600" lvl="5" marL="2743200" algn="l">
              <a:lnSpc>
                <a:spcPct val="90000"/>
              </a:lnSpc>
              <a:spcBef>
                <a:spcPts val="375"/>
              </a:spcBef>
              <a:spcAft>
                <a:spcPts val="0"/>
              </a:spcAft>
              <a:buClr>
                <a:srgbClr val="757575"/>
              </a:buClr>
              <a:buSzPts val="1200"/>
              <a:buNone/>
              <a:defRPr sz="1200">
                <a:solidFill>
                  <a:srgbClr val="757575"/>
                </a:solidFill>
              </a:defRPr>
            </a:lvl6pPr>
            <a:lvl7pPr indent="-228600" lvl="6" marL="3200400" algn="l">
              <a:lnSpc>
                <a:spcPct val="90000"/>
              </a:lnSpc>
              <a:spcBef>
                <a:spcPts val="375"/>
              </a:spcBef>
              <a:spcAft>
                <a:spcPts val="0"/>
              </a:spcAft>
              <a:buClr>
                <a:srgbClr val="757575"/>
              </a:buClr>
              <a:buSzPts val="1200"/>
              <a:buNone/>
              <a:defRPr sz="1200">
                <a:solidFill>
                  <a:srgbClr val="757575"/>
                </a:solidFill>
              </a:defRPr>
            </a:lvl7pPr>
            <a:lvl8pPr indent="-228600" lvl="7" marL="3657600" algn="l">
              <a:lnSpc>
                <a:spcPct val="90000"/>
              </a:lnSpc>
              <a:spcBef>
                <a:spcPts val="375"/>
              </a:spcBef>
              <a:spcAft>
                <a:spcPts val="0"/>
              </a:spcAft>
              <a:buClr>
                <a:srgbClr val="757575"/>
              </a:buClr>
              <a:buSzPts val="1200"/>
              <a:buNone/>
              <a:defRPr sz="1200">
                <a:solidFill>
                  <a:srgbClr val="757575"/>
                </a:solidFill>
              </a:defRPr>
            </a:lvl8pPr>
            <a:lvl9pPr indent="-228600" lvl="8" marL="4114800" algn="l">
              <a:lnSpc>
                <a:spcPct val="90000"/>
              </a:lnSpc>
              <a:spcBef>
                <a:spcPts val="375"/>
              </a:spcBef>
              <a:spcAft>
                <a:spcPts val="0"/>
              </a:spcAft>
              <a:buClr>
                <a:srgbClr val="757575"/>
              </a:buClr>
              <a:buSzPts val="1200"/>
              <a:buNone/>
              <a:defRPr sz="1200">
                <a:solidFill>
                  <a:srgbClr val="757575"/>
                </a:solidFill>
              </a:defRPr>
            </a:lvl9pPr>
          </a:lstStyle>
          <a:p/>
        </p:txBody>
      </p:sp>
      <p:sp>
        <p:nvSpPr>
          <p:cNvPr id="30" name="Google Shape;30;p5"/>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71488" y="2434167"/>
            <a:ext cx="2914650" cy="5801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6"/>
          <p:cNvSpPr txBox="1"/>
          <p:nvPr>
            <p:ph idx="2" type="body"/>
          </p:nvPr>
        </p:nvSpPr>
        <p:spPr>
          <a:xfrm>
            <a:off x="3471863" y="2434167"/>
            <a:ext cx="2914650" cy="5801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6"/>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72381"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72381" y="2241551"/>
            <a:ext cx="2901255" cy="10985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3" name="Google Shape;43;p7"/>
          <p:cNvSpPr txBox="1"/>
          <p:nvPr>
            <p:ph idx="2" type="body"/>
          </p:nvPr>
        </p:nvSpPr>
        <p:spPr>
          <a:xfrm>
            <a:off x="472381" y="3340100"/>
            <a:ext cx="2901255" cy="4912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7"/>
          <p:cNvSpPr txBox="1"/>
          <p:nvPr>
            <p:ph idx="3" type="body"/>
          </p:nvPr>
        </p:nvSpPr>
        <p:spPr>
          <a:xfrm>
            <a:off x="3471863" y="2241551"/>
            <a:ext cx="2915543" cy="10985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5" name="Google Shape;45;p7"/>
          <p:cNvSpPr txBox="1"/>
          <p:nvPr>
            <p:ph idx="4" type="body"/>
          </p:nvPr>
        </p:nvSpPr>
        <p:spPr>
          <a:xfrm>
            <a:off x="3471863" y="3340100"/>
            <a:ext cx="2915543" cy="4912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7"/>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9"/>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472381" y="609600"/>
            <a:ext cx="2211884" cy="2133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txBox="1"/>
          <p:nvPr>
            <p:ph idx="1" type="body"/>
          </p:nvPr>
        </p:nvSpPr>
        <p:spPr>
          <a:xfrm>
            <a:off x="2915543" y="1316569"/>
            <a:ext cx="3471863" cy="6498167"/>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10"/>
          <p:cNvSpPr txBox="1"/>
          <p:nvPr>
            <p:ph idx="2" type="body"/>
          </p:nvPr>
        </p:nvSpPr>
        <p:spPr>
          <a:xfrm>
            <a:off x="472381" y="2743200"/>
            <a:ext cx="2211884" cy="50821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10"/>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472381" y="609600"/>
            <a:ext cx="2211884" cy="2133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p:nvPr>
            <p:ph idx="2" type="pic"/>
          </p:nvPr>
        </p:nvSpPr>
        <p:spPr>
          <a:xfrm>
            <a:off x="2915543" y="1316569"/>
            <a:ext cx="3471863" cy="6498167"/>
          </a:xfrm>
          <a:prstGeom prst="rect">
            <a:avLst/>
          </a:prstGeom>
          <a:noFill/>
          <a:ln>
            <a:noFill/>
          </a:ln>
        </p:spPr>
      </p:sp>
      <p:sp>
        <p:nvSpPr>
          <p:cNvPr id="68" name="Google Shape;68;p11"/>
          <p:cNvSpPr txBox="1"/>
          <p:nvPr>
            <p:ph idx="1" type="body"/>
          </p:nvPr>
        </p:nvSpPr>
        <p:spPr>
          <a:xfrm>
            <a:off x="472381" y="2743200"/>
            <a:ext cx="2211884" cy="50821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1"/>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1"/>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2"/>
          <p:cNvSpPr txBox="1"/>
          <p:nvPr>
            <p:ph idx="1" type="body"/>
          </p:nvPr>
        </p:nvSpPr>
        <p:spPr>
          <a:xfrm rot="5400000">
            <a:off x="528108" y="2377546"/>
            <a:ext cx="5801784"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2"/>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2"/>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1772577" y="3622015"/>
            <a:ext cx="774911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3"/>
          <p:cNvSpPr txBox="1"/>
          <p:nvPr>
            <p:ph idx="1" type="body"/>
          </p:nvPr>
        </p:nvSpPr>
        <p:spPr>
          <a:xfrm rot="5400000">
            <a:off x="-1227798" y="2186121"/>
            <a:ext cx="774911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3"/>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3"/>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3"/>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
          <p:cNvSpPr txBox="1"/>
          <p:nvPr>
            <p:ph idx="1" type="body"/>
          </p:nvPr>
        </p:nvSpPr>
        <p:spPr>
          <a:xfrm>
            <a:off x="471488" y="2434167"/>
            <a:ext cx="5915025" cy="580178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2" name="Google Shape;12;p2"/>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cxnSp>
        <p:nvCxnSpPr>
          <p:cNvPr id="89" name="Google Shape;89;p14"/>
          <p:cNvCxnSpPr/>
          <p:nvPr/>
        </p:nvCxnSpPr>
        <p:spPr>
          <a:xfrm>
            <a:off x="1187927" y="1227990"/>
            <a:ext cx="5359400" cy="0"/>
          </a:xfrm>
          <a:prstGeom prst="straightConnector1">
            <a:avLst/>
          </a:prstGeom>
          <a:noFill/>
          <a:ln cap="flat" cmpd="sng" w="9525">
            <a:solidFill>
              <a:srgbClr val="C49B77"/>
            </a:solidFill>
            <a:prstDash val="solid"/>
            <a:miter lim="800000"/>
            <a:headEnd len="sm" w="sm" type="none"/>
            <a:tailEnd len="sm" w="sm" type="none"/>
          </a:ln>
        </p:spPr>
      </p:cxnSp>
      <p:cxnSp>
        <p:nvCxnSpPr>
          <p:cNvPr id="90" name="Google Shape;90;p14"/>
          <p:cNvCxnSpPr/>
          <p:nvPr/>
        </p:nvCxnSpPr>
        <p:spPr>
          <a:xfrm>
            <a:off x="0" y="1841725"/>
            <a:ext cx="6858000" cy="0"/>
          </a:xfrm>
          <a:prstGeom prst="straightConnector1">
            <a:avLst/>
          </a:prstGeom>
          <a:noFill/>
          <a:ln cap="flat" cmpd="sng" w="9525">
            <a:solidFill>
              <a:srgbClr val="C49B77"/>
            </a:solidFill>
            <a:prstDash val="solid"/>
            <a:miter lim="800000"/>
            <a:headEnd len="sm" w="sm" type="none"/>
            <a:tailEnd len="sm" w="sm" type="none"/>
          </a:ln>
        </p:spPr>
      </p:cxnSp>
      <p:graphicFrame>
        <p:nvGraphicFramePr>
          <p:cNvPr id="91" name="Google Shape;91;p14"/>
          <p:cNvGraphicFramePr/>
          <p:nvPr/>
        </p:nvGraphicFramePr>
        <p:xfrm>
          <a:off x="107880" y="149244"/>
          <a:ext cx="3000000" cy="3000000"/>
        </p:xfrm>
        <a:graphic>
          <a:graphicData uri="http://schemas.openxmlformats.org/drawingml/2006/table">
            <a:tbl>
              <a:tblPr bandRow="1" firstRow="1">
                <a:noFill/>
                <a:tableStyleId>{60F6FF0B-5A19-4756-B371-CDEA78D29C38}</a:tableStyleId>
              </a:tblPr>
              <a:tblGrid>
                <a:gridCol w="3298375"/>
                <a:gridCol w="3298375"/>
              </a:tblGrid>
              <a:tr h="347750">
                <a:tc gridSpan="2">
                  <a:txBody>
                    <a:bodyPr/>
                    <a:lstStyle/>
                    <a:p>
                      <a:pPr indent="0" lvl="0" marL="0" marR="0" rtl="0" algn="ctr">
                        <a:lnSpc>
                          <a:spcPct val="100000"/>
                        </a:lnSpc>
                        <a:spcBef>
                          <a:spcPts val="0"/>
                        </a:spcBef>
                        <a:spcAft>
                          <a:spcPts val="0"/>
                        </a:spcAft>
                        <a:buClr>
                          <a:srgbClr val="000000"/>
                        </a:buClr>
                        <a:buSzPts val="1600"/>
                        <a:buFont typeface="Arial"/>
                        <a:buNone/>
                      </a:pPr>
                      <a:r>
                        <a:rPr sz="1600" b="1">
                          <a:solidFill>
                            <a:srgbClr val="000000"/>
                          </a:solidFill>
                        </a:rPr>
                        <a:t>Collection Management Consultants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299125">
                <a:tc>
                  <a:txBody>
                    <a:bodyPr/>
                    <a:lstStyle/>
                    <a:p>
                      <a:pPr indent="0" lvl="0" marL="0" marR="0" rtl="0" algn="ctr">
                        <a:lnSpc>
                          <a:spcPct val="100000"/>
                        </a:lnSpc>
                        <a:spcBef>
                          <a:spcPts val="0"/>
                        </a:spcBef>
                        <a:spcAft>
                          <a:spcPts val="0"/>
                        </a:spcAft>
                        <a:buClr>
                          <a:srgbClr val="000000"/>
                        </a:buClr>
                        <a:buSzPts val="1400"/>
                        <a:buFont typeface="Arial"/>
                        <a:buNone/>
                      </a:pPr>
                      <a:r>
                        <a:rPr sz="700">
                          <a:solidFill>
                            <a:srgbClr val="000000"/>
                          </a:solidFill>
                        </a:rPr>
                        <a:t>Assessment: TABLE</a:t>
                      </a:r>
                      <a:endParaRPr sz="1400" u="none" cap="none" strike="noStrike">
                        <a:highlight>
                          <a:srgbClr val="FFFF00"/>
                        </a:highlight>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sz="700">
                          <a:solidFill>
                            <a:srgbClr val="000000"/>
                          </a:solidFill>
                        </a:rPr>
                        <a:t>Status: Deep research complete, recommend TABLE</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99125">
                <a:tc gridSpan="2">
                  <a:txBody>
                    <a:bodyPr/>
                    <a:lstStyle/>
                    <a:p>
                      <a:pPr indent="0" lvl="0" marL="0" marR="0" rtl="0" algn="ctr">
                        <a:lnSpc>
                          <a:spcPct val="100000"/>
                        </a:lnSpc>
                        <a:spcBef>
                          <a:spcPts val="0"/>
                        </a:spcBef>
                        <a:spcAft>
                          <a:spcPts val="0"/>
                        </a:spcAft>
                        <a:buClr>
                          <a:srgbClr val="000000"/>
                        </a:buClr>
                        <a:buSzPts val="1400"/>
                        <a:buFont typeface="Arial"/>
                        <a:buNone/>
                      </a:pPr>
                      <a:r>
                        <a:rPr sz="800" b="1">
                          <a:solidFill>
                            <a:srgbClr val="000000"/>
                          </a:solidFill>
                        </a:rPr>
                        <a:t>Industry Overview</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277125">
                <a:tc gridSpan="2">
                  <a:txBody>
                    <a:bodyPr/>
                    <a:lstStyle/>
                    <a:p>
                      <a:pPr indent="0" lvl="0" marL="0" marR="0" rtl="0" algn="l">
                        <a:lnSpc>
                          <a:spcPct val="100000"/>
                        </a:lnSpc>
                        <a:spcBef>
                          <a:spcPts val="0"/>
                        </a:spcBef>
                        <a:spcAft>
                          <a:spcPts val="0"/>
                        </a:spcAft>
                        <a:buClr>
                          <a:schemeClr val="dk1"/>
                        </a:buClr>
                        <a:buSzPts val="1200"/>
                        <a:buFont typeface="Arial"/>
                        <a:buNone/>
                      </a:pPr>
                      <a:r>
                        <a:rPr sz="700">
                          <a:solidFill>
                            <a:srgbClr val="000000"/>
                          </a:solidFill>
                        </a:rPr>
                        <a:t>Outsourced museum registrar, inventory, cataloging, condition reporting, and collections care services for institutions and private collectors who lack in-house capacity. Core services: inventory/cataloging ($20K-200K per project), condition reporting, database migration (TMS, PastPerfect, Axiell), policy development per AAM standards, move management ($50K-500K+), digitization, and contract registrar embeds ($40-85/hr).
Market structure splits three ways: (1) Pure consulting firms -- overwhelmingly small (1-50 people), CM rarely the sole service line. HAI (~$15M rev, CM is ~15-20%) and Arts Consulting Group ($2-4M) are multi-service. Pure-play CM firms are micro-businesses (&lt;$1M). (2) Software companies -- already consolidated by PE. Gallery Systems (TMS) owned by Constellation/Volaris since 2012, Axiell (Swedish, 4+ acquisitions). PastPerfect (12K+ museums) and CatalogIt remain independent but small. (3) Hybrids -- Winston Artory Group ($11M, 30 employees) merged appraisal with Web3 provenance tools, but CM is secondary to appraisal.
U.S. consulting TAM: $100-200M (bottom-up from 35K museums, 10-15% outsourcing rate, $20-100K avg engagement). Software TAM: $450-550M but already PE-consolidated. No pure-play CM consulting firm exists in the $2-15M revenue range.</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177800">
                <a:tc gridSpan="2">
                  <a:txBody>
                    <a:bodyPr/>
                    <a:lstStyle/>
                    <a:p>
                      <a:pPr indent="0" lvl="0" marL="0" marR="0" rtl="0" algn="ctr">
                        <a:lnSpc>
                          <a:spcPct val="100000"/>
                        </a:lnSpc>
                        <a:spcBef>
                          <a:spcPts val="0"/>
                        </a:spcBef>
                        <a:spcAft>
                          <a:spcPts val="0"/>
                        </a:spcAft>
                        <a:buClr>
                          <a:srgbClr val="000000"/>
                        </a:buClr>
                        <a:buSzPts val="1400"/>
                        <a:buFont typeface="Arial"/>
                        <a:buNone/>
                      </a:pPr>
                      <a:r>
                        <a:rPr sz="800" b="1">
                          <a:solidFill>
                            <a:srgbClr val="000000"/>
                          </a:solidFill>
                        </a:rPr>
                        <a:t>Industry Thesis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385575">
                <a:tc gridSpan="2">
                  <a:txBody>
                    <a:bodyPr/>
                    <a:lstStyle/>
                    <a:p>
                      <a:pPr indent="0" lvl="0" marL="0" marR="0" rtl="0" algn="l">
                        <a:lnSpc>
                          <a:spcPct val="100000"/>
                        </a:lnSpc>
                        <a:spcBef>
                          <a:spcPts val="0"/>
                        </a:spcBef>
                        <a:spcAft>
                          <a:spcPts val="0"/>
                        </a:spcAft>
                        <a:buClr>
                          <a:schemeClr val="dk1"/>
                        </a:buClr>
                        <a:buSzPts val="1150"/>
                        <a:buFont typeface="Arial"/>
                        <a:buNone/>
                      </a:pPr>
                      <a:r>
                        <a:rPr sz="700">
                          <a:solidFill>
                            <a:srgbClr val="000000"/>
                          </a:solidFill>
                        </a:rPr>
                        <a:t>This niche does not meet G&amp;B's acquisition criteria. The fundamental problem is structural: collection management consulting is a labor market dressed up as a business market. The "firms" are 1-5 person shops built on individual registrars' personal networks. The few firms at scale (HAI at $15M, Winston at $11M) are not CM firms -- they are multi-service firms where CM is 15-20% of revenue. There is no acquirable pure-play CM firm in the $2-15M range.
Margins are mediocre (8-15% EBITDA for well-run firms, 3-8% for staffing-model variants). Revenue is predominantly project-based with weak recurring characteristics. The software segment -- where recurring revenue and margins actually live -- is already locked up by Constellation/Volaris and Axiell. Fragmentation here is a warning sign of a tiny market, not a roll-up opportunity.
If there is conviction around museum/cultural heritage, better targets include: museum exhibition design/fabrication, art logistics, or fine art insurance brokerage (already in G&amp;B pipeline).</a:t>
                      </a:r>
                      <a:endParaRPr sz="1000">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177800">
                <a:tc>
                  <a:txBody>
                    <a:bodyPr/>
                    <a:lstStyle/>
                    <a:p>
                      <a:pPr indent="0" lvl="0" marL="0" marR="0" rtl="0" algn="ctr">
                        <a:lnSpc>
                          <a:spcPct val="100000"/>
                        </a:lnSpc>
                        <a:spcBef>
                          <a:spcPts val="0"/>
                        </a:spcBef>
                        <a:spcAft>
                          <a:spcPts val="0"/>
                        </a:spcAft>
                        <a:buClr>
                          <a:srgbClr val="000000"/>
                        </a:buClr>
                        <a:buSzPts val="1400"/>
                        <a:buFont typeface="Arial"/>
                        <a:buNone/>
                      </a:pPr>
                      <a:r>
                        <a:rPr sz="800" b="1">
                          <a:solidFill>
                            <a:srgbClr val="000000"/>
                          </a:solidFill>
                        </a:rPr>
                        <a:t>Macro Trends &amp; Growth Drivers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sz="800" b="1">
                          <a:solidFill>
                            <a:srgbClr val="000000"/>
                          </a:solidFill>
                        </a:rPr>
                        <a:t>Risks &amp; Concerns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18400">
                <a:tc>
                  <a:txBody>
                    <a:bodyPr/>
                    <a:lstStyle/>
                    <a:p>
                      <a:pPr indent="-304800" lvl="0" marL="457200" marR="0" rtl="0" algn="l">
                        <a:lnSpc>
                          <a:spcPct val="100000"/>
                        </a:lnSpc>
                        <a:spcBef>
                          <a:spcPts val="0"/>
                        </a:spcBef>
                        <a:spcAft>
                          <a:spcPts val="0"/>
                        </a:spcAft>
                        <a:buClr>
                          <a:schemeClr val="dk1"/>
                        </a:buClr>
                        <a:buSzPts val="1200"/>
                        <a:buFont typeface="Arial"/>
                        <a:buChar char="•"/>
                      </a:pPr>
                      <a:r>
                        <a:rPr sz="700">
                          <a:solidFill>
                            <a:srgbClr val="000000"/>
                          </a:solidFill>
                        </a:rPr>
                        <a:t>Museum Staffing Crisis (MODERATE): 51% of museums had trouble filling positions in 2024. 58% planning service cuts 2025/26. 74% of staff report inability to cover cost of living. Creates theoretical outsourcing demand BUT budget pressure means museums that cannot afford a $55K registrar often cannot afford $85/hr consultants either.
Private Collection Growth (MODERATE): $2T+ in art held by ultra-HNW globally. Collector art allocation up to 20% of wealth (from 15%). $80-85T wealth transfer includes ~20% art. But collectors typically hire art advisors (not CM consultants) or use simple software ($6/mo Artwork Archive).
Digitization Mandates (WEAK): IMLS funded $266.7M total grants in 2024. But grant-dependent and currently declining under federal cuts. Cyclical, not structural.
Insurance/Regulatory (WEAK): AAM accreditation requires documentation, but enforced loosely. Drives appraisal demand more than CM demand.</a:t>
                      </a:r>
                      <a:endParaRPr sz="11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304800" lvl="0" marL="457200" marR="0" rtl="0" algn="l">
                        <a:lnSpc>
                          <a:spcPct val="100000"/>
                        </a:lnSpc>
                        <a:spcBef>
                          <a:spcPts val="0"/>
                        </a:spcBef>
                        <a:spcAft>
                          <a:spcPts val="0"/>
                        </a:spcAft>
                        <a:buClr>
                          <a:schemeClr val="dk1"/>
                        </a:buClr>
                        <a:buSzPts val="1200"/>
                        <a:buFont typeface="Arial"/>
                        <a:buChar char="•"/>
                      </a:pPr>
                      <a:r>
                        <a:rPr sz="700">
                          <a:solidFill>
                            <a:srgbClr val="000000"/>
                          </a:solidFill>
                        </a:rPr>
                        <a:t>No Acquirable Firm at Target Size (HIGH): No pure-play CM consulting firm exists at $2-15M revenue. Only multi-service firms where CM is 15-20% of revenue reach that range.
Unscalable People Business (HIGH): Every dollar of revenue requires a warm body with specialized skills. No operating leverage. Revenue disappears when key people leave. Consultants cannot be easily swapped between clients.
Museum Budgets Declining (HIGH): 31% of museums cutting collections care in 2025/26. Federal funding cuts eliminated ~1/3 of federal support. CM consulting is discretionary -- cut before security, education, or exhibitions.
Software Already PE-Consolidated (HIGH): Constellation/Volaris owns Gallery Systems (TMS), Axiell has done 4+ acquisitions. The profit pool with recurring revenue and margins is taken.
AI Disruption (MODERATE): AI cataloging and automated condition reporting are emerging. 5-10 year horizon before meaningful displacement of manual labor.</a:t>
                      </a:r>
                      <a:endParaRPr sz="11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sz="800" b="1">
                          <a:solidFill>
                            <a:srgbClr val="000000"/>
                          </a:solidFill>
                        </a:rPr>
                        <a:t>Economics &amp; Pricing</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sz="800" b="1">
                          <a:solidFill>
                            <a:srgbClr val="000000"/>
                          </a:solidFill>
                        </a:rPr>
                        <a:t>Competitive Landscape</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033250">
                <a:tc>
                  <a:txBody>
                    <a:bodyPr/>
                    <a:lstStyle/>
                    <a:p>
                      <a:pPr indent="0" lvl="0" marL="0" marR="0" rtl="0" algn="l">
                        <a:lnSpc>
                          <a:spcPct val="100000"/>
                        </a:lnSpc>
                        <a:spcBef>
                          <a:spcPts val="0"/>
                        </a:spcBef>
                        <a:spcAft>
                          <a:spcPts val="0"/>
                        </a:spcAft>
                        <a:buClr>
                          <a:schemeClr val="dk1"/>
                        </a:buClr>
                        <a:buSzPts val="1100"/>
                        <a:buFont typeface="Arial"/>
                        <a:buNone/>
                      </a:pPr>
                      <a:r>
                        <a:rPr sz="700">
                          <a:solidFill>
                            <a:srgbClr val="000000"/>
                          </a:solidFill>
                        </a:rPr>
                        <a:t>Revenue model: 60-70% project fees (inventory $20K-200K, moves $50K-500K+, accreditation prep $15K-50K), 20-30% hourly/daily rates (contract registrar $40-85/hr, senior $100-175/hr), 5-10% retainers (private collectors $2K-10K/month).
Gross margin: 45-55% (labor-intensive, billable staff are the product)
EBITDA margin: 8-15% for well-run small firms, 3-8% for staffing-model heavy
Professional services EBITDA fell to 9.8% in 2024 (from 15.4% in 2023)
Recurring revenue is WEAK: inventories done once then periodic updates (3-5 years), move management is one-time, accreditation prep cyclical (5-10 years). Only private collector retainers offer true recurring, and museums resist permanent outsourcing due to union/nonprofit employment norms and grant funding that specifies FTE positions.</a:t>
                      </a:r>
                      <a:endParaRPr sz="10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Arial"/>
                        <a:buNone/>
                      </a:pPr>
                      <a:r>
                        <a:rPr sz="700">
                          <a:solidFill>
                            <a:srgbClr val="000000"/>
                          </a:solidFill>
                        </a:rPr>
                        <a:t>Extremely fragmented AND extremely small. No dominant consulting firm exists.
Key players (consulting): HAI (~$15M total, CM ~$2-3M) -- historical research firm. Winston Artory (~$11M total, CM ~$1.5-2M) -- appraisal/advisory hybrid. Arts Consulting Group ($2-4M total, CM ~$300-500K) -- exec search/fundraising firm. Museum and Collector Resource (&lt;$1M) -- closest to pure-play. Muse Curatorial (&lt;$500K).
Key players (software): Gallery Systems/TMS (Constellation-owned, 700+ clients including Met, MoMA, Smithsonian). Axiell (Swedish, ~$50M+, serial acquirer). PastPerfect (12K+ museums, est. $7-18M ARR). CatalogIt, Artwork Archive (small SaaS).
Most actual CM consulting is done by solo practitioners (former museum registrars, $50-100K annual revenue) and 2-5 person shops ($200K-$1M). ARCS OnContract directory lists only ~12 formal contractors.</a:t>
                      </a:r>
                      <a:endParaRPr sz="10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4275">
                <a:tc>
                  <a:txBody>
                    <a:bodyPr/>
                    <a:lstStyle/>
                    <a:p>
                      <a:pPr indent="0" lvl="0" marL="0" marR="0" rtl="0" algn="ctr">
                        <a:lnSpc>
                          <a:spcPct val="100000"/>
                        </a:lnSpc>
                        <a:spcBef>
                          <a:spcPts val="0"/>
                        </a:spcBef>
                        <a:spcAft>
                          <a:spcPts val="0"/>
                        </a:spcAft>
                        <a:buClr>
                          <a:srgbClr val="000000"/>
                        </a:buClr>
                        <a:buSzPts val="1400"/>
                        <a:buFont typeface="Arial"/>
                        <a:buNone/>
                      </a:pPr>
                      <a:r>
                        <a:rPr sz="800" b="1">
                          <a:solidFill>
                            <a:srgbClr val="000000"/>
                          </a:solidFill>
                        </a:rPr>
                        <a:t>Customers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sz="800" b="1">
                          <a:solidFill>
                            <a:srgbClr val="000000"/>
                          </a:solidFill>
                        </a:rPr>
                        <a:t>Barriers to Entry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7000">
                <a:tc>
                  <a:txBody>
                    <a:bodyPr/>
                    <a:lstStyle/>
                    <a:p>
                      <a:pPr indent="-171450" lvl="0" marL="171450" marR="0" rtl="0" algn="l">
                        <a:lnSpc>
                          <a:spcPct val="100000"/>
                        </a:lnSpc>
                        <a:spcBef>
                          <a:spcPts val="0"/>
                        </a:spcBef>
                        <a:spcAft>
                          <a:spcPts val="0"/>
                        </a:spcAft>
                        <a:buClr>
                          <a:schemeClr val="dk1"/>
                        </a:buClr>
                        <a:buSzPts val="1200"/>
                        <a:buFont typeface="Arial"/>
                        <a:buChar char="•"/>
                      </a:pPr>
                      <a:r>
                        <a:rPr sz="700">
                          <a:solidFill>
                            <a:srgbClr val="000000"/>
                          </a:solidFill>
                        </a:rPr>
                        <a:t>Primary: 33,000-35,000 U.S. museums (AAM estimate). Perhaps 10-15% use external CM consultants in any given year (~3,500-5,000). Average engagement $20K-100K.
Secondary: Ultra-high-net-worth private collectors. Growing segment (20% wealth allocated to art, up from 15%). But typically hire art advisors who handle CM as secondary service, or use simple software.
Tertiary: Universities, libraries, historical societies with special collections. Similar budget constraints as museums.
Customer switching costs are LOW for consulting (work product belongs to the museum). MODERATE for software (data migration is painful).</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285750" lvl="0" marL="285750" marR="0" rtl="0" algn="l">
                        <a:lnSpc>
                          <a:spcPct val="100000"/>
                        </a:lnSpc>
                        <a:spcBef>
                          <a:spcPts val="0"/>
                        </a:spcBef>
                        <a:spcAft>
                          <a:spcPts val="0"/>
                        </a:spcAft>
                        <a:buClr>
                          <a:schemeClr val="dk1"/>
                        </a:buClr>
                        <a:buSzPts val="1200"/>
                        <a:buFont typeface="Arial"/>
                        <a:buChar char="•"/>
                      </a:pPr>
                      <a:r>
                        <a:rPr sz="700">
                          <a:solidFill>
                            <a:srgbClr val="000000"/>
                          </a:solidFill>
                        </a:rPr>
                        <a:t>Barriers to entry are LOW for consulting:
- No licensing required
- Skills transferable from museum employment
- No proprietary technology needed
- Capital requirements minimal
- Only barrier is specialized knowledge of cataloging standards and CMS platforms
Barriers are HIGH for software:
- Gallery Systems (TMS) is the enterprise standard
- Switching costs protect incumbents
- Constellation/Volaris and Axiell actively acquire competitors
Net: Anyone with museum registrar experience can start consulting. This explains why the market is filled with solo practitioners rather than scaled firms.</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43975">
                <a:tc gridSpan="2">
                  <a:txBody>
                    <a:bodyPr/>
                    <a:lstStyle/>
                    <a:p>
                      <a:pPr indent="0" lvl="0" marL="0" marR="0" rtl="0" algn="ctr">
                        <a:lnSpc>
                          <a:spcPct val="100000"/>
                        </a:lnSpc>
                        <a:spcBef>
                          <a:spcPts val="0"/>
                        </a:spcBef>
                        <a:spcAft>
                          <a:spcPts val="0"/>
                        </a:spcAft>
                        <a:buClr>
                          <a:srgbClr val="000000"/>
                        </a:buClr>
                        <a:buSzPts val="1400"/>
                        <a:buFont typeface="Arial"/>
                        <a:buNone/>
                      </a:pPr>
                      <a:r>
                        <a:rPr sz="800" b="1">
                          <a:solidFill>
                            <a:srgbClr val="000000"/>
                          </a:solidFill>
                        </a:rPr>
                        <a:t>Key Success Factors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381225">
                <a:tc>
                  <a:txBody>
                    <a:bodyPr/>
                    <a:lstStyle/>
                    <a:p>
                      <a:pPr indent="-285750" lvl="0" marL="285750" marR="0" rtl="0" algn="l">
                        <a:lnSpc>
                          <a:spcPct val="100000"/>
                        </a:lnSpc>
                        <a:spcBef>
                          <a:spcPts val="0"/>
                        </a:spcBef>
                        <a:spcAft>
                          <a:spcPts val="0"/>
                        </a:spcAft>
                        <a:buClr>
                          <a:schemeClr val="dk1"/>
                        </a:buClr>
                        <a:buSzPts val="1200"/>
                        <a:buFont typeface="Arial"/>
                        <a:buChar char="•"/>
                      </a:pPr>
                      <a:r>
                        <a:rPr sz="700">
                          <a:solidFill>
                            <a:srgbClr val="000000"/>
                          </a:solidFill>
                        </a:rPr>
                        <a:t>Deep expertise in cataloging standards (Dublin Core, CDWA, CCO) and major CMS platforms (TMS, PastPerfect, Axiell)
Personal network with museum directors and collections managers
Ability to embed staff on-site for extended periods (months to years)</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285750" lvl="0" marL="285750" marR="0" rtl="0" algn="l">
                        <a:lnSpc>
                          <a:spcPct val="100000"/>
                        </a:lnSpc>
                        <a:spcBef>
                          <a:spcPts val="0"/>
                        </a:spcBef>
                        <a:spcAft>
                          <a:spcPts val="0"/>
                        </a:spcAft>
                        <a:buClr>
                          <a:schemeClr val="dk1"/>
                        </a:buClr>
                        <a:buSzPts val="1200"/>
                        <a:buFont typeface="Arial"/>
                        <a:buChar char="•"/>
                      </a:pPr>
                      <a:r>
                        <a:rPr sz="700">
                          <a:solidFill>
                            <a:srgbClr val="000000"/>
                          </a:solidFill>
                        </a:rPr>
                        <a:t>Track record with AAM accreditation and compliance
Geographic proximity to client clusters (NYC, DC, LA museum corridors)
Competitive rates vs. FTE total cost of employment</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77800">
                <a:tc gridSpan="2">
                  <a:txBody>
                    <a:bodyPr/>
                    <a:lstStyle/>
                    <a:p>
                      <a:pPr indent="0" lvl="0" marL="0" marR="0" rtl="0" algn="ctr">
                        <a:lnSpc>
                          <a:spcPct val="100000"/>
                        </a:lnSpc>
                        <a:spcBef>
                          <a:spcPts val="0"/>
                        </a:spcBef>
                        <a:spcAft>
                          <a:spcPts val="0"/>
                        </a:spcAft>
                        <a:buClr>
                          <a:srgbClr val="000000"/>
                        </a:buClr>
                        <a:buSzPts val="1400"/>
                        <a:buFont typeface="Arial"/>
                        <a:buNone/>
                      </a:pPr>
                      <a:r>
                        <a:rPr sz="800" b="1">
                          <a:solidFill>
                            <a:srgbClr val="000000"/>
                          </a:solidFill>
                        </a:rPr>
                        <a:t>Exit</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127000">
                <a:tc gridSpan="2">
                  <a:txBody>
                    <a:bodyPr/>
                    <a:lstStyle/>
                    <a:p>
                      <a:pPr indent="0" lvl="0" marL="0" marR="0" rtl="0" algn="l">
                        <a:lnSpc>
                          <a:spcPct val="100000"/>
                        </a:lnSpc>
                        <a:spcBef>
                          <a:spcPts val="0"/>
                        </a:spcBef>
                        <a:spcAft>
                          <a:spcPts val="0"/>
                        </a:spcAft>
                        <a:buClr>
                          <a:schemeClr val="dk1"/>
                        </a:buClr>
                        <a:buSzPts val="1150"/>
                        <a:buFont typeface="Arial"/>
                        <a:buNone/>
                      </a:pPr>
                      <a:r>
                        <a:rPr sz="700">
                          <a:solidFill>
                            <a:srgbClr val="000000"/>
                          </a:solidFill>
                        </a:rPr>
                        <a:t>EXIT PROSPECTS ARE POOR. No PE firm is rolling up CM consulting firms -- the economics and scale do not support it. The only M&amp;A activity has been at the software level (Constellation acquiring Gallery Systems, Axiell's 4+ acquisitions), not consulting.
Potential acquirers would be limited to: (1) Larger professional services firms seeking a specialized practice area, but CM is too niche. (2) Art advisory firms wanting to add operational services (Winston model), but they can hire individual registrars more cheaply. (3) Museum software companies wanting a services arm, but Constellation and Axiell have not pursued this model.
The most realistic exit would be selling the client book to another practitioner -- essentially a small professional practice sale, not a PE-grade exit.</a:t>
                      </a:r>
                      <a:endParaRPr sz="1000">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bl>
          </a:graphicData>
        </a:graphic>
      </p:graphicFrame>
      <p:pic>
        <p:nvPicPr>
          <p:cNvPr descr="A black background with a black square&#10;&#10;AI-generated content may be incorrect." id="92" name="Google Shape;92;p14"/>
          <p:cNvPicPr preferRelativeResize="0"/>
          <p:nvPr/>
        </p:nvPicPr>
        <p:blipFill rotWithShape="1">
          <a:blip r:embed="rId3">
            <a:alphaModFix/>
          </a:blip>
          <a:srcRect b="0" l="0" r="0" t="0"/>
          <a:stretch/>
        </p:blipFill>
        <p:spPr>
          <a:xfrm>
            <a:off x="140458" y="-6321"/>
            <a:ext cx="678789" cy="678789"/>
          </a:xfrm>
          <a:prstGeom prst="rect">
            <a:avLst/>
          </a:prstGeom>
          <a:noFill/>
          <a:ln>
            <a:noFill/>
          </a:ln>
        </p:spPr>
      </p:pic>
      <p:sp>
        <p:nvSpPr>
          <p:cNvPr id="93" name="Google Shape;93;p14"/>
          <p:cNvSpPr txBox="1"/>
          <p:nvPr/>
        </p:nvSpPr>
        <p:spPr>
          <a:xfrm rot="-5400000">
            <a:off x="5657855" y="7901444"/>
            <a:ext cx="2269666"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chemeClr val="dk1"/>
                </a:solidFill>
                <a:latin typeface="Arial"/>
                <a:ea typeface="Arial"/>
                <a:cs typeface="Arial"/>
                <a:sym typeface="Arial"/>
              </a:rPr>
              <a:t>Strictly Confidential</a:t>
            </a:r>
            <a:endParaRPr b="0" i="0" sz="800" u="none" cap="none" strike="noStrike">
              <a:solidFill>
                <a:schemeClr val="dk1"/>
              </a:solidFill>
              <a:latin typeface="Arial"/>
              <a:ea typeface="Arial"/>
              <a:cs typeface="Arial"/>
              <a:sym typeface="Arial"/>
            </a:endParaRPr>
          </a:p>
        </p:txBody>
      </p:sp>
      <p:sp>
        <p:nvSpPr>
          <p:cNvPr id="94" name="Google Shape;94;p14"/>
          <p:cNvSpPr txBox="1"/>
          <p:nvPr/>
        </p:nvSpPr>
        <p:spPr>
          <a:xfrm>
            <a:off x="-4415050" y="3444575"/>
            <a:ext cx="3522600" cy="1473600"/>
          </a:xfrm>
          <a:prstGeom prst="rect">
            <a:avLst/>
          </a:prstGeom>
          <a:solidFill>
            <a:schemeClr val="accen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dk1"/>
                </a:solidFill>
              </a:rPr>
              <a:t>Why is PE not involved yet?</a:t>
            </a:r>
            <a:endParaRPr sz="2100">
              <a:solidFill>
                <a:schemeClr val="dk1"/>
              </a:solidFill>
            </a:endParaRPr>
          </a:p>
          <a:p>
            <a:pPr indent="0" lvl="0" marL="0" rtl="0" algn="l">
              <a:spcBef>
                <a:spcPts val="0"/>
              </a:spcBef>
              <a:spcAft>
                <a:spcPts val="0"/>
              </a:spcAft>
              <a:buNone/>
            </a:pPr>
            <a:r>
              <a:rPr lang="en-US" sz="2100">
                <a:solidFill>
                  <a:schemeClr val="dk1"/>
                </a:solidFill>
              </a:rPr>
              <a:t>Is it hard to roll up?</a:t>
            </a:r>
            <a:endParaRPr sz="2100">
              <a:solidFill>
                <a:schemeClr val="dk1"/>
              </a:solidFill>
            </a:endParaRPr>
          </a:p>
          <a:p>
            <a:pPr indent="0" lvl="0" marL="0" rtl="0" algn="l">
              <a:spcBef>
                <a:spcPts val="0"/>
              </a:spcBef>
              <a:spcAft>
                <a:spcPts val="0"/>
              </a:spcAft>
              <a:buNone/>
            </a:pPr>
            <a:r>
              <a:rPr lang="en-US" sz="2100">
                <a:solidFill>
                  <a:schemeClr val="dk1"/>
                </a:solidFill>
              </a:rPr>
              <a:t>Is it the economics?</a:t>
            </a:r>
            <a:endParaRPr sz="2100">
              <a:solidFill>
                <a:schemeClr val="dk1"/>
              </a:solidFill>
            </a:endParaRPr>
          </a:p>
          <a:p>
            <a:pPr indent="0" lvl="0" marL="0" rtl="0" algn="l">
              <a:spcBef>
                <a:spcPts val="0"/>
              </a:spcBef>
              <a:spcAft>
                <a:spcPts val="0"/>
              </a:spcAft>
              <a:buNone/>
            </a:pPr>
            <a:r>
              <a:rPr lang="en-US" sz="2100">
                <a:solidFill>
                  <a:schemeClr val="dk1"/>
                </a:solidFill>
              </a:rPr>
              <a:t>Is it too customized?</a:t>
            </a:r>
            <a:endParaRPr sz="2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2025-07-18T20:10:07Z</dcterms:created>
  <dc:creator>Jonathan Zylberberg</dc:creator>
</cp:coreProperties>
</file>